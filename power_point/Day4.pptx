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84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0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2A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93"/>
    <p:restoredTop sz="94606"/>
  </p:normalViewPr>
  <p:slideViewPr>
    <p:cSldViewPr snapToGrid="0">
      <p:cViewPr varScale="1">
        <p:scale>
          <a:sx n="105" d="100"/>
          <a:sy n="105" d="100"/>
        </p:scale>
        <p:origin x="20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6BF8C-4158-F342-8216-E1A8A29CF1BB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5500A-D261-DC43-897E-19B59BA221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8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96E4B-6C64-E643-9A0A-AB5E13C2F5FA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89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33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ECE03-5904-2640-B404-A3FEAB598526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36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6A-96B1-BD4E-91A6-BD8913D3E1E1}" type="datetime1">
              <a:rPr lang="it-IT" smtClean="0"/>
              <a:t>15/10/26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CEE35-98CA-3449-A912-39DDE1219E25}" type="datetime1">
              <a:rPr lang="it-IT" smtClean="0"/>
              <a:t>15/10/26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544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3B74D-CC1D-D544-8CB0-DB12C3D1744A}" type="datetime1">
              <a:rPr lang="it-IT" smtClean="0"/>
              <a:t>15/10/26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47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98775-032D-C849-B9B0-C1D11ED802C1}" type="datetime1">
              <a:rPr lang="it-IT" smtClean="0"/>
              <a:t>15/10/26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839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5ADB-7CE0-804E-9C85-40A519507F1A}" type="datetime1">
              <a:rPr lang="it-IT" smtClean="0"/>
              <a:t>15/10/26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161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4C8A3-CA6B-DB4B-8A18-5294010BD3CB}" type="datetime1">
              <a:rPr lang="it-IT" smtClean="0"/>
              <a:t>15/10/26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0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09858-3BFB-DA41-A1A7-0A2A32E9793F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900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458F-C659-9242-908F-36A06BB8B093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01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470" y="122282"/>
            <a:ext cx="12192000" cy="519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8929" y="956048"/>
            <a:ext cx="11192435" cy="5086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1503F-4B7A-6348-924A-FFD23680AA8F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92BA6-6E87-3343-8D2C-B7A656D62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2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92747-DC33-217F-1565-FF97054DED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 dirty="0"/>
              <a:t>Reproducible NGS Data Analysis on Personal Laptops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FE03A-9F62-3B7F-B9C2-05F885B63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D085-7898-BE4F-A67D-B59B606A6206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9AE5A-44AD-824B-FEE4-42D719C2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8CCC8-4672-8B3D-3D7A-7B9695FB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00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CA0C1-11B9-B3F8-24B6-20654155B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B55DA-9B91-6FC5-42BC-62E530928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B596A-199D-992A-6F62-A4CD7A42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F25E93B-7B3D-6919-4C6A-3101683DF90F}"/>
              </a:ext>
            </a:extLst>
          </p:cNvPr>
          <p:cNvSpPr txBox="1">
            <a:spLocks/>
          </p:cNvSpPr>
          <p:nvPr/>
        </p:nvSpPr>
        <p:spPr>
          <a:xfrm>
            <a:off x="1524000" y="159714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T" dirty="0"/>
              <a:t>QC first</a:t>
            </a:r>
          </a:p>
          <a:p>
            <a:pPr algn="ctr"/>
            <a:r>
              <a:rPr lang="en-IT" dirty="0"/>
              <a:t>Biological interpretation second Filtering only when justified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426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3A1A8-77EE-4FE3-38B6-09BD4ACD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RNA-seq alignment QC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775B1-3B6B-5694-00DC-E25AE10BB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71" y="2086984"/>
            <a:ext cx="11192435" cy="288304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T" dirty="0"/>
              <a:t>Three additional properties are particularly informative:</a:t>
            </a:r>
          </a:p>
          <a:p>
            <a:pPr marL="0" indent="0">
              <a:buNone/>
            </a:pPr>
            <a:r>
              <a:rPr lang="en-IT" b="1" dirty="0">
                <a:solidFill>
                  <a:schemeClr val="accent4">
                    <a:lumMod val="75000"/>
                  </a:schemeClr>
                </a:solidFill>
              </a:rPr>
              <a:t>Duplication</a:t>
            </a:r>
            <a:endParaRPr lang="en-IT" dirty="0">
              <a:solidFill>
                <a:schemeClr val="accent4">
                  <a:lumMod val="75000"/>
                </a:schemeClr>
              </a:solidFill>
            </a:endParaRPr>
          </a:p>
          <a:p>
            <a:pPr lvl="0"/>
            <a:r>
              <a:rPr lang="en-IT" dirty="0"/>
              <a:t>Are many sequenced fragments represented repeatedly?</a:t>
            </a:r>
          </a:p>
          <a:p>
            <a:pPr lvl="0"/>
            <a:r>
              <a:rPr lang="en-IT" dirty="0"/>
              <a:t>Is duplication explained by genuinely high transcript abundance or by low library complexity/PCR amplification?</a:t>
            </a:r>
          </a:p>
          <a:p>
            <a:pPr marL="0" indent="0">
              <a:buNone/>
            </a:pPr>
            <a:r>
              <a:rPr lang="en-IT" b="1" dirty="0">
                <a:solidFill>
                  <a:schemeClr val="accent4">
                    <a:lumMod val="75000"/>
                  </a:schemeClr>
                </a:solidFill>
              </a:rPr>
              <a:t>Multi-mapping</a:t>
            </a:r>
            <a:endParaRPr lang="en-IT" dirty="0">
              <a:solidFill>
                <a:schemeClr val="accent4">
                  <a:lumMod val="75000"/>
                </a:schemeClr>
              </a:solidFill>
            </a:endParaRPr>
          </a:p>
          <a:p>
            <a:pPr lvl="0"/>
            <a:r>
              <a:rPr lang="en-IT" dirty="0"/>
              <a:t>Can reads be assigned confidently to one genomic position?</a:t>
            </a:r>
          </a:p>
          <a:p>
            <a:pPr lvl="0"/>
            <a:r>
              <a:rPr lang="en-IT" dirty="0"/>
              <a:t>Or do several positions provide plausible alignments?</a:t>
            </a:r>
          </a:p>
          <a:p>
            <a:pPr marL="0" indent="0">
              <a:buNone/>
            </a:pPr>
            <a:r>
              <a:rPr lang="en-IT" b="1" dirty="0">
                <a:solidFill>
                  <a:schemeClr val="accent4">
                    <a:lumMod val="75000"/>
                  </a:schemeClr>
                </a:solidFill>
              </a:rPr>
              <a:t>Residual rRNA</a:t>
            </a:r>
            <a:endParaRPr lang="en-IT" dirty="0">
              <a:solidFill>
                <a:schemeClr val="accent4">
                  <a:lumMod val="75000"/>
                </a:schemeClr>
              </a:solidFill>
            </a:endParaRPr>
          </a:p>
          <a:p>
            <a:pPr lvl="0"/>
            <a:r>
              <a:rPr lang="en-IT" dirty="0"/>
              <a:t>How much sequencing capacity was spent on ribosomal RNA rather than the RNA population of interest?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E79F9-18D5-48D5-E265-88BA98578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E76D-4FB2-1956-ADA2-9DA7DE2BE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8D5BD-C47B-A4CD-346C-E7C1058C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2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6A62E-528A-80A7-853F-08AC5B8B3B32}"/>
              </a:ext>
            </a:extLst>
          </p:cNvPr>
          <p:cNvSpPr txBox="1"/>
          <p:nvPr/>
        </p:nvSpPr>
        <p:spPr>
          <a:xfrm>
            <a:off x="231290" y="815789"/>
            <a:ext cx="93430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T" sz="2800" dirty="0"/>
              <a:t>After alignment, a high mapping rate does </a:t>
            </a:r>
            <a:r>
              <a:rPr lang="en-IT" sz="2800" b="1" dirty="0"/>
              <a:t>not</a:t>
            </a:r>
            <a:r>
              <a:rPr lang="en-IT" sz="2800" dirty="0"/>
              <a:t> guarantee a good RNA-seq library.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11940-F594-A91E-307F-296EB3683435}"/>
              </a:ext>
            </a:extLst>
          </p:cNvPr>
          <p:cNvSpPr txBox="1"/>
          <p:nvPr/>
        </p:nvSpPr>
        <p:spPr>
          <a:xfrm>
            <a:off x="388171" y="5026548"/>
            <a:ext cx="105738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Key principle</a:t>
            </a:r>
            <a:endParaRPr lang="en-IT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IT" sz="2000" dirty="0"/>
              <a:t>QC describes properties of the library. </a:t>
            </a:r>
          </a:p>
          <a:p>
            <a:r>
              <a:rPr lang="en-IT" sz="2000" dirty="0"/>
              <a:t>A QC signal does not automatically imply that the corresponding reads should be removed.</a:t>
            </a:r>
          </a:p>
        </p:txBody>
      </p:sp>
    </p:spTree>
    <p:extLst>
      <p:ext uri="{BB962C8B-B14F-4D97-AF65-F5344CB8AC3E}">
        <p14:creationId xmlns:p14="http://schemas.microsoft.com/office/powerpoint/2010/main" val="382293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177A-968A-7700-D739-23C32EF7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4E3C-1F8A-3C40-4284-4962D09D9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1) Duplication: RNA-seq is not genomic DNA sequencing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A2B6D-4C24-3876-8FB9-F42A87993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17" y="1389779"/>
            <a:ext cx="11192435" cy="254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T" dirty="0"/>
              <a:t>Possible explanations include:</a:t>
            </a:r>
          </a:p>
          <a:p>
            <a:pPr lvl="0"/>
            <a:r>
              <a:rPr lang="en-IT" dirty="0"/>
              <a:t>PCR amplification of the same original molecule;</a:t>
            </a:r>
          </a:p>
          <a:p>
            <a:pPr lvl="0"/>
            <a:r>
              <a:rPr lang="en-IT" dirty="0"/>
              <a:t>very abundant transcripts;</a:t>
            </a:r>
          </a:p>
          <a:p>
            <a:pPr lvl="0"/>
            <a:r>
              <a:rPr lang="en-IT" dirty="0"/>
              <a:t>non-random fragmentation/start positions;</a:t>
            </a:r>
          </a:p>
          <a:p>
            <a:pPr lvl="0"/>
            <a:r>
              <a:rPr lang="en-IT" dirty="0"/>
              <a:t>limited library complexity.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8FD13-0FF1-F323-C4AA-A22B6566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5F186-B6AB-56FB-0704-A94CE31E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3B7EF-470B-C17A-BD00-7AAFFF99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36C53-FFD0-4AF7-C48F-EFD94D56EF4F}"/>
              </a:ext>
            </a:extLst>
          </p:cNvPr>
          <p:cNvSpPr txBox="1"/>
          <p:nvPr/>
        </p:nvSpPr>
        <p:spPr>
          <a:xfrm>
            <a:off x="134470" y="815789"/>
            <a:ext cx="11763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000" dirty="0"/>
              <a:t>Two reads with identical genomic coordinates are </a:t>
            </a:r>
            <a:r>
              <a:rPr lang="en-IT" sz="2000" b="1" dirty="0"/>
              <a:t>coordinate duplicates</a:t>
            </a:r>
            <a:r>
              <a:rPr lang="en-IT" sz="2000" dirty="0"/>
              <a:t>.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EFAFB1-5832-82EF-540C-878515D3B879}"/>
              </a:ext>
            </a:extLst>
          </p:cNvPr>
          <p:cNvSpPr txBox="1"/>
          <p:nvPr/>
        </p:nvSpPr>
        <p:spPr>
          <a:xfrm>
            <a:off x="419817" y="4031736"/>
            <a:ext cx="113523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T" sz="2400" dirty="0"/>
              <a:t>In RNA-seq, highly expressed genes naturally produce many reads from a limited genomic interval. Therefore:</a:t>
            </a:r>
          </a:p>
          <a:p>
            <a:r>
              <a:rPr lang="en-IT" sz="2400" b="1" dirty="0"/>
              <a:t>Coordinate duplication ≠ PCR duplication.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F77C3-3B82-83C8-B38E-26B6B8255942}"/>
              </a:ext>
            </a:extLst>
          </p:cNvPr>
          <p:cNvSpPr txBox="1"/>
          <p:nvPr/>
        </p:nvSpPr>
        <p:spPr>
          <a:xfrm>
            <a:off x="419817" y="5326502"/>
            <a:ext cx="11352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T" sz="2400" dirty="0"/>
              <a:t>Without </a:t>
            </a:r>
            <a:r>
              <a:rPr lang="en-IT" sz="2400" b="1" dirty="0"/>
              <a:t>UMIs</a:t>
            </a:r>
            <a:r>
              <a:rPr lang="en-IT" sz="2400" dirty="0"/>
              <a:t>, we usually cannot determine whether two reads at identical coordinates originated from the same original RNA molecule.</a:t>
            </a:r>
          </a:p>
        </p:txBody>
      </p:sp>
    </p:spTree>
    <p:extLst>
      <p:ext uri="{BB962C8B-B14F-4D97-AF65-F5344CB8AC3E}">
        <p14:creationId xmlns:p14="http://schemas.microsoft.com/office/powerpoint/2010/main" val="410299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EF7B8-2A5B-834E-7AC2-ADF1A4494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BE7F-C0DF-224D-BE66-BA68B3F82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1) Duplication: RNA-seq is not genomic DNA sequencing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DA4B1-0C86-3E63-C5C8-50AC66CE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97BC3-F99E-E0C3-D6AD-9BD0390F7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5AE75-0D9B-EE1D-DE48-668587D44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4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9E06D9-DD5A-3926-49A5-1107A8BFC8C2}"/>
              </a:ext>
            </a:extLst>
          </p:cNvPr>
          <p:cNvSpPr txBox="1"/>
          <p:nvPr/>
        </p:nvSpPr>
        <p:spPr>
          <a:xfrm>
            <a:off x="385571" y="1674672"/>
            <a:ext cx="5195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>
                <a:solidFill>
                  <a:schemeClr val="accent4">
                    <a:lumMod val="75000"/>
                  </a:schemeClr>
                </a:solidFill>
              </a:rPr>
              <a:t>dupRadar</a:t>
            </a:r>
            <a:r>
              <a:rPr lang="en-IT" dirty="0"/>
              <a:t> asks a better RNA-seq-specific question:</a:t>
            </a:r>
          </a:p>
          <a:p>
            <a:r>
              <a:rPr lang="en-IT" dirty="0"/>
              <a:t>Does duplication increase with gene expression?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C4215-8291-5ABC-887D-06B3ADAAD4B9}"/>
              </a:ext>
            </a:extLst>
          </p:cNvPr>
          <p:cNvSpPr txBox="1"/>
          <p:nvPr/>
        </p:nvSpPr>
        <p:spPr>
          <a:xfrm>
            <a:off x="385571" y="927458"/>
            <a:ext cx="114208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T" sz="2400" dirty="0"/>
              <a:t>A global duplicate percentage is useful, but it lacks biological context.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3AA451-68EE-DEB0-F380-4BB45D111910}"/>
              </a:ext>
            </a:extLst>
          </p:cNvPr>
          <p:cNvSpPr txBox="1"/>
          <p:nvPr/>
        </p:nvSpPr>
        <p:spPr>
          <a:xfrm>
            <a:off x="385572" y="2606552"/>
            <a:ext cx="51447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 b="1" dirty="0">
                <a:solidFill>
                  <a:schemeClr val="accent4">
                    <a:lumMod val="75000"/>
                  </a:schemeClr>
                </a:solidFill>
              </a:rPr>
              <a:t>Expected:</a:t>
            </a:r>
          </a:p>
          <a:p>
            <a:pPr lvl="0"/>
            <a:r>
              <a:rPr lang="en-IT" sz="1800" dirty="0"/>
              <a:t>higher duplication among highly expressed genes.</a:t>
            </a:r>
          </a:p>
          <a:p>
            <a:pPr lvl="0"/>
            <a:endParaRPr lang="en-IT" sz="1800" dirty="0"/>
          </a:p>
          <a:p>
            <a:r>
              <a:rPr lang="en-IT" sz="1800" b="1" dirty="0">
                <a:solidFill>
                  <a:schemeClr val="accent4">
                    <a:lumMod val="75000"/>
                  </a:schemeClr>
                </a:solidFill>
              </a:rPr>
              <a:t>More concerning:</a:t>
            </a:r>
          </a:p>
          <a:p>
            <a:pPr lvl="0"/>
            <a:r>
              <a:rPr lang="en-IT" sz="1800" dirty="0"/>
              <a:t>high duplication extending across low-expression genes; replicates behaving differently from the others.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03B613-6B5E-4C63-EB68-FC1E1295AC7E}"/>
              </a:ext>
            </a:extLst>
          </p:cNvPr>
          <p:cNvSpPr txBox="1"/>
          <p:nvPr/>
        </p:nvSpPr>
        <p:spPr>
          <a:xfrm>
            <a:off x="385571" y="4824305"/>
            <a:ext cx="11608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800" b="1" dirty="0"/>
              <a:t>Good practice</a:t>
            </a:r>
            <a:endParaRPr lang="en-IT" sz="1800" dirty="0"/>
          </a:p>
          <a:p>
            <a:r>
              <a:rPr lang="en-IT" sz="1800" dirty="0"/>
              <a:t>Measure and report duplication, compare replicates and inspect its relationship with expression.</a:t>
            </a:r>
          </a:p>
          <a:p>
            <a:r>
              <a:rPr lang="en-IT" sz="1800" b="1" dirty="0"/>
              <a:t>Do not routinely deduplicate standard RNA-seq BAMs.</a:t>
            </a:r>
            <a:endParaRPr lang="en-IT" sz="1800" dirty="0"/>
          </a:p>
          <a:p>
            <a:r>
              <a:rPr lang="en-IT" sz="1800" dirty="0"/>
              <a:t>Removing coordinate duplicates can systematically remove legitimate reads from highly expressed genes.</a:t>
            </a:r>
          </a:p>
        </p:txBody>
      </p:sp>
      <p:pic>
        <p:nvPicPr>
          <p:cNvPr id="18" name="Picture 17" descr="Using the dupRadar package • dupRadar">
            <a:extLst>
              <a:ext uri="{FF2B5EF4-FFF2-40B4-BE49-F238E27FC236}">
                <a16:creationId xmlns:a16="http://schemas.microsoft.com/office/drawing/2014/main" id="{572EB7D3-83B1-E261-6D55-A07DB8401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894" y="1674672"/>
            <a:ext cx="6225532" cy="311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9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7FAE-82CF-F224-5198-73C7A792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2) Multi-mapping: ambiguity is not binary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8259C-7FC2-AB76-9D70-F6C6B5E7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7C0C7-059C-8CB0-1D40-A012857A9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8F805-F323-607E-947A-AE3BAC55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5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B4370-0A8A-455B-CBCF-01FA45709DEA}"/>
              </a:ext>
            </a:extLst>
          </p:cNvPr>
          <p:cNvSpPr txBox="1"/>
          <p:nvPr/>
        </p:nvSpPr>
        <p:spPr>
          <a:xfrm>
            <a:off x="1184425" y="1393348"/>
            <a:ext cx="175113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one position</a:t>
            </a:r>
          </a:p>
          <a:p>
            <a:r>
              <a:rPr lang="en-GB" dirty="0"/>
              <a:t>      ↓</a:t>
            </a:r>
          </a:p>
          <a:p>
            <a:r>
              <a:rPr lang="en-GB" dirty="0"/>
              <a:t>high confidence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0EE68-2D3A-BA20-8799-63025814DAF4}"/>
              </a:ext>
            </a:extLst>
          </p:cNvPr>
          <p:cNvSpPr txBox="1"/>
          <p:nvPr/>
        </p:nvSpPr>
        <p:spPr>
          <a:xfrm>
            <a:off x="1184425" y="832962"/>
            <a:ext cx="2367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75000"/>
                  </a:schemeClr>
                </a:solidFill>
              </a:rPr>
              <a:t>Reads could map to: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7241A-0981-6617-4E23-740B6542F8BC}"/>
              </a:ext>
            </a:extLst>
          </p:cNvPr>
          <p:cNvSpPr txBox="1"/>
          <p:nvPr/>
        </p:nvSpPr>
        <p:spPr>
          <a:xfrm>
            <a:off x="3076236" y="1393348"/>
            <a:ext cx="394115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800" dirty="0"/>
              <a:t>several positions, but one clearly better</a:t>
            </a:r>
          </a:p>
          <a:p>
            <a:r>
              <a:rPr lang="en-GB" sz="1800" dirty="0"/>
              <a:t>      ↓</a:t>
            </a:r>
          </a:p>
          <a:p>
            <a:r>
              <a:rPr lang="en-GB" sz="1800" dirty="0"/>
              <a:t>intermediate/high confidence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E02F4-7130-9EBB-E980-FCE2D4203964}"/>
              </a:ext>
            </a:extLst>
          </p:cNvPr>
          <p:cNvSpPr txBox="1"/>
          <p:nvPr/>
        </p:nvSpPr>
        <p:spPr>
          <a:xfrm>
            <a:off x="7158065" y="1393348"/>
            <a:ext cx="359312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800" dirty="0"/>
              <a:t>several equally plausible positions</a:t>
            </a:r>
          </a:p>
          <a:p>
            <a:r>
              <a:rPr lang="en-GB" sz="1800" dirty="0"/>
              <a:t>      ↓</a:t>
            </a:r>
          </a:p>
          <a:p>
            <a:r>
              <a:rPr lang="en-GB" sz="1800" dirty="0"/>
              <a:t>low confidence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80B64A-8A37-B335-FFDE-41148D86A42D}"/>
              </a:ext>
            </a:extLst>
          </p:cNvPr>
          <p:cNvSpPr txBox="1"/>
          <p:nvPr/>
        </p:nvSpPr>
        <p:spPr>
          <a:xfrm>
            <a:off x="134470" y="2595237"/>
            <a:ext cx="7426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>
                <a:solidFill>
                  <a:schemeClr val="accent4">
                    <a:lumMod val="75000"/>
                  </a:schemeClr>
                </a:solidFill>
              </a:rPr>
              <a:t>How confident is the aligner in the reported genomic placement?</a:t>
            </a:r>
            <a:endParaRPr lang="en-GB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5D0313-4715-B434-361E-214C40867695}"/>
              </a:ext>
            </a:extLst>
          </p:cNvPr>
          <p:cNvSpPr txBox="1"/>
          <p:nvPr/>
        </p:nvSpPr>
        <p:spPr>
          <a:xfrm>
            <a:off x="134470" y="2998415"/>
            <a:ext cx="70235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sz="1400" dirty="0"/>
              <a:t>Aligners combine alignment scores, alternative placements and other information into </a:t>
            </a:r>
            <a:r>
              <a:rPr lang="en-IT" sz="1400" b="1" dirty="0"/>
              <a:t>MAPQ</a:t>
            </a:r>
            <a:r>
              <a:rPr lang="en-IT" sz="1400" dirty="0"/>
              <a:t>.</a:t>
            </a:r>
          </a:p>
          <a:p>
            <a:pPr>
              <a:buNone/>
            </a:pPr>
            <a:r>
              <a:rPr lang="en-IT" sz="1400" dirty="0"/>
              <a:t>For Bowtie2: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400" dirty="0">
                <a:latin typeface="+mn-lt"/>
              </a:rPr>
              <a:t>AS</a:t>
            </a:r>
            <a:r>
              <a:rPr lang="en-IT" sz="1400" dirty="0"/>
              <a:t> = score of the reported alignment;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400" dirty="0">
                <a:latin typeface="+mn-lt"/>
              </a:rPr>
              <a:t>XS</a:t>
            </a:r>
            <a:r>
              <a:rPr lang="en-IT" sz="1400" dirty="0"/>
              <a:t> = score of the best alternative alignment found;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400" dirty="0"/>
              <a:t>similar </a:t>
            </a:r>
            <a:r>
              <a:rPr lang="en-IT" sz="1400" dirty="0">
                <a:latin typeface="+mn-lt"/>
              </a:rPr>
              <a:t>AS</a:t>
            </a:r>
            <a:r>
              <a:rPr lang="en-IT" sz="1400" dirty="0"/>
              <a:t> and </a:t>
            </a:r>
            <a:r>
              <a:rPr lang="en-IT" sz="1400" dirty="0">
                <a:latin typeface="+mn-lt"/>
              </a:rPr>
              <a:t>XS</a:t>
            </a:r>
            <a:r>
              <a:rPr lang="en-IT" sz="1400" dirty="0"/>
              <a:t> → greater ambiguity;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400" dirty="0"/>
              <a:t>MAPQ summarizes confidence in the selected placement.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B13354-C821-2803-8DA4-C3C4654044D0}"/>
              </a:ext>
            </a:extLst>
          </p:cNvPr>
          <p:cNvSpPr txBox="1"/>
          <p:nvPr/>
        </p:nvSpPr>
        <p:spPr>
          <a:xfrm>
            <a:off x="134470" y="4510545"/>
            <a:ext cx="70235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sz="1400" b="1" dirty="0">
                <a:solidFill>
                  <a:schemeClr val="accent4">
                    <a:lumMod val="75000"/>
                  </a:schemeClr>
                </a:solidFill>
              </a:rPr>
              <a:t>Important:</a:t>
            </a:r>
          </a:p>
          <a:p>
            <a:pPr>
              <a:buNone/>
            </a:pPr>
            <a:r>
              <a:rPr lang="en-IT" sz="1400" b="1" dirty="0"/>
              <a:t>SAM FLAG </a:t>
            </a:r>
            <a:r>
              <a:rPr lang="en-IT" sz="1400" b="1" dirty="0">
                <a:latin typeface="+mn-lt"/>
              </a:rPr>
              <a:t>0x100</a:t>
            </a:r>
            <a:r>
              <a:rPr lang="en-IT" sz="1400" b="1" dirty="0"/>
              <a:t> means secondary alignment record.</a:t>
            </a:r>
            <a:endParaRPr lang="en-IT" sz="1400" dirty="0"/>
          </a:p>
          <a:p>
            <a:pPr>
              <a:buNone/>
            </a:pPr>
            <a:r>
              <a:rPr lang="en-IT" sz="1400" dirty="0"/>
              <a:t>It does </a:t>
            </a:r>
            <a:r>
              <a:rPr lang="en-IT" sz="1400" b="1" dirty="0"/>
              <a:t>not</a:t>
            </a:r>
            <a:r>
              <a:rPr lang="en-IT" sz="1400" dirty="0"/>
              <a:t> mean “this is a multimapping read.”</a:t>
            </a:r>
          </a:p>
          <a:p>
            <a:pPr>
              <a:buNone/>
            </a:pPr>
            <a:r>
              <a:rPr lang="en-IT" sz="1400" dirty="0"/>
              <a:t>Removing secondary records therefore does not automatically remove all ambiguous reads.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871451-B2DC-D8EF-E519-2A259147D182}"/>
              </a:ext>
            </a:extLst>
          </p:cNvPr>
          <p:cNvSpPr txBox="1"/>
          <p:nvPr/>
        </p:nvSpPr>
        <p:spPr>
          <a:xfrm>
            <a:off x="7560645" y="2614849"/>
            <a:ext cx="4114800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sz="1400" b="1" dirty="0"/>
              <a:t>Good practice for ordinary gene-level RNA-seq</a:t>
            </a:r>
            <a:endParaRPr lang="en-IT" sz="1400" dirty="0"/>
          </a:p>
          <a:p>
            <a:pPr>
              <a:buNone/>
            </a:pPr>
            <a:r>
              <a:rPr lang="en-IT" sz="1400" dirty="0"/>
              <a:t>Use: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400" dirty="0"/>
              <a:t>primary alignments;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400" dirty="0"/>
              <a:t>appropriate FLAG filtering;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sz="1400" dirty="0"/>
              <a:t>an aligner-appropriate MAPQ threshold.</a:t>
            </a:r>
          </a:p>
          <a:p>
            <a:pPr>
              <a:buNone/>
            </a:pPr>
            <a:endParaRPr lang="en-IT" sz="1400" dirty="0"/>
          </a:p>
          <a:p>
            <a:pPr>
              <a:buNone/>
            </a:pPr>
            <a:r>
              <a:rPr lang="en-IT" sz="1400" dirty="0"/>
              <a:t>Do not treat one MAPQ cutoff as universal across aligners.</a:t>
            </a:r>
          </a:p>
          <a:p>
            <a:pPr>
              <a:buNone/>
            </a:pPr>
            <a:r>
              <a:rPr lang="en-IT" sz="1400" b="1" dirty="0"/>
              <a:t>Bowtie2, STAR and HISAT2 encode multimapping differently.</a:t>
            </a:r>
            <a:endParaRPr lang="en-IT" sz="1400" dirty="0"/>
          </a:p>
          <a:p>
            <a:pPr>
              <a:buNone/>
            </a:pPr>
            <a:r>
              <a:rPr lang="en-IT" sz="1400" dirty="0"/>
              <a:t>STAR and HISAT2 can provide </a:t>
            </a:r>
            <a:r>
              <a:rPr lang="en-IT" sz="1400" dirty="0">
                <a:latin typeface="+mn-lt"/>
              </a:rPr>
              <a:t>NH</a:t>
            </a:r>
            <a:r>
              <a:rPr lang="en-IT" sz="1400" dirty="0"/>
              <a:t>, whereas Bowtie2 relies strongly on alignment scores, alternative alignments and MAPQ.</a:t>
            </a:r>
          </a:p>
        </p:txBody>
      </p:sp>
    </p:spTree>
    <p:extLst>
      <p:ext uri="{BB962C8B-B14F-4D97-AF65-F5344CB8AC3E}">
        <p14:creationId xmlns:p14="http://schemas.microsoft.com/office/powerpoint/2010/main" val="27621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3" grpId="0" animBg="1"/>
      <p:bldP spid="15" grpId="0"/>
      <p:bldP spid="17" grpId="0"/>
      <p:bldP spid="19" grpId="0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A835-09AA-FDEC-84C7-83E050D99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2) Multi-mapping: ambiguity is not binary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23F39-4350-C63D-0E06-EE8F3420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0A759-B5A1-CAC9-9AF0-3B45037E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10E1E-7148-718D-0C1B-3EC3C907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6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8CC82F-6CC3-A328-5671-A10098C831F2}"/>
              </a:ext>
            </a:extLst>
          </p:cNvPr>
          <p:cNvSpPr txBox="1"/>
          <p:nvPr/>
        </p:nvSpPr>
        <p:spPr>
          <a:xfrm>
            <a:off x="269997" y="940750"/>
            <a:ext cx="11652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2400" dirty="0"/>
              <a:t>Should we remove multimappers?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EB5139-B69A-EC54-7C2A-C50579A3808B}"/>
              </a:ext>
            </a:extLst>
          </p:cNvPr>
          <p:cNvSpPr txBox="1"/>
          <p:nvPr/>
        </p:nvSpPr>
        <p:spPr>
          <a:xfrm>
            <a:off x="269996" y="1507565"/>
            <a:ext cx="116520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b="1" dirty="0">
                <a:solidFill>
                  <a:schemeClr val="accent4">
                    <a:lumMod val="75000"/>
                  </a:schemeClr>
                </a:solidFill>
              </a:rPr>
              <a:t>NOT ALWAYS</a:t>
            </a:r>
          </a:p>
          <a:p>
            <a:pPr>
              <a:buNone/>
            </a:pPr>
            <a:r>
              <a:rPr lang="en-IT" dirty="0"/>
              <a:t>For standard gene-level differential expression, ambiguous reads can make assignment to individual genes uncertain.</a:t>
            </a:r>
          </a:p>
          <a:p>
            <a:pPr>
              <a:buNone/>
            </a:pPr>
            <a:r>
              <a:rPr lang="en-IT" dirty="0"/>
              <a:t>Confidence filtering is therefore usually sensible.</a:t>
            </a:r>
          </a:p>
          <a:p>
            <a:pPr>
              <a:buNone/>
            </a:pPr>
            <a:endParaRPr lang="en-IT" dirty="0"/>
          </a:p>
          <a:p>
            <a:pPr>
              <a:buNone/>
            </a:pPr>
            <a:r>
              <a:rPr lang="en-IT" dirty="0"/>
              <a:t>But multimappers can be the </a:t>
            </a:r>
            <a:r>
              <a:rPr lang="en-IT" b="1" dirty="0"/>
              <a:t>signal of interest</a:t>
            </a:r>
            <a:r>
              <a:rPr lang="en-IT" dirty="0"/>
              <a:t> when studying: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transposable elements;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repetitive transcripts;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paralogous genes;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duplicated gene families;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multicopy sequences.</a:t>
            </a:r>
          </a:p>
          <a:p>
            <a:pPr>
              <a:buNone/>
            </a:pPr>
            <a:endParaRPr lang="en-IT" dirty="0"/>
          </a:p>
          <a:p>
            <a:pPr>
              <a:buNone/>
            </a:pPr>
            <a:r>
              <a:rPr lang="en-IT" dirty="0"/>
              <a:t>Simply deleting multimappers in these analyses preferentially deletes biologically relevant information.</a:t>
            </a:r>
          </a:p>
          <a:p>
            <a:pPr>
              <a:buNone/>
            </a:pPr>
            <a:r>
              <a:rPr lang="en-IT" dirty="0"/>
              <a:t>The appropriate strategy may instead involve a quantification method capable of assigning or probabilistically modelling ambiguous reads.</a:t>
            </a:r>
          </a:p>
        </p:txBody>
      </p:sp>
    </p:spTree>
    <p:extLst>
      <p:ext uri="{BB962C8B-B14F-4D97-AF65-F5344CB8AC3E}">
        <p14:creationId xmlns:p14="http://schemas.microsoft.com/office/powerpoint/2010/main" val="3354058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AF94D-5B5D-8D3C-64DD-EC48435B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3) </a:t>
            </a:r>
            <a:r>
              <a:rPr lang="en-IT" dirty="0"/>
              <a:t>Residual rRNA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E314E-AF5F-D2DA-04DF-37D81756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8BFB-037B-7B83-0BD1-846C9D90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DFAA1-00D2-8B36-6DD9-5271F2A5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7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6CF4D-A922-6294-669A-EDA254751464}"/>
              </a:ext>
            </a:extLst>
          </p:cNvPr>
          <p:cNvSpPr txBox="1"/>
          <p:nvPr/>
        </p:nvSpPr>
        <p:spPr>
          <a:xfrm>
            <a:off x="287948" y="824107"/>
            <a:ext cx="117575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dirty="0"/>
              <a:t>Ribosomal RNA constitutes a very large fraction of cellular RNA.</a:t>
            </a:r>
          </a:p>
          <a:p>
            <a:pPr>
              <a:buNone/>
            </a:pPr>
            <a:endParaRPr lang="en-IT" dirty="0"/>
          </a:p>
          <a:p>
            <a:pPr>
              <a:buNone/>
            </a:pPr>
            <a:r>
              <a:rPr lang="en-IT" dirty="0"/>
              <a:t>RNA-seq protocols therefore commonly use: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rRNA depletion;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poly(A) selection in appropriate organisms/applications;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other targeted enrichment/depletion strategies.</a:t>
            </a:r>
          </a:p>
          <a:p>
            <a:pPr>
              <a:buNone/>
            </a:pPr>
            <a:endParaRPr lang="en-IT" dirty="0"/>
          </a:p>
          <a:p>
            <a:pPr>
              <a:buNone/>
            </a:pPr>
            <a:r>
              <a:rPr lang="en-IT" dirty="0"/>
              <a:t>Residual rRNA represents sequencing capacity that may contribute little to the intended gene-expression analysis.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86D743-6578-5C92-C36A-3D8533A3A50E}"/>
              </a:ext>
            </a:extLst>
          </p:cNvPr>
          <p:cNvSpPr txBox="1"/>
          <p:nvPr/>
        </p:nvSpPr>
        <p:spPr>
          <a:xfrm>
            <a:off x="358285" y="3265663"/>
            <a:ext cx="673710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What fraction of the library is rRNA?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Is it similar across replicates?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Is one sample an outlier?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T" dirty="0"/>
              <a:t>Could differences reflect library preparation rather than biology?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648F48-D08E-59C8-6573-83B97184173C}"/>
              </a:ext>
            </a:extLst>
          </p:cNvPr>
          <p:cNvSpPr txBox="1"/>
          <p:nvPr/>
        </p:nvSpPr>
        <p:spPr>
          <a:xfrm>
            <a:off x="358285" y="4697156"/>
            <a:ext cx="673710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b="1" dirty="0">
                <a:solidFill>
                  <a:schemeClr val="accent4">
                    <a:lumMod val="75000"/>
                  </a:schemeClr>
                </a:solidFill>
              </a:rPr>
              <a:t>Good practice</a:t>
            </a:r>
            <a:endParaRPr lang="en-IT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IT" dirty="0"/>
              <a:t>Use residual rRNA primarily as a </a:t>
            </a:r>
            <a:r>
              <a:rPr lang="en-IT" b="1" dirty="0"/>
              <a:t>library QC metric</a:t>
            </a:r>
            <a:r>
              <a:rPr lang="en-IT" dirty="0"/>
              <a:t>.</a:t>
            </a:r>
          </a:p>
          <a:p>
            <a:pPr>
              <a:buNone/>
            </a:pPr>
            <a:r>
              <a:rPr lang="en-IT" dirty="0"/>
              <a:t>If contamination is substantial, the preferable solution is usually read-level classification/depletion:</a:t>
            </a:r>
          </a:p>
        </p:txBody>
      </p:sp>
    </p:spTree>
    <p:extLst>
      <p:ext uri="{BB962C8B-B14F-4D97-AF65-F5344CB8AC3E}">
        <p14:creationId xmlns:p14="http://schemas.microsoft.com/office/powerpoint/2010/main" val="296051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AA4B-D605-2B6E-3F45-A9275793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T" dirty="0"/>
              <a:t>QC signals can be connected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B9D4D-CF72-AD31-674D-710530A02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69" y="956049"/>
            <a:ext cx="12057531" cy="30972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T" sz="2000" b="1" dirty="0"/>
              <a:t>	rRNA contamination, multi-mapping and apparent duplication can reinforce each other.</a:t>
            </a:r>
            <a:endParaRPr lang="en-IT" sz="2000" dirty="0"/>
          </a:p>
          <a:p>
            <a:pPr marL="0" lvl="0" indent="0">
              <a:buNone/>
            </a:pPr>
            <a:endParaRPr lang="en-IT" sz="2000" dirty="0"/>
          </a:p>
          <a:p>
            <a:pPr marL="0" lvl="0" indent="0">
              <a:buNone/>
            </a:pPr>
            <a:r>
              <a:rPr lang="en-IT" sz="2000" dirty="0"/>
              <a:t>	a) rRNA genes are often present in </a:t>
            </a:r>
            <a:r>
              <a:rPr lang="en-IT" sz="2000" b="1" dirty="0"/>
              <a:t>multiple highly similar copies</a:t>
            </a:r>
            <a:r>
              <a:rPr lang="en-IT" sz="2000" dirty="0"/>
              <a:t> in bacterial and higher Eukaryote 	genomes = </a:t>
            </a:r>
            <a:r>
              <a:rPr lang="en-IT" sz="2000" b="1" dirty="0"/>
              <a:t>multi-mapping</a:t>
            </a:r>
            <a:r>
              <a:rPr lang="en-IT" sz="2000" dirty="0"/>
              <a:t>.</a:t>
            </a:r>
          </a:p>
          <a:p>
            <a:pPr marL="0" indent="0">
              <a:buNone/>
            </a:pPr>
            <a:r>
              <a:rPr lang="en-IT" sz="2000" dirty="0"/>
              <a:t>	 		</a:t>
            </a:r>
          </a:p>
          <a:p>
            <a:pPr marL="0" lvl="0" indent="0">
              <a:buNone/>
            </a:pPr>
            <a:r>
              <a:rPr lang="en-IT" sz="2000" dirty="0"/>
              <a:t>	b) Because rRNA transcripts are highly abundant and relatively short/constrained genomic regions 	are sampled repeatedly, many fragments can have identical or similar coordinates </a:t>
            </a:r>
          </a:p>
          <a:p>
            <a:pPr marL="0" lvl="0" indent="0">
              <a:buNone/>
            </a:pPr>
            <a:r>
              <a:rPr lang="en-IT" sz="2000" b="1" dirty="0"/>
              <a:t>	= coordinate duplication</a:t>
            </a:r>
            <a:r>
              <a:rPr lang="en-IT" sz="20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517F-9005-0335-13F9-811C76166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F9022-B3E6-0B8C-3E0A-252F46748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2864D-1A42-5094-7C0D-5ECE27F0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8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2C23AB-3023-2226-FDF1-43F159C4E697}"/>
              </a:ext>
            </a:extLst>
          </p:cNvPr>
          <p:cNvSpPr txBox="1"/>
          <p:nvPr/>
        </p:nvSpPr>
        <p:spPr>
          <a:xfrm>
            <a:off x="134470" y="4460824"/>
            <a:ext cx="7593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b="1" dirty="0"/>
              <a:t>Do these QC measurements tell a coherent story about the library?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03F245-032B-31B6-9B84-9691C3A272E4}"/>
              </a:ext>
            </a:extLst>
          </p:cNvPr>
          <p:cNvSpPr txBox="1"/>
          <p:nvPr/>
        </p:nvSpPr>
        <p:spPr>
          <a:xfrm>
            <a:off x="134470" y="5000333"/>
            <a:ext cx="11834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T" dirty="0"/>
              <a:t>For example, </a:t>
            </a:r>
            <a:r>
              <a:rPr lang="en-IT" b="1" dirty="0"/>
              <a:t>high rRNA + high multimapping + high duplication</a:t>
            </a:r>
            <a:r>
              <a:rPr lang="en-IT" dirty="0"/>
              <a:t> strongly suggests inspecting the rRNA-derived reads before concluding that the entire RNA-seq library has poor complexity.</a:t>
            </a:r>
          </a:p>
        </p:txBody>
      </p:sp>
    </p:spTree>
    <p:extLst>
      <p:ext uri="{BB962C8B-B14F-4D97-AF65-F5344CB8AC3E}">
        <p14:creationId xmlns:p14="http://schemas.microsoft.com/office/powerpoint/2010/main" val="359987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ADB15-C020-BC17-A3B6-E8CB5107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65E55-9AEF-F759-A843-B14BC2D0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7B458-9741-E7B5-024D-9720B9DE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474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A50F-2CB8-CDB4-A7A0-8F9966CC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C056A-4F26-EB79-B6D5-94F857F82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65333-141C-4145-8EE7-1038D873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DFEEA-1162-B343-ACBF-B3E92F6AC390}" type="datetime1">
              <a:rPr lang="it-IT" smtClean="0"/>
              <a:t>15/10/26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E06D8-44CA-AC86-5286-92CBB6D94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Day 1: Reproducible NGS Data Analysis on Personal Laptops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6C601-5931-D44C-74C8-D15A882D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2BA6-6E87-3343-8D2C-B7A656D628E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28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486</TotalTime>
  <Words>972</Words>
  <Application>Microsoft Macintosh PowerPoint</Application>
  <PresentationFormat>Widescreen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Gill Sans MT</vt:lpstr>
      <vt:lpstr>Office 2013 - 2022 Theme</vt:lpstr>
      <vt:lpstr>Reproducible NGS Data Analysis on Personal Laptops</vt:lpstr>
      <vt:lpstr>PowerPoint Presentation</vt:lpstr>
      <vt:lpstr>RNA-seq alignment QC</vt:lpstr>
      <vt:lpstr>1) Duplication: RNA-seq is not genomic DNA sequencing</vt:lpstr>
      <vt:lpstr>1) Duplication: RNA-seq is not genomic DNA sequencing</vt:lpstr>
      <vt:lpstr>2) Multi-mapping: ambiguity is not binary</vt:lpstr>
      <vt:lpstr>2) Multi-mapping: ambiguity is not binary</vt:lpstr>
      <vt:lpstr>3) Residual rRNA</vt:lpstr>
      <vt:lpstr>QC signals can be connected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Gualdrini Francesco</dc:creator>
  <cp:lastModifiedBy>Gualdrini Francesco</cp:lastModifiedBy>
  <cp:revision>137</cp:revision>
  <dcterms:created xsi:type="dcterms:W3CDTF">2026-09-11T06:59:50Z</dcterms:created>
  <dcterms:modified xsi:type="dcterms:W3CDTF">2026-10-15T20:11:20Z</dcterms:modified>
</cp:coreProperties>
</file>