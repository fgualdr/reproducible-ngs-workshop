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4" r:id="rId1"/>
  </p:sldMasterIdLst>
  <p:notesMasterIdLst>
    <p:notesMasterId r:id="rId19"/>
  </p:notesMasterIdLst>
  <p:sldIdLst>
    <p:sldId id="256" r:id="rId2"/>
    <p:sldId id="289" r:id="rId3"/>
    <p:sldId id="257" r:id="rId4"/>
    <p:sldId id="290" r:id="rId5"/>
    <p:sldId id="291" r:id="rId6"/>
    <p:sldId id="292" r:id="rId7"/>
    <p:sldId id="297" r:id="rId8"/>
    <p:sldId id="295" r:id="rId9"/>
    <p:sldId id="298" r:id="rId10"/>
    <p:sldId id="299" r:id="rId11"/>
    <p:sldId id="300" r:id="rId12"/>
    <p:sldId id="301" r:id="rId13"/>
    <p:sldId id="302" r:id="rId14"/>
    <p:sldId id="294" r:id="rId15"/>
    <p:sldId id="303" r:id="rId16"/>
    <p:sldId id="304" r:id="rId17"/>
    <p:sldId id="30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2A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53"/>
    <p:restoredTop sz="94606"/>
  </p:normalViewPr>
  <p:slideViewPr>
    <p:cSldViewPr snapToGrid="0">
      <p:cViewPr varScale="1">
        <p:scale>
          <a:sx n="119" d="100"/>
          <a:sy n="119" d="100"/>
        </p:scale>
        <p:origin x="6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6BF8C-4158-F342-8216-E1A8A29CF1BB}" type="datetimeFigureOut">
              <a:rPr lang="en-GB" smtClean="0"/>
              <a:t>08/10/2026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5500A-D261-DC43-897E-19B59BA2217B}" type="slidenum">
              <a:rPr lang="en-GB" smtClean="0"/>
              <a:t>‹#›</a:t>
            </a:fld>
            <a:endParaRPr lang="en-GB"/>
          </a:p>
        </p:txBody>
      </p:sp>
    </p:spTree>
    <p:extLst>
      <p:ext uri="{BB962C8B-B14F-4D97-AF65-F5344CB8AC3E}">
        <p14:creationId xmlns:p14="http://schemas.microsoft.com/office/powerpoint/2010/main" val="282488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p:cNvSpPr>
            <a:spLocks noGrp="1"/>
          </p:cNvSpPr>
          <p:nvPr>
            <p:ph type="dt" sz="half" idx="10"/>
          </p:nvPr>
        </p:nvSpPr>
        <p:spPr/>
        <p:txBody>
          <a:bodyPr/>
          <a:lstStyle/>
          <a:p>
            <a:fld id="{DE396E4B-6C64-E643-9A0A-AB5E13C2F5FA}" type="datetime1">
              <a:rPr lang="it-IT" smtClean="0"/>
              <a:t>08/10/26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196893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1564333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49ECE03-5904-2640-B404-A3FEAB598526}" type="datetime1">
              <a:rPr lang="it-IT" smtClean="0"/>
              <a:t>08/10/26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405436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0BAE46A-96B1-BD4E-91A6-BD8913D3E1E1}" type="datetime1">
              <a:rPr lang="it-IT" smtClean="0"/>
              <a:t>08/10/26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288128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BACEE35-98CA-3449-A912-39DDE1219E25}" type="datetime1">
              <a:rPr lang="it-IT" smtClean="0"/>
              <a:t>08/10/26</a:t>
            </a:fld>
            <a:endParaRPr lang="en-GB"/>
          </a:p>
        </p:txBody>
      </p:sp>
      <p:sp>
        <p:nvSpPr>
          <p:cNvPr id="8" name="Footer Placeholder 7"/>
          <p:cNvSpPr>
            <a:spLocks noGrp="1"/>
          </p:cNvSpPr>
          <p:nvPr>
            <p:ph type="ftr" sz="quarter" idx="11"/>
          </p:nvPr>
        </p:nvSpPr>
        <p:spPr/>
        <p:txBody>
          <a:bodyPr/>
          <a:lstStyle/>
          <a:p>
            <a:r>
              <a:rPr lang="en-GB"/>
              <a:t>Day 1: Reproducible NGS Data Analysis on Personal Laptops</a:t>
            </a:r>
          </a:p>
        </p:txBody>
      </p:sp>
      <p:sp>
        <p:nvSpPr>
          <p:cNvPr id="9" name="Slide Number Placeholder 8"/>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414454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953B74D-CC1D-D544-8CB0-DB12C3D1744A}" type="datetime1">
              <a:rPr lang="it-IT" smtClean="0"/>
              <a:t>08/10/26</a:t>
            </a:fld>
            <a:endParaRPr lang="en-GB"/>
          </a:p>
        </p:txBody>
      </p:sp>
      <p:sp>
        <p:nvSpPr>
          <p:cNvPr id="4" name="Footer Placeholder 3"/>
          <p:cNvSpPr>
            <a:spLocks noGrp="1"/>
          </p:cNvSpPr>
          <p:nvPr>
            <p:ph type="ftr" sz="quarter" idx="11"/>
          </p:nvPr>
        </p:nvSpPr>
        <p:spPr/>
        <p:txBody>
          <a:bodyPr/>
          <a:lstStyle/>
          <a:p>
            <a:r>
              <a:rPr lang="en-GB"/>
              <a:t>Day 1: Reproducible NGS Data Analysis on Personal Laptops</a:t>
            </a:r>
          </a:p>
        </p:txBody>
      </p:sp>
      <p:sp>
        <p:nvSpPr>
          <p:cNvPr id="5" name="Slide Number Placeholder 4"/>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773475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398775-032D-C849-B9B0-C1D11ED802C1}" type="datetime1">
              <a:rPr lang="it-IT" smtClean="0"/>
              <a:t>08/10/26</a:t>
            </a:fld>
            <a:endParaRPr lang="en-GB"/>
          </a:p>
        </p:txBody>
      </p:sp>
      <p:sp>
        <p:nvSpPr>
          <p:cNvPr id="3" name="Footer Placeholder 2"/>
          <p:cNvSpPr>
            <a:spLocks noGrp="1"/>
          </p:cNvSpPr>
          <p:nvPr>
            <p:ph type="ftr" sz="quarter" idx="11"/>
          </p:nvPr>
        </p:nvSpPr>
        <p:spPr/>
        <p:txBody>
          <a:bodyPr/>
          <a:lstStyle/>
          <a:p>
            <a:r>
              <a:rPr lang="en-GB"/>
              <a:t>Day 1: Reproducible NGS Data Analysis on Personal Laptops</a:t>
            </a:r>
          </a:p>
        </p:txBody>
      </p:sp>
      <p:sp>
        <p:nvSpPr>
          <p:cNvPr id="4" name="Slide Number Placeholder 3"/>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824839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28DD5ADB-7CE0-804E-9C85-40A519507F1A}" type="datetime1">
              <a:rPr lang="it-IT" smtClean="0"/>
              <a:t>08/10/26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108516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404C8A3-CA6B-DB4B-8A18-5294010BD3CB}" type="datetime1">
              <a:rPr lang="it-IT" smtClean="0"/>
              <a:t>08/10/26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5650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B09858-3BFB-DA41-A1A7-0A2A32E9793F}" type="datetime1">
              <a:rPr lang="it-IT" smtClean="0"/>
              <a:t>08/10/26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2978900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C58458F-C659-9242-908F-36A06BB8B093}" type="datetime1">
              <a:rPr lang="it-IT" smtClean="0"/>
              <a:t>08/10/26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582017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4470" y="122282"/>
            <a:ext cx="12192000" cy="519627"/>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398929" y="956048"/>
            <a:ext cx="11192435" cy="50861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1503F-4B7A-6348-924A-FFD23680AA8F}" type="datetime1">
              <a:rPr lang="it-IT" smtClean="0"/>
              <a:t>08/10/26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Day 1: Reproducible NGS Data Analysis on Personal Laptops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92BA6-6E87-3343-8D2C-B7A656D628E4}" type="slidenum">
              <a:rPr lang="en-GB" smtClean="0"/>
              <a:t>‹#›</a:t>
            </a:fld>
            <a:endParaRPr lang="en-GB"/>
          </a:p>
        </p:txBody>
      </p:sp>
    </p:spTree>
    <p:extLst>
      <p:ext uri="{BB962C8B-B14F-4D97-AF65-F5344CB8AC3E}">
        <p14:creationId xmlns:p14="http://schemas.microsoft.com/office/powerpoint/2010/main" val="41502104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92747-DC33-217F-1565-FF97054DED85}"/>
              </a:ext>
            </a:extLst>
          </p:cNvPr>
          <p:cNvSpPr>
            <a:spLocks noGrp="1"/>
          </p:cNvSpPr>
          <p:nvPr>
            <p:ph type="ctrTitle"/>
          </p:nvPr>
        </p:nvSpPr>
        <p:spPr/>
        <p:txBody>
          <a:bodyPr/>
          <a:lstStyle/>
          <a:p>
            <a:r>
              <a:rPr lang="en-IT" dirty="0"/>
              <a:t>Reproducible NGS Data Analysis on Personal Laptops</a:t>
            </a:r>
            <a:endParaRPr lang="en-GB" dirty="0"/>
          </a:p>
        </p:txBody>
      </p:sp>
      <p:sp>
        <p:nvSpPr>
          <p:cNvPr id="4" name="Date Placeholder 3">
            <a:extLst>
              <a:ext uri="{FF2B5EF4-FFF2-40B4-BE49-F238E27FC236}">
                <a16:creationId xmlns:a16="http://schemas.microsoft.com/office/drawing/2014/main" id="{1C0FE03A-9F62-3B7F-B9C2-05F885B6398D}"/>
              </a:ext>
            </a:extLst>
          </p:cNvPr>
          <p:cNvSpPr>
            <a:spLocks noGrp="1"/>
          </p:cNvSpPr>
          <p:nvPr>
            <p:ph type="dt" sz="half" idx="10"/>
          </p:nvPr>
        </p:nvSpPr>
        <p:spPr/>
        <p:txBody>
          <a:bodyPr/>
          <a:lstStyle/>
          <a:p>
            <a:fld id="{220AD085-7898-BE4F-A67D-B59B606A6206}" type="datetime1">
              <a:rPr lang="it-IT" smtClean="0"/>
              <a:t>08/10/26</a:t>
            </a:fld>
            <a:endParaRPr lang="en-GB"/>
          </a:p>
        </p:txBody>
      </p:sp>
      <p:sp>
        <p:nvSpPr>
          <p:cNvPr id="5" name="Footer Placeholder 4">
            <a:extLst>
              <a:ext uri="{FF2B5EF4-FFF2-40B4-BE49-F238E27FC236}">
                <a16:creationId xmlns:a16="http://schemas.microsoft.com/office/drawing/2014/main" id="{8189AE5A-44AD-824B-FEE4-42D719C28C8C}"/>
              </a:ext>
            </a:extLst>
          </p:cNvPr>
          <p:cNvSpPr>
            <a:spLocks noGrp="1"/>
          </p:cNvSpPr>
          <p:nvPr>
            <p:ph type="ftr" sz="quarter" idx="11"/>
          </p:nvPr>
        </p:nvSpPr>
        <p:spPr/>
        <p:txBody>
          <a:bodyPr/>
          <a:lstStyle/>
          <a:p>
            <a:r>
              <a:rPr lang="en-GB" dirty="0"/>
              <a:t>Day 3: Reproducible NGS Data Analysis on Personal Laptops</a:t>
            </a:r>
          </a:p>
        </p:txBody>
      </p:sp>
      <p:sp>
        <p:nvSpPr>
          <p:cNvPr id="6" name="Slide Number Placeholder 5">
            <a:extLst>
              <a:ext uri="{FF2B5EF4-FFF2-40B4-BE49-F238E27FC236}">
                <a16:creationId xmlns:a16="http://schemas.microsoft.com/office/drawing/2014/main" id="{B088CCC8-4672-8B3D-3D7A-7B9695FBD7C7}"/>
              </a:ext>
            </a:extLst>
          </p:cNvPr>
          <p:cNvSpPr>
            <a:spLocks noGrp="1"/>
          </p:cNvSpPr>
          <p:nvPr>
            <p:ph type="sldNum" sz="quarter" idx="12"/>
          </p:nvPr>
        </p:nvSpPr>
        <p:spPr/>
        <p:txBody>
          <a:bodyPr/>
          <a:lstStyle/>
          <a:p>
            <a:fld id="{62E92BA6-6E87-3343-8D2C-B7A656D628E4}" type="slidenum">
              <a:rPr lang="en-GB" smtClean="0"/>
              <a:t>0</a:t>
            </a:fld>
            <a:endParaRPr lang="en-GB"/>
          </a:p>
        </p:txBody>
      </p:sp>
    </p:spTree>
    <p:extLst>
      <p:ext uri="{BB962C8B-B14F-4D97-AF65-F5344CB8AC3E}">
        <p14:creationId xmlns:p14="http://schemas.microsoft.com/office/powerpoint/2010/main" val="917000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AD8DE-34F1-B6C8-6DB4-8A51721F14BF}"/>
              </a:ext>
            </a:extLst>
          </p:cNvPr>
          <p:cNvSpPr>
            <a:spLocks noGrp="1"/>
          </p:cNvSpPr>
          <p:nvPr>
            <p:ph idx="1"/>
          </p:nvPr>
        </p:nvSpPr>
        <p:spPr>
          <a:xfrm>
            <a:off x="398929" y="956048"/>
            <a:ext cx="11192435" cy="2977999"/>
          </a:xfrm>
        </p:spPr>
        <p:txBody>
          <a:bodyPr>
            <a:normAutofit lnSpcReduction="10000"/>
          </a:bodyPr>
          <a:lstStyle/>
          <a:p>
            <a:pPr marL="0" indent="0" algn="ctr">
              <a:buNone/>
            </a:pPr>
            <a:r>
              <a:rPr lang="en-US" sz="4800" dirty="0"/>
              <a:t>DAY 03</a:t>
            </a:r>
          </a:p>
          <a:p>
            <a:pPr marL="0" indent="0" algn="ctr">
              <a:buNone/>
            </a:pPr>
            <a:r>
              <a:rPr lang="en-GB" sz="4800" dirty="0" err="1"/>
              <a:t>ChIP-seq</a:t>
            </a:r>
            <a:r>
              <a:rPr lang="en-GB" sz="4800" dirty="0"/>
              <a:t>: from FASTQ</a:t>
            </a:r>
          </a:p>
          <a:p>
            <a:pPr marL="0" indent="0" algn="ctr">
              <a:buNone/>
            </a:pPr>
            <a:r>
              <a:rPr lang="en-GB" sz="4800" dirty="0"/>
              <a:t>to peaks, differential occupancy</a:t>
            </a:r>
          </a:p>
          <a:p>
            <a:pPr marL="0" indent="0" algn="ctr">
              <a:buNone/>
            </a:pPr>
            <a:r>
              <a:rPr lang="en-GB" sz="4800" dirty="0"/>
              <a:t>and de novo motifs</a:t>
            </a:r>
          </a:p>
        </p:txBody>
      </p:sp>
      <p:sp>
        <p:nvSpPr>
          <p:cNvPr id="4" name="Date Placeholder 3">
            <a:extLst>
              <a:ext uri="{FF2B5EF4-FFF2-40B4-BE49-F238E27FC236}">
                <a16:creationId xmlns:a16="http://schemas.microsoft.com/office/drawing/2014/main" id="{18A88FE0-0E6C-AA8E-E01E-FF55BEC0ADF1}"/>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504D4A82-CBA4-6A08-3BEB-B236992F3957}"/>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80A036FD-A9A0-FFF6-C5E7-ACE8589DFD54}"/>
              </a:ext>
            </a:extLst>
          </p:cNvPr>
          <p:cNvSpPr>
            <a:spLocks noGrp="1"/>
          </p:cNvSpPr>
          <p:nvPr>
            <p:ph type="sldNum" sz="quarter" idx="12"/>
          </p:nvPr>
        </p:nvSpPr>
        <p:spPr/>
        <p:txBody>
          <a:bodyPr/>
          <a:lstStyle/>
          <a:p>
            <a:fld id="{62E92BA6-6E87-3343-8D2C-B7A656D628E4}" type="slidenum">
              <a:rPr lang="en-GB" smtClean="0"/>
              <a:t>1</a:t>
            </a:fld>
            <a:endParaRPr lang="en-GB"/>
          </a:p>
        </p:txBody>
      </p:sp>
      <p:sp>
        <p:nvSpPr>
          <p:cNvPr id="7" name="TextBox 6">
            <a:extLst>
              <a:ext uri="{FF2B5EF4-FFF2-40B4-BE49-F238E27FC236}">
                <a16:creationId xmlns:a16="http://schemas.microsoft.com/office/drawing/2014/main" id="{9580F8E4-4303-06E8-9759-0526BD92377F}"/>
              </a:ext>
            </a:extLst>
          </p:cNvPr>
          <p:cNvSpPr txBox="1"/>
          <p:nvPr/>
        </p:nvSpPr>
        <p:spPr>
          <a:xfrm>
            <a:off x="116958" y="5009063"/>
            <a:ext cx="11913676" cy="830997"/>
          </a:xfrm>
          <a:prstGeom prst="rect">
            <a:avLst/>
          </a:prstGeom>
          <a:noFill/>
        </p:spPr>
        <p:txBody>
          <a:bodyPr wrap="square">
            <a:spAutoFit/>
          </a:bodyPr>
          <a:lstStyle/>
          <a:p>
            <a:pPr algn="ctr"/>
            <a:r>
              <a:rPr lang="en-GB" sz="2400" i="1" dirty="0">
                <a:solidFill>
                  <a:schemeClr val="bg1">
                    <a:lumMod val="50000"/>
                  </a:schemeClr>
                </a:solidFill>
              </a:rPr>
              <a:t>trimmed </a:t>
            </a:r>
            <a:r>
              <a:rPr lang="en-GB" sz="2400" i="1" dirty="0" err="1">
                <a:solidFill>
                  <a:schemeClr val="bg1">
                    <a:lumMod val="50000"/>
                  </a:schemeClr>
                </a:solidFill>
              </a:rPr>
              <a:t>ChIP-seq</a:t>
            </a:r>
            <a:r>
              <a:rPr lang="en-GB" sz="2400" i="1" dirty="0">
                <a:solidFill>
                  <a:schemeClr val="bg1">
                    <a:lumMod val="50000"/>
                  </a:schemeClr>
                </a:solidFill>
              </a:rPr>
              <a:t> FASTQ → BAM → QC → MACS3 peaks → IDR → peak matrix → DESeq2 → </a:t>
            </a:r>
            <a:r>
              <a:rPr lang="en-GB" sz="2400" i="1" dirty="0" err="1">
                <a:solidFill>
                  <a:schemeClr val="bg1">
                    <a:lumMod val="50000"/>
                  </a:schemeClr>
                </a:solidFill>
              </a:rPr>
              <a:t>genomation</a:t>
            </a:r>
            <a:r>
              <a:rPr lang="en-GB" sz="2400" i="1" dirty="0">
                <a:solidFill>
                  <a:schemeClr val="bg1">
                    <a:lumMod val="50000"/>
                  </a:schemeClr>
                </a:solidFill>
              </a:rPr>
              <a:t> → STREME</a:t>
            </a:r>
          </a:p>
        </p:txBody>
      </p:sp>
    </p:spTree>
    <p:extLst>
      <p:ext uri="{BB962C8B-B14F-4D97-AF65-F5344CB8AC3E}">
        <p14:creationId xmlns:p14="http://schemas.microsoft.com/office/powerpoint/2010/main" val="297087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3B6EE1D-2D62-07EB-DA55-02CF6DD39A96}"/>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2B92E19B-8BA7-359F-B086-D912D582FF58}"/>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F0281525-D5F1-89F5-00F1-698D8416D78A}"/>
              </a:ext>
            </a:extLst>
          </p:cNvPr>
          <p:cNvSpPr>
            <a:spLocks noGrp="1"/>
          </p:cNvSpPr>
          <p:nvPr>
            <p:ph type="sldNum" sz="quarter" idx="12"/>
          </p:nvPr>
        </p:nvSpPr>
        <p:spPr/>
        <p:txBody>
          <a:bodyPr/>
          <a:lstStyle/>
          <a:p>
            <a:fld id="{62E92BA6-6E87-3343-8D2C-B7A656D628E4}" type="slidenum">
              <a:rPr lang="en-GB" smtClean="0"/>
              <a:t>2</a:t>
            </a:fld>
            <a:endParaRPr lang="en-GB"/>
          </a:p>
        </p:txBody>
      </p:sp>
      <p:sp>
        <p:nvSpPr>
          <p:cNvPr id="7" name="TextBox 6">
            <a:extLst>
              <a:ext uri="{FF2B5EF4-FFF2-40B4-BE49-F238E27FC236}">
                <a16:creationId xmlns:a16="http://schemas.microsoft.com/office/drawing/2014/main" id="{87BF67B1-AF79-DE87-3B92-0D8C0024F3B3}"/>
              </a:ext>
            </a:extLst>
          </p:cNvPr>
          <p:cNvSpPr txBox="1"/>
          <p:nvPr/>
        </p:nvSpPr>
        <p:spPr>
          <a:xfrm>
            <a:off x="338615" y="1522297"/>
            <a:ext cx="2358653" cy="3293209"/>
          </a:xfrm>
          <a:prstGeom prst="rect">
            <a:avLst/>
          </a:prstGeom>
          <a:noFill/>
          <a:ln>
            <a:solidFill>
              <a:schemeClr val="tx1"/>
            </a:solidFill>
          </a:ln>
        </p:spPr>
        <p:txBody>
          <a:bodyPr wrap="square">
            <a:spAutoFit/>
          </a:bodyPr>
          <a:lstStyle/>
          <a:p>
            <a:pPr algn="ctr"/>
            <a:r>
              <a:rPr lang="en-GB" sz="1600" dirty="0">
                <a:latin typeface="Courier New" panose="02070309020205020404" pitchFamily="49" charset="0"/>
                <a:cs typeface="Courier New" panose="02070309020205020404" pitchFamily="49" charset="0"/>
              </a:rPr>
              <a:t>────────────────</a:t>
            </a:r>
          </a:p>
          <a:p>
            <a:pPr algn="ctr"/>
            <a:r>
              <a:rPr lang="en-GB" sz="1600" b="1" dirty="0">
                <a:latin typeface="Courier New" panose="02070309020205020404" pitchFamily="49" charset="0"/>
                <a:cs typeface="Courier New" panose="02070309020205020404" pitchFamily="49" charset="0"/>
              </a:rPr>
              <a:t>DAY 1</a:t>
            </a:r>
          </a:p>
          <a:p>
            <a:pPr algn="ctr"/>
            <a:r>
              <a:rPr lang="en-GB" sz="1600" dirty="0">
                <a:latin typeface="Courier New" panose="02070309020205020404" pitchFamily="49" charset="0"/>
                <a:cs typeface="Courier New" panose="02070309020205020404" pitchFamily="49" charset="0"/>
              </a:rPr>
              <a:t>────────────────</a:t>
            </a:r>
          </a:p>
          <a:p>
            <a:pPr algn="ct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reference genome</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gene annotation</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Trimmed</a:t>
            </a:r>
          </a:p>
          <a:p>
            <a:pPr algn="ctr"/>
            <a:r>
              <a:rPr lang="en-GB" sz="1600" dirty="0">
                <a:latin typeface="Courier New" panose="02070309020205020404" pitchFamily="49" charset="0"/>
                <a:cs typeface="Courier New" panose="02070309020205020404" pitchFamily="49" charset="0"/>
              </a:rPr>
              <a:t>paired-end FASTQ</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712FB70F-028C-45AF-F9F1-7AF0A170D6AB}"/>
              </a:ext>
            </a:extLst>
          </p:cNvPr>
          <p:cNvSpPr txBox="1"/>
          <p:nvPr/>
        </p:nvSpPr>
        <p:spPr>
          <a:xfrm>
            <a:off x="2801149" y="920621"/>
            <a:ext cx="2840661" cy="5016758"/>
          </a:xfrm>
          <a:prstGeom prst="rect">
            <a:avLst/>
          </a:prstGeom>
          <a:noFill/>
          <a:ln>
            <a:solidFill>
              <a:schemeClr val="tx1"/>
            </a:solidFill>
          </a:ln>
        </p:spPr>
        <p:txBody>
          <a:bodyPr wrap="square">
            <a:spAutoFit/>
          </a:bodyPr>
          <a:lstStyle/>
          <a:p>
            <a:pPr algn="ctr"/>
            <a:r>
              <a:rPr lang="en-GB" sz="1600" dirty="0">
                <a:latin typeface="Courier New" panose="02070309020205020404" pitchFamily="49" charset="0"/>
                <a:cs typeface="Courier New" panose="02070309020205020404" pitchFamily="49" charset="0"/>
              </a:rPr>
              <a:t>────────────────</a:t>
            </a:r>
          </a:p>
          <a:p>
            <a:pPr algn="ctr"/>
            <a:r>
              <a:rPr lang="en-GB" sz="1600" b="1" dirty="0">
                <a:latin typeface="Courier New" panose="02070309020205020404" pitchFamily="49" charset="0"/>
                <a:cs typeface="Courier New" panose="02070309020205020404" pitchFamily="49" charset="0"/>
              </a:rPr>
              <a:t>DAY 2</a:t>
            </a:r>
          </a:p>
          <a:p>
            <a:pPr algn="ctr"/>
            <a:r>
              <a:rPr lang="en-GB" sz="1600" dirty="0">
                <a:latin typeface="Courier New" panose="02070309020205020404" pitchFamily="49" charset="0"/>
                <a:cs typeface="Courier New" panose="02070309020205020404" pitchFamily="49" charset="0"/>
              </a:rPr>
              <a:t>────────────────</a:t>
            </a:r>
          </a:p>
          <a:p>
            <a:pPr algn="ct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reference indexing</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read alignment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sorted / filtered BAM</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library </a:t>
            </a:r>
            <a:r>
              <a:rPr lang="en-GB" sz="1600" dirty="0" err="1">
                <a:latin typeface="Courier New" panose="02070309020205020404" pitchFamily="49" charset="0"/>
                <a:cs typeface="Courier New" panose="02070309020205020404" pitchFamily="49" charset="0"/>
              </a:rPr>
              <a:t>strandedness</a:t>
            </a: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gene assignment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RAW COUNT MATRIX</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DESeq2</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differential expression</a:t>
            </a:r>
            <a:endParaRPr lang="en-GB" sz="1600" dirty="0"/>
          </a:p>
        </p:txBody>
      </p:sp>
      <p:sp>
        <p:nvSpPr>
          <p:cNvPr id="9" name="Title 1">
            <a:extLst>
              <a:ext uri="{FF2B5EF4-FFF2-40B4-BE49-F238E27FC236}">
                <a16:creationId xmlns:a16="http://schemas.microsoft.com/office/drawing/2014/main" id="{543DC02D-AD3B-8722-4DC6-5C058B21CFA9}"/>
              </a:ext>
            </a:extLst>
          </p:cNvPr>
          <p:cNvSpPr>
            <a:spLocks noGrp="1"/>
          </p:cNvSpPr>
          <p:nvPr>
            <p:ph type="title"/>
          </p:nvPr>
        </p:nvSpPr>
        <p:spPr>
          <a:xfrm>
            <a:off x="134470" y="122282"/>
            <a:ext cx="12192000" cy="551051"/>
          </a:xfrm>
        </p:spPr>
        <p:txBody>
          <a:bodyPr>
            <a:normAutofit/>
          </a:bodyPr>
          <a:lstStyle/>
          <a:p>
            <a:r>
              <a:rPr lang="en-IT" sz="3200" dirty="0"/>
              <a:t>RECAP: DAY1 – DAY2 – DAY3</a:t>
            </a:r>
            <a:endParaRPr lang="en-GB" sz="3200" dirty="0"/>
          </a:p>
        </p:txBody>
      </p:sp>
      <p:sp>
        <p:nvSpPr>
          <p:cNvPr id="10" name="TextBox 9">
            <a:extLst>
              <a:ext uri="{FF2B5EF4-FFF2-40B4-BE49-F238E27FC236}">
                <a16:creationId xmlns:a16="http://schemas.microsoft.com/office/drawing/2014/main" id="{B2851AC7-60EB-5969-A852-6A3C6D6B1CFF}"/>
              </a:ext>
            </a:extLst>
          </p:cNvPr>
          <p:cNvSpPr txBox="1"/>
          <p:nvPr/>
        </p:nvSpPr>
        <p:spPr>
          <a:xfrm>
            <a:off x="5844668" y="920621"/>
            <a:ext cx="3546183" cy="4770537"/>
          </a:xfrm>
          <a:prstGeom prst="rect">
            <a:avLst/>
          </a:prstGeom>
          <a:noFill/>
          <a:ln>
            <a:solidFill>
              <a:schemeClr val="tx1"/>
            </a:solidFill>
          </a:ln>
        </p:spPr>
        <p:txBody>
          <a:bodyPr wrap="square">
            <a:spAutoFit/>
          </a:bodyPr>
          <a:lstStyle/>
          <a:p>
            <a:pPr algn="ctr"/>
            <a:r>
              <a:rPr lang="en-GB" sz="1600" dirty="0">
                <a:latin typeface="Courier New" panose="02070309020205020404" pitchFamily="49" charset="0"/>
                <a:cs typeface="Courier New" panose="02070309020205020404" pitchFamily="49" charset="0"/>
              </a:rPr>
              <a:t>────────────────</a:t>
            </a:r>
          </a:p>
          <a:p>
            <a:pPr algn="ctr"/>
            <a:r>
              <a:rPr lang="en-GB" sz="1600" b="1" dirty="0">
                <a:latin typeface="Courier New" panose="02070309020205020404" pitchFamily="49" charset="0"/>
                <a:cs typeface="Courier New" panose="02070309020205020404" pitchFamily="49" charset="0"/>
              </a:rPr>
              <a:t>DAY 3/4</a:t>
            </a:r>
          </a:p>
          <a:p>
            <a:pPr algn="ctr"/>
            <a:r>
              <a:rPr lang="en-GB" sz="1600" dirty="0">
                <a:latin typeface="Courier New" panose="02070309020205020404" pitchFamily="49" charset="0"/>
                <a:cs typeface="Courier New" panose="02070309020205020404" pitchFamily="49" charset="0"/>
              </a:rPr>
              <a:t>────────────────</a:t>
            </a:r>
          </a:p>
          <a:p>
            <a:pPr algn="ct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read alignment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sorted / filtered BAM</a:t>
            </a:r>
          </a:p>
          <a:p>
            <a:pPr algn="ctr"/>
            <a:r>
              <a:rPr lang="en-GB" sz="1600" dirty="0">
                <a:latin typeface="Courier New" panose="02070309020205020404" pitchFamily="49" charset="0"/>
                <a:cs typeface="Courier New" panose="02070309020205020404" pitchFamily="49" charset="0"/>
              </a:rPr>
              <a:t>↓</a:t>
            </a:r>
          </a:p>
          <a:p>
            <a:pPr algn="ctr"/>
            <a:r>
              <a:rPr lang="en-GB" sz="1600" dirty="0" err="1">
                <a:latin typeface="Courier New" panose="02070309020205020404" pitchFamily="49" charset="0"/>
                <a:cs typeface="Courier New" panose="02070309020205020404" pitchFamily="49" charset="0"/>
              </a:rPr>
              <a:t>ChIP-seq</a:t>
            </a:r>
            <a:r>
              <a:rPr lang="en-GB" sz="1600" dirty="0">
                <a:latin typeface="Courier New" panose="02070309020205020404" pitchFamily="49" charset="0"/>
                <a:cs typeface="Courier New" panose="02070309020205020404" pitchFamily="49" charset="0"/>
              </a:rPr>
              <a:t> QCs</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Peak calling MACS3</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Additional QCs (</a:t>
            </a:r>
            <a:r>
              <a:rPr lang="en-GB" sz="1600" dirty="0" err="1">
                <a:latin typeface="Courier New" panose="02070309020205020404" pitchFamily="49" charset="0"/>
                <a:cs typeface="Courier New" panose="02070309020205020404" pitchFamily="49" charset="0"/>
              </a:rPr>
              <a:t>IDR,etc</a:t>
            </a: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RAW COUNT MATRIX</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DESeq2</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DeNovo motifs discovery</a:t>
            </a:r>
            <a:endParaRPr lang="en-GB" sz="1600" dirty="0"/>
          </a:p>
        </p:txBody>
      </p:sp>
      <p:sp>
        <p:nvSpPr>
          <p:cNvPr id="11" name="Text 7">
            <a:extLst>
              <a:ext uri="{FF2B5EF4-FFF2-40B4-BE49-F238E27FC236}">
                <a16:creationId xmlns:a16="http://schemas.microsoft.com/office/drawing/2014/main" id="{3AF693C9-F683-8C57-CA5E-8BD2EE1FC10A}"/>
              </a:ext>
            </a:extLst>
          </p:cNvPr>
          <p:cNvSpPr/>
          <p:nvPr/>
        </p:nvSpPr>
        <p:spPr>
          <a:xfrm>
            <a:off x="9593709" y="1019697"/>
            <a:ext cx="2289265" cy="4917682"/>
          </a:xfrm>
          <a:prstGeom prst="rect">
            <a:avLst/>
          </a:prstGeom>
          <a:noFill/>
          <a:ln/>
        </p:spPr>
        <p:txBody>
          <a:bodyPr wrap="square" lIns="0" tIns="0" rIns="0" bIns="0" rtlCol="0" anchor="ctr"/>
          <a:lstStyle/>
          <a:p>
            <a:pPr marL="0" indent="0">
              <a:buNone/>
            </a:pPr>
            <a:r>
              <a:rPr lang="en-US" sz="1400" b="1" dirty="0">
                <a:solidFill>
                  <a:srgbClr val="2F704F"/>
                </a:solidFill>
                <a:latin typeface="Gill Sans" pitchFamily="34" charset="0"/>
                <a:ea typeface="Gill Sans" pitchFamily="34" charset="-122"/>
                <a:cs typeface="Gill Sans" pitchFamily="34" charset="-120"/>
              </a:rPr>
              <a:t>Concept carried forward:</a:t>
            </a:r>
          </a:p>
          <a:p>
            <a:pPr marL="0" indent="0">
              <a:buNone/>
            </a:pPr>
            <a:endParaRPr lang="en-US" sz="1400" b="1" dirty="0">
              <a:solidFill>
                <a:srgbClr val="2F704F"/>
              </a:solidFill>
              <a:latin typeface="Gill Sans" pitchFamily="34" charset="0"/>
              <a:cs typeface="Gill Sans" pitchFamily="34" charset="-120"/>
            </a:endParaRPr>
          </a:p>
          <a:p>
            <a:pPr marL="285750" indent="-285750">
              <a:buFontTx/>
              <a:buChar char="-"/>
            </a:pPr>
            <a:r>
              <a:rPr lang="en-US" sz="1400" dirty="0">
                <a:latin typeface="Gill Sans" pitchFamily="34" charset="0"/>
                <a:cs typeface="Gill Sans" pitchFamily="34" charset="-120"/>
              </a:rPr>
              <a:t>Same reference genome and coordinate system</a:t>
            </a:r>
          </a:p>
          <a:p>
            <a:pPr marL="285750" indent="-285750">
              <a:buFontTx/>
              <a:buChar char="-"/>
            </a:pPr>
            <a:r>
              <a:rPr lang="en-US" sz="1400" dirty="0">
                <a:latin typeface="Gill Sans" pitchFamily="34" charset="0"/>
                <a:cs typeface="Gill Sans" pitchFamily="34" charset="-120"/>
              </a:rPr>
              <a:t>Same from FASTQ to BAM logic</a:t>
            </a:r>
          </a:p>
          <a:p>
            <a:pPr marL="285750" indent="-285750">
              <a:buFontTx/>
              <a:buChar char="-"/>
            </a:pPr>
            <a:r>
              <a:rPr lang="en-US" sz="1400" dirty="0">
                <a:latin typeface="Gill Sans" pitchFamily="34" charset="0"/>
                <a:cs typeface="Gill Sans" pitchFamily="34" charset="-120"/>
              </a:rPr>
              <a:t>Same reproducibility logic i.e. scripts, parameters, container Git repo.</a:t>
            </a:r>
          </a:p>
          <a:p>
            <a:pPr marL="285750" indent="-285750">
              <a:buFontTx/>
              <a:buChar char="-"/>
            </a:pPr>
            <a:endParaRPr lang="en-US" sz="1400" dirty="0">
              <a:latin typeface="Gill Sans" pitchFamily="34" charset="0"/>
              <a:cs typeface="Gill Sans" pitchFamily="34" charset="-120"/>
            </a:endParaRPr>
          </a:p>
          <a:p>
            <a:r>
              <a:rPr lang="en-US" sz="1400" b="1" dirty="0" err="1">
                <a:solidFill>
                  <a:schemeClr val="accent1">
                    <a:lumMod val="50000"/>
                  </a:schemeClr>
                </a:solidFill>
                <a:latin typeface="Gill Sans" pitchFamily="34" charset="0"/>
                <a:cs typeface="Gill Sans" pitchFamily="34" charset="-120"/>
              </a:rPr>
              <a:t>ChIP</a:t>
            </a:r>
            <a:r>
              <a:rPr lang="en-US" sz="1400" b="1" dirty="0">
                <a:solidFill>
                  <a:schemeClr val="accent1">
                    <a:lumMod val="50000"/>
                  </a:schemeClr>
                </a:solidFill>
                <a:latin typeface="Gill Sans" pitchFamily="34" charset="0"/>
                <a:cs typeface="Gill Sans" pitchFamily="34" charset="-120"/>
              </a:rPr>
              <a:t>-seq objective:</a:t>
            </a:r>
          </a:p>
          <a:p>
            <a:endParaRPr lang="en-US" sz="1400" b="1" dirty="0">
              <a:solidFill>
                <a:schemeClr val="accent1">
                  <a:lumMod val="50000"/>
                </a:schemeClr>
              </a:solidFill>
              <a:latin typeface="Gill Sans" pitchFamily="34" charset="0"/>
              <a:cs typeface="Gill Sans" pitchFamily="34" charset="-120"/>
            </a:endParaRPr>
          </a:p>
          <a:p>
            <a:pPr marL="285750" indent="-285750">
              <a:buFontTx/>
              <a:buChar char="-"/>
            </a:pPr>
            <a:r>
              <a:rPr lang="en-US" sz="1400" dirty="0">
                <a:latin typeface="Gill Sans" pitchFamily="34" charset="0"/>
                <a:cs typeface="Gill Sans" pitchFamily="34" charset="-120"/>
              </a:rPr>
              <a:t>Protein-DNA interaction enrichment</a:t>
            </a:r>
          </a:p>
          <a:p>
            <a:pPr marL="285750" indent="-285750">
              <a:buFontTx/>
              <a:buChar char="-"/>
            </a:pPr>
            <a:r>
              <a:rPr lang="en-US" sz="1400" dirty="0">
                <a:latin typeface="Gill Sans" pitchFamily="34" charset="0"/>
                <a:cs typeface="Gill Sans" pitchFamily="34" charset="-120"/>
              </a:rPr>
              <a:t>Fragment coverage</a:t>
            </a:r>
          </a:p>
          <a:p>
            <a:pPr marL="285750" indent="-285750">
              <a:buFontTx/>
              <a:buChar char="-"/>
            </a:pPr>
            <a:r>
              <a:rPr lang="en-US" sz="1400" dirty="0">
                <a:latin typeface="Gill Sans" pitchFamily="34" charset="0"/>
                <a:cs typeface="Gill Sans" pitchFamily="34" charset="-120"/>
              </a:rPr>
              <a:t>Peak reproducibility</a:t>
            </a:r>
          </a:p>
          <a:p>
            <a:pPr marL="285750" indent="-285750">
              <a:buFontTx/>
              <a:buChar char="-"/>
            </a:pPr>
            <a:r>
              <a:rPr lang="en-US" sz="1400" dirty="0">
                <a:latin typeface="Gill Sans" pitchFamily="34" charset="0"/>
                <a:cs typeface="Gill Sans" pitchFamily="34" charset="-120"/>
              </a:rPr>
              <a:t>Motifs model from peak DNA</a:t>
            </a:r>
          </a:p>
          <a:p>
            <a:endParaRPr lang="en-US" sz="1400" dirty="0">
              <a:latin typeface="Gill Sans" pitchFamily="34" charset="0"/>
              <a:cs typeface="Gill Sans" pitchFamily="34" charset="-120"/>
            </a:endParaRPr>
          </a:p>
        </p:txBody>
      </p:sp>
    </p:spTree>
    <p:extLst>
      <p:ext uri="{BB962C8B-B14F-4D97-AF65-F5344CB8AC3E}">
        <p14:creationId xmlns:p14="http://schemas.microsoft.com/office/powerpoint/2010/main" val="71843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0E49500-60DC-CCC1-0811-58F7204FE1BC}"/>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F8610F5D-C342-2E63-D924-D6DED888F29E}"/>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2A43A317-6541-9BCD-DCC8-25F7472202B7}"/>
              </a:ext>
            </a:extLst>
          </p:cNvPr>
          <p:cNvSpPr>
            <a:spLocks noGrp="1"/>
          </p:cNvSpPr>
          <p:nvPr>
            <p:ph type="sldNum" sz="quarter" idx="12"/>
          </p:nvPr>
        </p:nvSpPr>
        <p:spPr/>
        <p:txBody>
          <a:bodyPr/>
          <a:lstStyle/>
          <a:p>
            <a:fld id="{62E92BA6-6E87-3343-8D2C-B7A656D628E4}" type="slidenum">
              <a:rPr lang="en-GB" smtClean="0"/>
              <a:t>3</a:t>
            </a:fld>
            <a:endParaRPr lang="en-GB"/>
          </a:p>
        </p:txBody>
      </p:sp>
      <p:sp>
        <p:nvSpPr>
          <p:cNvPr id="7" name="Title 1">
            <a:extLst>
              <a:ext uri="{FF2B5EF4-FFF2-40B4-BE49-F238E27FC236}">
                <a16:creationId xmlns:a16="http://schemas.microsoft.com/office/drawing/2014/main" id="{254C192C-5DB2-870A-92AD-B62A9CCB5971}"/>
              </a:ext>
            </a:extLst>
          </p:cNvPr>
          <p:cNvSpPr>
            <a:spLocks noGrp="1"/>
          </p:cNvSpPr>
          <p:nvPr>
            <p:ph type="title"/>
          </p:nvPr>
        </p:nvSpPr>
        <p:spPr>
          <a:xfrm>
            <a:off x="155985" y="143352"/>
            <a:ext cx="12192000" cy="551051"/>
          </a:xfrm>
        </p:spPr>
        <p:txBody>
          <a:bodyPr>
            <a:normAutofit/>
          </a:bodyPr>
          <a:lstStyle/>
          <a:p>
            <a:r>
              <a:rPr lang="en-IT" sz="3200" dirty="0"/>
              <a:t>DAY3/4 Workflow:</a:t>
            </a:r>
            <a:endParaRPr lang="en-GB" sz="3200" dirty="0"/>
          </a:p>
        </p:txBody>
      </p:sp>
      <p:sp>
        <p:nvSpPr>
          <p:cNvPr id="8" name="Text 2">
            <a:extLst>
              <a:ext uri="{FF2B5EF4-FFF2-40B4-BE49-F238E27FC236}">
                <a16:creationId xmlns:a16="http://schemas.microsoft.com/office/drawing/2014/main" id="{4FC53292-EAB4-48B5-0E26-2BAD7B4E114C}"/>
              </a:ext>
            </a:extLst>
          </p:cNvPr>
          <p:cNvSpPr/>
          <p:nvPr/>
        </p:nvSpPr>
        <p:spPr>
          <a:xfrm>
            <a:off x="320039" y="1286077"/>
            <a:ext cx="1325880" cy="640080"/>
          </a:xfrm>
          <a:prstGeom prst="rect">
            <a:avLst/>
          </a:prstGeom>
          <a:solidFill>
            <a:srgbClr val="F6F6F6"/>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FASTQ</a:t>
            </a:r>
            <a:endParaRPr lang="en-US" sz="1200" dirty="0"/>
          </a:p>
        </p:txBody>
      </p:sp>
      <p:sp>
        <p:nvSpPr>
          <p:cNvPr id="9" name="Shape 3">
            <a:extLst>
              <a:ext uri="{FF2B5EF4-FFF2-40B4-BE49-F238E27FC236}">
                <a16:creationId xmlns:a16="http://schemas.microsoft.com/office/drawing/2014/main" id="{910C25DE-8D12-4627-5A14-0E8225B4ACC9}"/>
              </a:ext>
            </a:extLst>
          </p:cNvPr>
          <p:cNvSpPr/>
          <p:nvPr/>
        </p:nvSpPr>
        <p:spPr>
          <a:xfrm>
            <a:off x="1673351" y="1606117"/>
            <a:ext cx="219456" cy="0"/>
          </a:xfrm>
          <a:prstGeom prst="line">
            <a:avLst/>
          </a:prstGeom>
          <a:noFill/>
          <a:ln w="15240">
            <a:solidFill>
              <a:srgbClr val="2F704F"/>
            </a:solidFill>
            <a:prstDash val="solid"/>
            <a:tailEnd type="triangle"/>
          </a:ln>
        </p:spPr>
        <p:txBody>
          <a:bodyPr/>
          <a:lstStyle/>
          <a:p>
            <a:endParaRPr lang="en-GB"/>
          </a:p>
        </p:txBody>
      </p:sp>
      <p:sp>
        <p:nvSpPr>
          <p:cNvPr id="10" name="Text 4">
            <a:extLst>
              <a:ext uri="{FF2B5EF4-FFF2-40B4-BE49-F238E27FC236}">
                <a16:creationId xmlns:a16="http://schemas.microsoft.com/office/drawing/2014/main" id="{33E30E54-E4F7-4439-EE32-4DE52EC2E6BD}"/>
              </a:ext>
            </a:extLst>
          </p:cNvPr>
          <p:cNvSpPr/>
          <p:nvPr/>
        </p:nvSpPr>
        <p:spPr>
          <a:xfrm>
            <a:off x="196595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Bowtie2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BAM</a:t>
            </a:r>
            <a:endParaRPr lang="en-US" sz="1200" dirty="0"/>
          </a:p>
        </p:txBody>
      </p:sp>
      <p:sp>
        <p:nvSpPr>
          <p:cNvPr id="11" name="Shape 5">
            <a:extLst>
              <a:ext uri="{FF2B5EF4-FFF2-40B4-BE49-F238E27FC236}">
                <a16:creationId xmlns:a16="http://schemas.microsoft.com/office/drawing/2014/main" id="{AA00E116-E33F-9039-1B9B-E2852ABF12EC}"/>
              </a:ext>
            </a:extLst>
          </p:cNvPr>
          <p:cNvSpPr/>
          <p:nvPr/>
        </p:nvSpPr>
        <p:spPr>
          <a:xfrm>
            <a:off x="3319271" y="1606117"/>
            <a:ext cx="219456" cy="0"/>
          </a:xfrm>
          <a:prstGeom prst="line">
            <a:avLst/>
          </a:prstGeom>
          <a:noFill/>
          <a:ln w="15240">
            <a:solidFill>
              <a:srgbClr val="2F704F"/>
            </a:solidFill>
            <a:prstDash val="solid"/>
            <a:tailEnd type="triangle"/>
          </a:ln>
        </p:spPr>
        <p:txBody>
          <a:bodyPr/>
          <a:lstStyle/>
          <a:p>
            <a:endParaRPr lang="en-GB"/>
          </a:p>
        </p:txBody>
      </p:sp>
      <p:sp>
        <p:nvSpPr>
          <p:cNvPr id="12" name="Text 6">
            <a:extLst>
              <a:ext uri="{FF2B5EF4-FFF2-40B4-BE49-F238E27FC236}">
                <a16:creationId xmlns:a16="http://schemas.microsoft.com/office/drawing/2014/main" id="{D8EE3CCC-4580-BB75-8C6B-E5FB22E4C78B}"/>
              </a:ext>
            </a:extLst>
          </p:cNvPr>
          <p:cNvSpPr/>
          <p:nvPr/>
        </p:nvSpPr>
        <p:spPr>
          <a:xfrm>
            <a:off x="361187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ChIP QC</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phantom peak</a:t>
            </a:r>
            <a:endParaRPr lang="en-US" sz="1200" dirty="0"/>
          </a:p>
        </p:txBody>
      </p:sp>
      <p:sp>
        <p:nvSpPr>
          <p:cNvPr id="13" name="Shape 7">
            <a:extLst>
              <a:ext uri="{FF2B5EF4-FFF2-40B4-BE49-F238E27FC236}">
                <a16:creationId xmlns:a16="http://schemas.microsoft.com/office/drawing/2014/main" id="{77BDC153-DA22-9C83-7C07-ED3CDBF7F413}"/>
              </a:ext>
            </a:extLst>
          </p:cNvPr>
          <p:cNvSpPr/>
          <p:nvPr/>
        </p:nvSpPr>
        <p:spPr>
          <a:xfrm>
            <a:off x="4965191" y="1606117"/>
            <a:ext cx="219456" cy="0"/>
          </a:xfrm>
          <a:prstGeom prst="line">
            <a:avLst/>
          </a:prstGeom>
          <a:noFill/>
          <a:ln w="15240">
            <a:solidFill>
              <a:srgbClr val="2F704F"/>
            </a:solidFill>
            <a:prstDash val="solid"/>
            <a:tailEnd type="triangle"/>
          </a:ln>
        </p:spPr>
        <p:txBody>
          <a:bodyPr/>
          <a:lstStyle/>
          <a:p>
            <a:endParaRPr lang="en-GB"/>
          </a:p>
        </p:txBody>
      </p:sp>
      <p:sp>
        <p:nvSpPr>
          <p:cNvPr id="14" name="Text 8">
            <a:extLst>
              <a:ext uri="{FF2B5EF4-FFF2-40B4-BE49-F238E27FC236}">
                <a16:creationId xmlns:a16="http://schemas.microsoft.com/office/drawing/2014/main" id="{8888C73E-52FC-F635-0E9D-2F7806FBA813}"/>
              </a:ext>
            </a:extLst>
          </p:cNvPr>
          <p:cNvSpPr/>
          <p:nvPr/>
        </p:nvSpPr>
        <p:spPr>
          <a:xfrm>
            <a:off x="525779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bigWig</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tracks</a:t>
            </a:r>
            <a:endParaRPr lang="en-US" sz="1200" dirty="0"/>
          </a:p>
        </p:txBody>
      </p:sp>
      <p:sp>
        <p:nvSpPr>
          <p:cNvPr id="15" name="Shape 9">
            <a:extLst>
              <a:ext uri="{FF2B5EF4-FFF2-40B4-BE49-F238E27FC236}">
                <a16:creationId xmlns:a16="http://schemas.microsoft.com/office/drawing/2014/main" id="{E3209064-4E7C-051B-BF78-5279C8711577}"/>
              </a:ext>
            </a:extLst>
          </p:cNvPr>
          <p:cNvSpPr/>
          <p:nvPr/>
        </p:nvSpPr>
        <p:spPr>
          <a:xfrm>
            <a:off x="6611111" y="1606117"/>
            <a:ext cx="219456" cy="0"/>
          </a:xfrm>
          <a:prstGeom prst="line">
            <a:avLst/>
          </a:prstGeom>
          <a:noFill/>
          <a:ln w="15240">
            <a:solidFill>
              <a:srgbClr val="2F704F"/>
            </a:solidFill>
            <a:prstDash val="solid"/>
            <a:tailEnd type="triangle"/>
          </a:ln>
        </p:spPr>
        <p:txBody>
          <a:bodyPr/>
          <a:lstStyle/>
          <a:p>
            <a:endParaRPr lang="en-GB"/>
          </a:p>
        </p:txBody>
      </p:sp>
      <p:sp>
        <p:nvSpPr>
          <p:cNvPr id="16" name="Text 10">
            <a:extLst>
              <a:ext uri="{FF2B5EF4-FFF2-40B4-BE49-F238E27FC236}">
                <a16:creationId xmlns:a16="http://schemas.microsoft.com/office/drawing/2014/main" id="{E1DF5944-C0A5-C246-E469-AFD2B37FA0F0}"/>
              </a:ext>
            </a:extLst>
          </p:cNvPr>
          <p:cNvSpPr/>
          <p:nvPr/>
        </p:nvSpPr>
        <p:spPr>
          <a:xfrm>
            <a:off x="690371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MACS3</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peaks</a:t>
            </a:r>
            <a:endParaRPr lang="en-US" sz="1200" dirty="0"/>
          </a:p>
        </p:txBody>
      </p:sp>
      <p:sp>
        <p:nvSpPr>
          <p:cNvPr id="17" name="Shape 11">
            <a:extLst>
              <a:ext uri="{FF2B5EF4-FFF2-40B4-BE49-F238E27FC236}">
                <a16:creationId xmlns:a16="http://schemas.microsoft.com/office/drawing/2014/main" id="{2D64DF21-FF22-F61C-8E12-78A06D76204C}"/>
              </a:ext>
            </a:extLst>
          </p:cNvPr>
          <p:cNvSpPr/>
          <p:nvPr/>
        </p:nvSpPr>
        <p:spPr>
          <a:xfrm>
            <a:off x="8257031" y="1606117"/>
            <a:ext cx="219456" cy="0"/>
          </a:xfrm>
          <a:prstGeom prst="line">
            <a:avLst/>
          </a:prstGeom>
          <a:noFill/>
          <a:ln w="15240">
            <a:solidFill>
              <a:srgbClr val="2F704F"/>
            </a:solidFill>
            <a:prstDash val="solid"/>
            <a:tailEnd type="triangle"/>
          </a:ln>
        </p:spPr>
        <p:txBody>
          <a:bodyPr/>
          <a:lstStyle/>
          <a:p>
            <a:endParaRPr lang="en-GB"/>
          </a:p>
        </p:txBody>
      </p:sp>
      <p:sp>
        <p:nvSpPr>
          <p:cNvPr id="18" name="Text 12">
            <a:extLst>
              <a:ext uri="{FF2B5EF4-FFF2-40B4-BE49-F238E27FC236}">
                <a16:creationId xmlns:a16="http://schemas.microsoft.com/office/drawing/2014/main" id="{B0618107-0665-8A11-0E8F-64808F8C0BC3}"/>
              </a:ext>
            </a:extLst>
          </p:cNvPr>
          <p:cNvSpPr/>
          <p:nvPr/>
        </p:nvSpPr>
        <p:spPr>
          <a:xfrm>
            <a:off x="854963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algn="ctr"/>
            <a:r>
              <a:rPr lang="en-US" sz="1200" dirty="0">
                <a:solidFill>
                  <a:srgbClr val="111111"/>
                </a:solidFill>
                <a:latin typeface="Gill Sans" pitchFamily="34" charset="0"/>
                <a:ea typeface="Gill Sans" pitchFamily="34" charset="-122"/>
                <a:cs typeface="Gill Sans" pitchFamily="34" charset="-120"/>
              </a:rPr>
              <a:t>Post-peak quality control</a:t>
            </a:r>
            <a:endParaRPr lang="en-US" sz="1200" dirty="0"/>
          </a:p>
        </p:txBody>
      </p:sp>
      <p:sp>
        <p:nvSpPr>
          <p:cNvPr id="19" name="Shape 13">
            <a:extLst>
              <a:ext uri="{FF2B5EF4-FFF2-40B4-BE49-F238E27FC236}">
                <a16:creationId xmlns:a16="http://schemas.microsoft.com/office/drawing/2014/main" id="{EC8281CC-B9F8-1E71-A385-69A289B59EA3}"/>
              </a:ext>
            </a:extLst>
          </p:cNvPr>
          <p:cNvSpPr/>
          <p:nvPr/>
        </p:nvSpPr>
        <p:spPr>
          <a:xfrm>
            <a:off x="9902951" y="1606117"/>
            <a:ext cx="219456" cy="0"/>
          </a:xfrm>
          <a:prstGeom prst="line">
            <a:avLst/>
          </a:prstGeom>
          <a:noFill/>
          <a:ln w="15240">
            <a:solidFill>
              <a:srgbClr val="2F704F"/>
            </a:solidFill>
            <a:prstDash val="solid"/>
            <a:tailEnd type="triangle"/>
          </a:ln>
        </p:spPr>
        <p:txBody>
          <a:bodyPr/>
          <a:lstStyle/>
          <a:p>
            <a:endParaRPr lang="en-GB"/>
          </a:p>
        </p:txBody>
      </p:sp>
      <p:sp>
        <p:nvSpPr>
          <p:cNvPr id="20" name="Text 14">
            <a:extLst>
              <a:ext uri="{FF2B5EF4-FFF2-40B4-BE49-F238E27FC236}">
                <a16:creationId xmlns:a16="http://schemas.microsoft.com/office/drawing/2014/main" id="{D320420E-6C6E-BEA2-8FBA-F71A27B0626D}"/>
              </a:ext>
            </a:extLst>
          </p:cNvPr>
          <p:cNvSpPr/>
          <p:nvPr/>
        </p:nvSpPr>
        <p:spPr>
          <a:xfrm>
            <a:off x="1019555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common</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peak set</a:t>
            </a:r>
            <a:endParaRPr lang="en-US" sz="1200" dirty="0"/>
          </a:p>
        </p:txBody>
      </p:sp>
      <p:sp>
        <p:nvSpPr>
          <p:cNvPr id="21" name="Text 15">
            <a:extLst>
              <a:ext uri="{FF2B5EF4-FFF2-40B4-BE49-F238E27FC236}">
                <a16:creationId xmlns:a16="http://schemas.microsoft.com/office/drawing/2014/main" id="{2AF26297-5F83-74C7-4201-D6F8E1FF032C}"/>
              </a:ext>
            </a:extLst>
          </p:cNvPr>
          <p:cNvSpPr/>
          <p:nvPr/>
        </p:nvSpPr>
        <p:spPr>
          <a:xfrm>
            <a:off x="777239" y="2322672"/>
            <a:ext cx="1600200" cy="749808"/>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count matrix</a:t>
            </a:r>
            <a:endParaRPr lang="en-US" sz="1200" dirty="0"/>
          </a:p>
        </p:txBody>
      </p:sp>
      <p:sp>
        <p:nvSpPr>
          <p:cNvPr id="22" name="Shape 16">
            <a:extLst>
              <a:ext uri="{FF2B5EF4-FFF2-40B4-BE49-F238E27FC236}">
                <a16:creationId xmlns:a16="http://schemas.microsoft.com/office/drawing/2014/main" id="{2E961B04-AE22-6CE1-CCCD-88737BA6EBFB}"/>
              </a:ext>
            </a:extLst>
          </p:cNvPr>
          <p:cNvSpPr/>
          <p:nvPr/>
        </p:nvSpPr>
        <p:spPr>
          <a:xfrm>
            <a:off x="2404871" y="2697576"/>
            <a:ext cx="585216" cy="0"/>
          </a:xfrm>
          <a:prstGeom prst="line">
            <a:avLst/>
          </a:prstGeom>
          <a:noFill/>
          <a:ln w="15240">
            <a:solidFill>
              <a:srgbClr val="2F704F"/>
            </a:solidFill>
            <a:prstDash val="solid"/>
            <a:tailEnd type="triangle"/>
          </a:ln>
        </p:spPr>
        <p:txBody>
          <a:bodyPr/>
          <a:lstStyle/>
          <a:p>
            <a:endParaRPr lang="en-GB"/>
          </a:p>
        </p:txBody>
      </p:sp>
      <p:sp>
        <p:nvSpPr>
          <p:cNvPr id="23" name="Text 17">
            <a:extLst>
              <a:ext uri="{FF2B5EF4-FFF2-40B4-BE49-F238E27FC236}">
                <a16:creationId xmlns:a16="http://schemas.microsoft.com/office/drawing/2014/main" id="{1BE68BE2-78AF-E574-B2BD-B863B27E79C0}"/>
              </a:ext>
            </a:extLst>
          </p:cNvPr>
          <p:cNvSpPr/>
          <p:nvPr/>
        </p:nvSpPr>
        <p:spPr>
          <a:xfrm>
            <a:off x="3063239" y="2322672"/>
            <a:ext cx="1600200" cy="749808"/>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scatter</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correlation</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PCA</a:t>
            </a:r>
            <a:endParaRPr lang="en-US" sz="1200" dirty="0"/>
          </a:p>
        </p:txBody>
      </p:sp>
      <p:sp>
        <p:nvSpPr>
          <p:cNvPr id="24" name="Shape 18">
            <a:extLst>
              <a:ext uri="{FF2B5EF4-FFF2-40B4-BE49-F238E27FC236}">
                <a16:creationId xmlns:a16="http://schemas.microsoft.com/office/drawing/2014/main" id="{4ECD9D75-301D-22FC-566D-87160056367C}"/>
              </a:ext>
            </a:extLst>
          </p:cNvPr>
          <p:cNvSpPr/>
          <p:nvPr/>
        </p:nvSpPr>
        <p:spPr>
          <a:xfrm>
            <a:off x="4690871" y="2697576"/>
            <a:ext cx="585216" cy="0"/>
          </a:xfrm>
          <a:prstGeom prst="line">
            <a:avLst/>
          </a:prstGeom>
          <a:noFill/>
          <a:ln w="15240">
            <a:solidFill>
              <a:srgbClr val="2F704F"/>
            </a:solidFill>
            <a:prstDash val="solid"/>
            <a:tailEnd type="triangle"/>
          </a:ln>
        </p:spPr>
        <p:txBody>
          <a:bodyPr/>
          <a:lstStyle/>
          <a:p>
            <a:endParaRPr lang="en-GB"/>
          </a:p>
        </p:txBody>
      </p:sp>
      <p:sp>
        <p:nvSpPr>
          <p:cNvPr id="25" name="Text 19">
            <a:extLst>
              <a:ext uri="{FF2B5EF4-FFF2-40B4-BE49-F238E27FC236}">
                <a16:creationId xmlns:a16="http://schemas.microsoft.com/office/drawing/2014/main" id="{4B13DA15-8A8F-6166-DB0F-4F0FB6B0331E}"/>
              </a:ext>
            </a:extLst>
          </p:cNvPr>
          <p:cNvSpPr/>
          <p:nvPr/>
        </p:nvSpPr>
        <p:spPr>
          <a:xfrm>
            <a:off x="5349239" y="2322672"/>
            <a:ext cx="1600200" cy="749808"/>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DESeq2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differential</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peaks</a:t>
            </a:r>
            <a:endParaRPr lang="en-US" sz="1200" dirty="0"/>
          </a:p>
        </p:txBody>
      </p:sp>
      <p:sp>
        <p:nvSpPr>
          <p:cNvPr id="26" name="Shape 20">
            <a:extLst>
              <a:ext uri="{FF2B5EF4-FFF2-40B4-BE49-F238E27FC236}">
                <a16:creationId xmlns:a16="http://schemas.microsoft.com/office/drawing/2014/main" id="{682B36D7-32CB-567D-E8BB-0986CC106965}"/>
              </a:ext>
            </a:extLst>
          </p:cNvPr>
          <p:cNvSpPr/>
          <p:nvPr/>
        </p:nvSpPr>
        <p:spPr>
          <a:xfrm>
            <a:off x="6976871" y="2697576"/>
            <a:ext cx="585216" cy="0"/>
          </a:xfrm>
          <a:prstGeom prst="line">
            <a:avLst/>
          </a:prstGeom>
          <a:noFill/>
          <a:ln w="15240">
            <a:solidFill>
              <a:srgbClr val="2F704F"/>
            </a:solidFill>
            <a:prstDash val="solid"/>
            <a:tailEnd type="triangle"/>
          </a:ln>
        </p:spPr>
        <p:txBody>
          <a:bodyPr/>
          <a:lstStyle/>
          <a:p>
            <a:endParaRPr lang="en-GB"/>
          </a:p>
        </p:txBody>
      </p:sp>
      <p:sp>
        <p:nvSpPr>
          <p:cNvPr id="27" name="Text 21">
            <a:extLst>
              <a:ext uri="{FF2B5EF4-FFF2-40B4-BE49-F238E27FC236}">
                <a16:creationId xmlns:a16="http://schemas.microsoft.com/office/drawing/2014/main" id="{30A5BA10-84A5-7F8B-A818-55D801EAB145}"/>
              </a:ext>
            </a:extLst>
          </p:cNvPr>
          <p:cNvSpPr/>
          <p:nvPr/>
        </p:nvSpPr>
        <p:spPr>
          <a:xfrm>
            <a:off x="7635239" y="2322672"/>
            <a:ext cx="1600200" cy="749808"/>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genomation</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profiles</a:t>
            </a:r>
            <a:endParaRPr lang="en-US" sz="1200" dirty="0"/>
          </a:p>
        </p:txBody>
      </p:sp>
      <p:sp>
        <p:nvSpPr>
          <p:cNvPr id="28" name="Shape 22">
            <a:extLst>
              <a:ext uri="{FF2B5EF4-FFF2-40B4-BE49-F238E27FC236}">
                <a16:creationId xmlns:a16="http://schemas.microsoft.com/office/drawing/2014/main" id="{EE18D0E2-7C72-2483-7894-7787EC54DB86}"/>
              </a:ext>
            </a:extLst>
          </p:cNvPr>
          <p:cNvSpPr/>
          <p:nvPr/>
        </p:nvSpPr>
        <p:spPr>
          <a:xfrm>
            <a:off x="9262871" y="2697576"/>
            <a:ext cx="585216" cy="0"/>
          </a:xfrm>
          <a:prstGeom prst="line">
            <a:avLst/>
          </a:prstGeom>
          <a:noFill/>
          <a:ln w="15240">
            <a:solidFill>
              <a:srgbClr val="2F704F"/>
            </a:solidFill>
            <a:prstDash val="solid"/>
            <a:tailEnd type="triangle"/>
          </a:ln>
        </p:spPr>
        <p:txBody>
          <a:bodyPr/>
          <a:lstStyle/>
          <a:p>
            <a:endParaRPr lang="en-GB"/>
          </a:p>
        </p:txBody>
      </p:sp>
      <p:sp>
        <p:nvSpPr>
          <p:cNvPr id="29" name="Text 23">
            <a:extLst>
              <a:ext uri="{FF2B5EF4-FFF2-40B4-BE49-F238E27FC236}">
                <a16:creationId xmlns:a16="http://schemas.microsoft.com/office/drawing/2014/main" id="{CE9BF3EE-1A56-441D-0B20-68C5A3784318}"/>
              </a:ext>
            </a:extLst>
          </p:cNvPr>
          <p:cNvSpPr/>
          <p:nvPr/>
        </p:nvSpPr>
        <p:spPr>
          <a:xfrm>
            <a:off x="9921239" y="2322672"/>
            <a:ext cx="1600200" cy="749808"/>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STREME</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motifs</a:t>
            </a:r>
            <a:endParaRPr lang="en-US" sz="1200" dirty="0"/>
          </a:p>
        </p:txBody>
      </p:sp>
      <p:sp>
        <p:nvSpPr>
          <p:cNvPr id="31" name="Shape 13">
            <a:extLst>
              <a:ext uri="{FF2B5EF4-FFF2-40B4-BE49-F238E27FC236}">
                <a16:creationId xmlns:a16="http://schemas.microsoft.com/office/drawing/2014/main" id="{5DE139B4-D11C-FCC3-58C7-43B7B86AB7ED}"/>
              </a:ext>
            </a:extLst>
          </p:cNvPr>
          <p:cNvSpPr/>
          <p:nvPr/>
        </p:nvSpPr>
        <p:spPr>
          <a:xfrm>
            <a:off x="11576303" y="1606117"/>
            <a:ext cx="219456" cy="0"/>
          </a:xfrm>
          <a:prstGeom prst="line">
            <a:avLst/>
          </a:prstGeom>
          <a:noFill/>
          <a:ln w="15240">
            <a:solidFill>
              <a:srgbClr val="2F704F"/>
            </a:solidFill>
            <a:prstDash val="solid"/>
            <a:tailEnd type="triangle"/>
          </a:ln>
        </p:spPr>
        <p:txBody>
          <a:bodyPr/>
          <a:lstStyle/>
          <a:p>
            <a:endParaRPr lang="en-GB"/>
          </a:p>
        </p:txBody>
      </p:sp>
      <p:sp>
        <p:nvSpPr>
          <p:cNvPr id="32" name="Shape 13">
            <a:extLst>
              <a:ext uri="{FF2B5EF4-FFF2-40B4-BE49-F238E27FC236}">
                <a16:creationId xmlns:a16="http://schemas.microsoft.com/office/drawing/2014/main" id="{E5AE7C42-1FE2-57A3-2AD6-73D589CC0688}"/>
              </a:ext>
            </a:extLst>
          </p:cNvPr>
          <p:cNvSpPr/>
          <p:nvPr/>
        </p:nvSpPr>
        <p:spPr>
          <a:xfrm>
            <a:off x="475667" y="2697576"/>
            <a:ext cx="219456" cy="0"/>
          </a:xfrm>
          <a:prstGeom prst="line">
            <a:avLst/>
          </a:prstGeom>
          <a:noFill/>
          <a:ln w="15240">
            <a:solidFill>
              <a:srgbClr val="2F704F"/>
            </a:solidFill>
            <a:prstDash val="solid"/>
            <a:tailEnd type="triangle"/>
          </a:ln>
        </p:spPr>
        <p:txBody>
          <a:bodyPr/>
          <a:lstStyle/>
          <a:p>
            <a:endParaRPr lang="en-GB"/>
          </a:p>
        </p:txBody>
      </p:sp>
      <p:sp>
        <p:nvSpPr>
          <p:cNvPr id="33" name="TextBox 32">
            <a:extLst>
              <a:ext uri="{FF2B5EF4-FFF2-40B4-BE49-F238E27FC236}">
                <a16:creationId xmlns:a16="http://schemas.microsoft.com/office/drawing/2014/main" id="{24F2C295-B046-E2F7-4CE5-727966E21D34}"/>
              </a:ext>
            </a:extLst>
          </p:cNvPr>
          <p:cNvSpPr txBox="1"/>
          <p:nvPr/>
        </p:nvSpPr>
        <p:spPr>
          <a:xfrm>
            <a:off x="2209800" y="3659233"/>
            <a:ext cx="8574848" cy="1754326"/>
          </a:xfrm>
          <a:prstGeom prst="rect">
            <a:avLst/>
          </a:prstGeom>
          <a:noFill/>
        </p:spPr>
        <p:txBody>
          <a:bodyPr wrap="none" rtlCol="0">
            <a:spAutoFit/>
          </a:bodyPr>
          <a:lstStyle/>
          <a:p>
            <a:r>
              <a:rPr lang="en-GB" dirty="0"/>
              <a:t>In </a:t>
            </a:r>
            <a:r>
              <a:rPr lang="en-GB" dirty="0" err="1"/>
              <a:t>ChIP-seq</a:t>
            </a:r>
            <a:r>
              <a:rPr lang="en-GB" dirty="0"/>
              <a:t> we cannot rely on pre-made annotations like in Reference based RNAseq.</a:t>
            </a:r>
          </a:p>
          <a:p>
            <a:r>
              <a:rPr lang="en-GB" dirty="0" err="1"/>
              <a:t>ChIP-seq</a:t>
            </a:r>
            <a:r>
              <a:rPr lang="en-GB" dirty="0"/>
              <a:t> experiments, according to their design, can answer multiple things:</a:t>
            </a:r>
          </a:p>
          <a:p>
            <a:endParaRPr lang="en-GB" dirty="0"/>
          </a:p>
          <a:p>
            <a:pPr marL="285750" indent="-285750">
              <a:buFontTx/>
              <a:buChar char="-"/>
            </a:pPr>
            <a:r>
              <a:rPr lang="en-GB" dirty="0"/>
              <a:t>Where my DNA binding protein is the the coordinate system of my reference genome</a:t>
            </a:r>
          </a:p>
          <a:p>
            <a:pPr marL="285750" indent="-285750">
              <a:buFontTx/>
              <a:buChar char="-"/>
            </a:pPr>
            <a:r>
              <a:rPr lang="en-GB" dirty="0"/>
              <a:t>Which sites are stronger/weaker than others</a:t>
            </a:r>
          </a:p>
          <a:p>
            <a:pPr marL="285750" indent="-285750">
              <a:buFontTx/>
              <a:buChar char="-"/>
            </a:pPr>
            <a:r>
              <a:rPr lang="en-GB" dirty="0"/>
              <a:t>How the treatment/perturbation/genotype affects the binding of my protein</a:t>
            </a:r>
          </a:p>
        </p:txBody>
      </p:sp>
    </p:spTree>
    <p:extLst>
      <p:ext uri="{BB962C8B-B14F-4D97-AF65-F5344CB8AC3E}">
        <p14:creationId xmlns:p14="http://schemas.microsoft.com/office/powerpoint/2010/main" val="251650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A1E3D5-0791-1812-7874-0DDA43822E61}"/>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A5C393D1-DC19-2089-3840-1DE1DC401488}"/>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8D5CF780-7527-7994-2676-DC363CC8DD8C}"/>
              </a:ext>
            </a:extLst>
          </p:cNvPr>
          <p:cNvSpPr>
            <a:spLocks noGrp="1"/>
          </p:cNvSpPr>
          <p:nvPr>
            <p:ph type="sldNum" sz="quarter" idx="12"/>
          </p:nvPr>
        </p:nvSpPr>
        <p:spPr/>
        <p:txBody>
          <a:bodyPr/>
          <a:lstStyle/>
          <a:p>
            <a:fld id="{62E92BA6-6E87-3343-8D2C-B7A656D628E4}" type="slidenum">
              <a:rPr lang="en-GB" smtClean="0"/>
              <a:t>4</a:t>
            </a:fld>
            <a:endParaRPr lang="en-GB"/>
          </a:p>
        </p:txBody>
      </p:sp>
      <p:pic>
        <p:nvPicPr>
          <p:cNvPr id="7" name="Picture 6" descr="Figure 1: Overview of a ChIP–seq experiment.">
            <a:extLst>
              <a:ext uri="{FF2B5EF4-FFF2-40B4-BE49-F238E27FC236}">
                <a16:creationId xmlns:a16="http://schemas.microsoft.com/office/drawing/2014/main" id="{65349F05-82D9-2789-D047-8D7F2584350A}"/>
              </a:ext>
            </a:extLst>
          </p:cNvPr>
          <p:cNvPicPr>
            <a:picLocks noChangeAspect="1"/>
          </p:cNvPicPr>
          <p:nvPr/>
        </p:nvPicPr>
        <p:blipFill>
          <a:blip r:embed="rId2"/>
          <a:stretch>
            <a:fillRect/>
          </a:stretch>
        </p:blipFill>
        <p:spPr>
          <a:xfrm>
            <a:off x="7126831" y="372536"/>
            <a:ext cx="4502185" cy="5983814"/>
          </a:xfrm>
          <a:prstGeom prst="rect">
            <a:avLst/>
          </a:prstGeom>
        </p:spPr>
      </p:pic>
      <p:sp>
        <p:nvSpPr>
          <p:cNvPr id="8" name="Title 1">
            <a:extLst>
              <a:ext uri="{FF2B5EF4-FFF2-40B4-BE49-F238E27FC236}">
                <a16:creationId xmlns:a16="http://schemas.microsoft.com/office/drawing/2014/main" id="{D578D2D2-BF22-A070-1071-36A3926C999F}"/>
              </a:ext>
            </a:extLst>
          </p:cNvPr>
          <p:cNvSpPr>
            <a:spLocks noGrp="1"/>
          </p:cNvSpPr>
          <p:nvPr>
            <p:ph type="title"/>
          </p:nvPr>
        </p:nvSpPr>
        <p:spPr>
          <a:xfrm>
            <a:off x="155985" y="143352"/>
            <a:ext cx="7783159" cy="551051"/>
          </a:xfrm>
        </p:spPr>
        <p:txBody>
          <a:bodyPr>
            <a:normAutofit/>
          </a:bodyPr>
          <a:lstStyle/>
          <a:p>
            <a:r>
              <a:rPr lang="en-IT" sz="3200" dirty="0"/>
              <a:t>Wet-lab protocol &gt; Bioinformatic analysis</a:t>
            </a:r>
            <a:endParaRPr lang="en-GB" sz="3200" dirty="0"/>
          </a:p>
        </p:txBody>
      </p:sp>
      <p:sp>
        <p:nvSpPr>
          <p:cNvPr id="9" name="Text 19">
            <a:extLst>
              <a:ext uri="{FF2B5EF4-FFF2-40B4-BE49-F238E27FC236}">
                <a16:creationId xmlns:a16="http://schemas.microsoft.com/office/drawing/2014/main" id="{2ACF7FA9-B8E9-8A50-5082-FD938435B250}"/>
              </a:ext>
            </a:extLst>
          </p:cNvPr>
          <p:cNvSpPr/>
          <p:nvPr/>
        </p:nvSpPr>
        <p:spPr>
          <a:xfrm>
            <a:off x="282244" y="4172157"/>
            <a:ext cx="6000222" cy="411480"/>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Gill Sans" pitchFamily="34" charset="0"/>
                <a:ea typeface="Gill Sans" pitchFamily="34" charset="-122"/>
                <a:cs typeface="Gill Sans" pitchFamily="34" charset="-120"/>
              </a:rPr>
              <a:t>The FASTQ reads are sampled from enriched DNA fragments.</a:t>
            </a:r>
            <a:endParaRPr lang="en-US" sz="1600" dirty="0"/>
          </a:p>
        </p:txBody>
      </p:sp>
      <p:sp>
        <p:nvSpPr>
          <p:cNvPr id="10" name="Text 21">
            <a:extLst>
              <a:ext uri="{FF2B5EF4-FFF2-40B4-BE49-F238E27FC236}">
                <a16:creationId xmlns:a16="http://schemas.microsoft.com/office/drawing/2014/main" id="{B8DD4366-7721-1FE3-A49F-C82430DD8692}"/>
              </a:ext>
            </a:extLst>
          </p:cNvPr>
          <p:cNvSpPr/>
          <p:nvPr/>
        </p:nvSpPr>
        <p:spPr>
          <a:xfrm>
            <a:off x="282244" y="4636907"/>
            <a:ext cx="6000222" cy="411480"/>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Gill Sans" pitchFamily="34" charset="0"/>
                <a:ea typeface="Gill Sans" pitchFamily="34" charset="-122"/>
                <a:cs typeface="Gill Sans" pitchFamily="34" charset="-120"/>
              </a:rPr>
              <a:t>A peak is inferred from many fragments accumulating at the same locus.</a:t>
            </a:r>
            <a:endParaRPr lang="en-US" sz="1600" dirty="0"/>
          </a:p>
        </p:txBody>
      </p:sp>
      <p:sp>
        <p:nvSpPr>
          <p:cNvPr id="11" name="Text 23">
            <a:extLst>
              <a:ext uri="{FF2B5EF4-FFF2-40B4-BE49-F238E27FC236}">
                <a16:creationId xmlns:a16="http://schemas.microsoft.com/office/drawing/2014/main" id="{839E0C6B-917E-A719-A2B8-4835C6CA97A1}"/>
              </a:ext>
            </a:extLst>
          </p:cNvPr>
          <p:cNvSpPr/>
          <p:nvPr/>
        </p:nvSpPr>
        <p:spPr>
          <a:xfrm>
            <a:off x="282244" y="5177076"/>
            <a:ext cx="6000222" cy="411480"/>
          </a:xfrm>
          <a:prstGeom prst="rect">
            <a:avLst/>
          </a:prstGeom>
          <a:noFill/>
          <a:ln/>
        </p:spPr>
        <p:txBody>
          <a:bodyPr wrap="square" lIns="0" tIns="0" rIns="0" bIns="0" rtlCol="0" anchor="ctr">
            <a:normAutofit fontScale="92500" lnSpcReduction="10000"/>
          </a:bodyPr>
          <a:lstStyle/>
          <a:p>
            <a:pPr marL="0" indent="0">
              <a:buNone/>
            </a:pPr>
            <a:r>
              <a:rPr lang="en-US" sz="1600" dirty="0">
                <a:solidFill>
                  <a:srgbClr val="111111"/>
                </a:solidFill>
                <a:latin typeface="Gill Sans" pitchFamily="34" charset="0"/>
                <a:ea typeface="Gill Sans" pitchFamily="34" charset="-122"/>
                <a:cs typeface="Gill Sans" pitchFamily="34" charset="-120"/>
              </a:rPr>
              <a:t>Controls matter because antibody/IP background is not the same as input DNA background.</a:t>
            </a:r>
            <a:endParaRPr lang="en-US" sz="1600" dirty="0"/>
          </a:p>
        </p:txBody>
      </p:sp>
      <p:sp>
        <p:nvSpPr>
          <p:cNvPr id="12" name="TextBox 11">
            <a:extLst>
              <a:ext uri="{FF2B5EF4-FFF2-40B4-BE49-F238E27FC236}">
                <a16:creationId xmlns:a16="http://schemas.microsoft.com/office/drawing/2014/main" id="{6FA62390-1B9B-3531-71D2-74A51AFE1D69}"/>
              </a:ext>
            </a:extLst>
          </p:cNvPr>
          <p:cNvSpPr txBox="1"/>
          <p:nvPr/>
        </p:nvSpPr>
        <p:spPr>
          <a:xfrm>
            <a:off x="282244" y="3684447"/>
            <a:ext cx="1722266" cy="369332"/>
          </a:xfrm>
          <a:prstGeom prst="rect">
            <a:avLst/>
          </a:prstGeom>
          <a:noFill/>
        </p:spPr>
        <p:txBody>
          <a:bodyPr wrap="none" rtlCol="0">
            <a:spAutoFit/>
          </a:bodyPr>
          <a:lstStyle/>
          <a:p>
            <a:r>
              <a:rPr lang="en-GB" b="1" dirty="0">
                <a:solidFill>
                  <a:schemeClr val="accent1">
                    <a:lumMod val="75000"/>
                  </a:schemeClr>
                </a:solidFill>
              </a:rPr>
              <a:t>Key Concepts:</a:t>
            </a:r>
          </a:p>
        </p:txBody>
      </p:sp>
      <p:sp>
        <p:nvSpPr>
          <p:cNvPr id="14" name="TextBox 13">
            <a:extLst>
              <a:ext uri="{FF2B5EF4-FFF2-40B4-BE49-F238E27FC236}">
                <a16:creationId xmlns:a16="http://schemas.microsoft.com/office/drawing/2014/main" id="{59F1AC4E-09FE-20C4-FDD2-205FE1461D8F}"/>
              </a:ext>
            </a:extLst>
          </p:cNvPr>
          <p:cNvSpPr txBox="1"/>
          <p:nvPr/>
        </p:nvSpPr>
        <p:spPr>
          <a:xfrm>
            <a:off x="7532037" y="6077247"/>
            <a:ext cx="2901875" cy="307777"/>
          </a:xfrm>
          <a:prstGeom prst="rect">
            <a:avLst/>
          </a:prstGeom>
          <a:noFill/>
        </p:spPr>
        <p:txBody>
          <a:bodyPr wrap="square">
            <a:spAutoFit/>
          </a:bodyPr>
          <a:lstStyle/>
          <a:p>
            <a:r>
              <a:rPr lang="en-GB" sz="1400" b="0" i="1" u="sng" dirty="0">
                <a:solidFill>
                  <a:schemeClr val="tx1">
                    <a:lumMod val="50000"/>
                    <a:lumOff val="50000"/>
                  </a:schemeClr>
                </a:solidFill>
                <a:effectLst/>
                <a:latin typeface="+mn-lt"/>
              </a:rPr>
              <a:t>Taken from Peter J. Park 2009 </a:t>
            </a:r>
          </a:p>
        </p:txBody>
      </p:sp>
      <p:sp>
        <p:nvSpPr>
          <p:cNvPr id="15" name="TextBox 14">
            <a:extLst>
              <a:ext uri="{FF2B5EF4-FFF2-40B4-BE49-F238E27FC236}">
                <a16:creationId xmlns:a16="http://schemas.microsoft.com/office/drawing/2014/main" id="{D54C7DBE-6146-B182-56C2-A0E2B9E67451}"/>
              </a:ext>
            </a:extLst>
          </p:cNvPr>
          <p:cNvSpPr txBox="1"/>
          <p:nvPr/>
        </p:nvSpPr>
        <p:spPr>
          <a:xfrm>
            <a:off x="155985" y="1064654"/>
            <a:ext cx="8081892" cy="2308324"/>
          </a:xfrm>
          <a:prstGeom prst="rect">
            <a:avLst/>
          </a:prstGeom>
          <a:noFill/>
        </p:spPr>
        <p:txBody>
          <a:bodyPr wrap="none" rtlCol="0">
            <a:spAutoFit/>
          </a:bodyPr>
          <a:lstStyle/>
          <a:p>
            <a:r>
              <a:rPr lang="en-GB" dirty="0" err="1"/>
              <a:t>ChIP-seq</a:t>
            </a:r>
            <a:r>
              <a:rPr lang="en-GB" dirty="0"/>
              <a:t> capture genome-wide Protein-DNA </a:t>
            </a:r>
            <a:r>
              <a:rPr lang="en-GB" dirty="0" err="1"/>
              <a:t>interations</a:t>
            </a:r>
            <a:r>
              <a:rPr lang="en-GB" dirty="0"/>
              <a:t> through 6 sequential steps:</a:t>
            </a:r>
          </a:p>
          <a:p>
            <a:endParaRPr lang="en-GB" dirty="0"/>
          </a:p>
          <a:p>
            <a:pPr marL="342900" indent="-342900">
              <a:buAutoNum type="arabicParenR"/>
            </a:pPr>
            <a:r>
              <a:rPr lang="en-GB" dirty="0"/>
              <a:t>Cross-link</a:t>
            </a:r>
          </a:p>
          <a:p>
            <a:pPr marL="342900" indent="-342900">
              <a:buAutoNum type="arabicParenR"/>
            </a:pPr>
            <a:r>
              <a:rPr lang="en-GB" dirty="0"/>
              <a:t>Lyse</a:t>
            </a:r>
          </a:p>
          <a:p>
            <a:pPr marL="342900" indent="-342900">
              <a:buAutoNum type="arabicParenR"/>
            </a:pPr>
            <a:r>
              <a:rPr lang="en-GB" dirty="0"/>
              <a:t>Shear</a:t>
            </a:r>
          </a:p>
          <a:p>
            <a:pPr marL="342900" indent="-342900">
              <a:buAutoNum type="arabicParenR"/>
            </a:pPr>
            <a:r>
              <a:rPr lang="en-GB" dirty="0"/>
              <a:t>IP</a:t>
            </a:r>
          </a:p>
          <a:p>
            <a:pPr marL="342900" indent="-342900">
              <a:buAutoNum type="arabicParenR"/>
            </a:pPr>
            <a:r>
              <a:rPr lang="en-GB" dirty="0"/>
              <a:t>Rev-crosslink</a:t>
            </a:r>
          </a:p>
          <a:p>
            <a:pPr marL="342900" indent="-342900">
              <a:buAutoNum type="arabicParenR"/>
            </a:pPr>
            <a:r>
              <a:rPr lang="en-GB" dirty="0"/>
              <a:t>Library Prep &amp; sequencing</a:t>
            </a:r>
          </a:p>
        </p:txBody>
      </p:sp>
    </p:spTree>
    <p:extLst>
      <p:ext uri="{BB962C8B-B14F-4D97-AF65-F5344CB8AC3E}">
        <p14:creationId xmlns:p14="http://schemas.microsoft.com/office/powerpoint/2010/main" val="120589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36D41BE-0535-3666-44BD-7D9D43547DBB}"/>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2A5B017C-1FD5-52FF-2551-15E4DCE5790D}"/>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8FF26809-9CCC-E336-FEB1-3AD87A95AB82}"/>
              </a:ext>
            </a:extLst>
          </p:cNvPr>
          <p:cNvSpPr>
            <a:spLocks noGrp="1"/>
          </p:cNvSpPr>
          <p:nvPr>
            <p:ph type="sldNum" sz="quarter" idx="12"/>
          </p:nvPr>
        </p:nvSpPr>
        <p:spPr/>
        <p:txBody>
          <a:bodyPr/>
          <a:lstStyle/>
          <a:p>
            <a:fld id="{62E92BA6-6E87-3343-8D2C-B7A656D628E4}" type="slidenum">
              <a:rPr lang="en-GB" smtClean="0"/>
              <a:t>5</a:t>
            </a:fld>
            <a:endParaRPr lang="en-GB"/>
          </a:p>
        </p:txBody>
      </p:sp>
      <p:sp>
        <p:nvSpPr>
          <p:cNvPr id="7" name="Text 2">
            <a:extLst>
              <a:ext uri="{FF2B5EF4-FFF2-40B4-BE49-F238E27FC236}">
                <a16:creationId xmlns:a16="http://schemas.microsoft.com/office/drawing/2014/main" id="{ECE18393-DCCC-E791-13CE-E0E723223AAA}"/>
              </a:ext>
            </a:extLst>
          </p:cNvPr>
          <p:cNvSpPr/>
          <p:nvPr/>
        </p:nvSpPr>
        <p:spPr>
          <a:xfrm>
            <a:off x="320039" y="1286077"/>
            <a:ext cx="1325880" cy="640080"/>
          </a:xfrm>
          <a:prstGeom prst="rect">
            <a:avLst/>
          </a:prstGeom>
          <a:solidFill>
            <a:srgbClr val="F6F6F6"/>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FASTQ</a:t>
            </a:r>
            <a:endParaRPr lang="en-US" sz="1200" dirty="0"/>
          </a:p>
        </p:txBody>
      </p:sp>
      <p:sp>
        <p:nvSpPr>
          <p:cNvPr id="8" name="Shape 3">
            <a:extLst>
              <a:ext uri="{FF2B5EF4-FFF2-40B4-BE49-F238E27FC236}">
                <a16:creationId xmlns:a16="http://schemas.microsoft.com/office/drawing/2014/main" id="{F4BA8BE9-AD13-6972-5151-432BF609AA4E}"/>
              </a:ext>
            </a:extLst>
          </p:cNvPr>
          <p:cNvSpPr/>
          <p:nvPr/>
        </p:nvSpPr>
        <p:spPr>
          <a:xfrm>
            <a:off x="1673351" y="1606117"/>
            <a:ext cx="219456" cy="0"/>
          </a:xfrm>
          <a:prstGeom prst="line">
            <a:avLst/>
          </a:prstGeom>
          <a:noFill/>
          <a:ln w="15240">
            <a:solidFill>
              <a:srgbClr val="2F704F"/>
            </a:solidFill>
            <a:prstDash val="solid"/>
            <a:tailEnd type="triangle"/>
          </a:ln>
        </p:spPr>
        <p:txBody>
          <a:bodyPr/>
          <a:lstStyle/>
          <a:p>
            <a:endParaRPr lang="en-GB"/>
          </a:p>
        </p:txBody>
      </p:sp>
      <p:sp>
        <p:nvSpPr>
          <p:cNvPr id="9" name="Text 4">
            <a:extLst>
              <a:ext uri="{FF2B5EF4-FFF2-40B4-BE49-F238E27FC236}">
                <a16:creationId xmlns:a16="http://schemas.microsoft.com/office/drawing/2014/main" id="{58F9B1B7-77CD-02EB-C35E-898F59083197}"/>
              </a:ext>
            </a:extLst>
          </p:cNvPr>
          <p:cNvSpPr/>
          <p:nvPr/>
        </p:nvSpPr>
        <p:spPr>
          <a:xfrm>
            <a:off x="196595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Bowtie2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BAM</a:t>
            </a:r>
            <a:endParaRPr lang="en-US" sz="1200" dirty="0"/>
          </a:p>
        </p:txBody>
      </p:sp>
      <p:sp>
        <p:nvSpPr>
          <p:cNvPr id="10" name="Shape 5">
            <a:extLst>
              <a:ext uri="{FF2B5EF4-FFF2-40B4-BE49-F238E27FC236}">
                <a16:creationId xmlns:a16="http://schemas.microsoft.com/office/drawing/2014/main" id="{D381E7E0-F6A8-0AE9-4879-3FB98566DC71}"/>
              </a:ext>
            </a:extLst>
          </p:cNvPr>
          <p:cNvSpPr/>
          <p:nvPr/>
        </p:nvSpPr>
        <p:spPr>
          <a:xfrm>
            <a:off x="3319271" y="1606117"/>
            <a:ext cx="219456" cy="0"/>
          </a:xfrm>
          <a:prstGeom prst="line">
            <a:avLst/>
          </a:prstGeom>
          <a:noFill/>
          <a:ln w="15240">
            <a:solidFill>
              <a:srgbClr val="2F704F"/>
            </a:solidFill>
            <a:prstDash val="solid"/>
            <a:tailEnd type="triangle"/>
          </a:ln>
        </p:spPr>
        <p:txBody>
          <a:bodyPr/>
          <a:lstStyle/>
          <a:p>
            <a:endParaRPr lang="en-GB"/>
          </a:p>
        </p:txBody>
      </p:sp>
      <p:sp>
        <p:nvSpPr>
          <p:cNvPr id="11" name="Title 1">
            <a:extLst>
              <a:ext uri="{FF2B5EF4-FFF2-40B4-BE49-F238E27FC236}">
                <a16:creationId xmlns:a16="http://schemas.microsoft.com/office/drawing/2014/main" id="{4936E58C-989F-A717-670E-41EE46896DE0}"/>
              </a:ext>
            </a:extLst>
          </p:cNvPr>
          <p:cNvSpPr>
            <a:spLocks noGrp="1"/>
          </p:cNvSpPr>
          <p:nvPr>
            <p:ph type="title"/>
          </p:nvPr>
        </p:nvSpPr>
        <p:spPr>
          <a:xfrm>
            <a:off x="155985" y="143352"/>
            <a:ext cx="7783159" cy="551051"/>
          </a:xfrm>
        </p:spPr>
        <p:txBody>
          <a:bodyPr>
            <a:normAutofit/>
          </a:bodyPr>
          <a:lstStyle/>
          <a:p>
            <a:r>
              <a:rPr lang="en-IT" sz="3200" dirty="0"/>
              <a:t>ChIP-seq specific QCs:  PhantomPeak check:</a:t>
            </a:r>
            <a:endParaRPr lang="en-GB" sz="3200" dirty="0"/>
          </a:p>
        </p:txBody>
      </p:sp>
      <p:sp>
        <p:nvSpPr>
          <p:cNvPr id="12" name="Text 6">
            <a:extLst>
              <a:ext uri="{FF2B5EF4-FFF2-40B4-BE49-F238E27FC236}">
                <a16:creationId xmlns:a16="http://schemas.microsoft.com/office/drawing/2014/main" id="{57ECAA5A-D747-ACC6-E70B-41F2B4C90CEF}"/>
              </a:ext>
            </a:extLst>
          </p:cNvPr>
          <p:cNvSpPr/>
          <p:nvPr/>
        </p:nvSpPr>
        <p:spPr>
          <a:xfrm>
            <a:off x="3611879" y="1286077"/>
            <a:ext cx="1325880" cy="640080"/>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ChIP QC</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phantom peak</a:t>
            </a:r>
            <a:endParaRPr lang="en-US" sz="1200" dirty="0">
              <a:solidFill>
                <a:schemeClr val="bg1"/>
              </a:solidFill>
            </a:endParaRPr>
          </a:p>
        </p:txBody>
      </p:sp>
      <p:pic>
        <p:nvPicPr>
          <p:cNvPr id="13" name="Picture 12">
            <a:extLst>
              <a:ext uri="{FF2B5EF4-FFF2-40B4-BE49-F238E27FC236}">
                <a16:creationId xmlns:a16="http://schemas.microsoft.com/office/drawing/2014/main" id="{E88F6775-D5E6-58B7-F774-9388EDE7E397}"/>
              </a:ext>
            </a:extLst>
          </p:cNvPr>
          <p:cNvPicPr>
            <a:picLocks noChangeAspect="1"/>
          </p:cNvPicPr>
          <p:nvPr/>
        </p:nvPicPr>
        <p:blipFill>
          <a:blip r:embed="rId2"/>
          <a:stretch>
            <a:fillRect/>
          </a:stretch>
        </p:blipFill>
        <p:spPr>
          <a:xfrm>
            <a:off x="409537" y="2342747"/>
            <a:ext cx="4528222" cy="3917051"/>
          </a:xfrm>
          <a:prstGeom prst="rect">
            <a:avLst/>
          </a:prstGeom>
        </p:spPr>
      </p:pic>
      <p:pic>
        <p:nvPicPr>
          <p:cNvPr id="14" name="Picture 13">
            <a:extLst>
              <a:ext uri="{FF2B5EF4-FFF2-40B4-BE49-F238E27FC236}">
                <a16:creationId xmlns:a16="http://schemas.microsoft.com/office/drawing/2014/main" id="{02C05C69-ACFD-B5B3-C4A0-A3D65005E162}"/>
              </a:ext>
            </a:extLst>
          </p:cNvPr>
          <p:cNvPicPr>
            <a:picLocks noChangeAspect="1"/>
          </p:cNvPicPr>
          <p:nvPr/>
        </p:nvPicPr>
        <p:blipFill>
          <a:blip r:embed="rId3"/>
          <a:stretch>
            <a:fillRect/>
          </a:stretch>
        </p:blipFill>
        <p:spPr>
          <a:xfrm>
            <a:off x="6420860" y="1266779"/>
            <a:ext cx="5079065" cy="4706290"/>
          </a:xfrm>
          <a:prstGeom prst="rect">
            <a:avLst/>
          </a:prstGeom>
        </p:spPr>
      </p:pic>
      <p:sp>
        <p:nvSpPr>
          <p:cNvPr id="16" name="TextBox 15">
            <a:extLst>
              <a:ext uri="{FF2B5EF4-FFF2-40B4-BE49-F238E27FC236}">
                <a16:creationId xmlns:a16="http://schemas.microsoft.com/office/drawing/2014/main" id="{71DC3FB1-323C-991E-0A94-1F0DCA4092AC}"/>
              </a:ext>
            </a:extLst>
          </p:cNvPr>
          <p:cNvSpPr txBox="1"/>
          <p:nvPr/>
        </p:nvSpPr>
        <p:spPr>
          <a:xfrm>
            <a:off x="6294124" y="714690"/>
            <a:ext cx="5377923" cy="369332"/>
          </a:xfrm>
          <a:prstGeom prst="rect">
            <a:avLst/>
          </a:prstGeom>
          <a:noFill/>
        </p:spPr>
        <p:txBody>
          <a:bodyPr wrap="square">
            <a:spAutoFit/>
          </a:bodyPr>
          <a:lstStyle/>
          <a:p>
            <a:r>
              <a:rPr lang="en-IT" sz="1800" b="0" i="0" dirty="0">
                <a:effectLst/>
                <a:latin typeface="+mn-lt"/>
              </a:rPr>
              <a:t>Strong Signal: predominant peak at the true peak shift.</a:t>
            </a:r>
            <a:endParaRPr lang="en-GB" dirty="0"/>
          </a:p>
        </p:txBody>
      </p:sp>
      <p:pic>
        <p:nvPicPr>
          <p:cNvPr id="17" name="Picture 16">
            <a:extLst>
              <a:ext uri="{FF2B5EF4-FFF2-40B4-BE49-F238E27FC236}">
                <a16:creationId xmlns:a16="http://schemas.microsoft.com/office/drawing/2014/main" id="{ED8779D1-C0EF-2DA0-32CD-7CFD594B3F14}"/>
              </a:ext>
            </a:extLst>
          </p:cNvPr>
          <p:cNvPicPr>
            <a:picLocks noChangeAspect="1"/>
          </p:cNvPicPr>
          <p:nvPr/>
        </p:nvPicPr>
        <p:blipFill>
          <a:blip r:embed="rId4"/>
          <a:stretch>
            <a:fillRect/>
          </a:stretch>
        </p:blipFill>
        <p:spPr>
          <a:xfrm>
            <a:off x="6521375" y="1390337"/>
            <a:ext cx="4832425" cy="4642918"/>
          </a:xfrm>
          <a:prstGeom prst="rect">
            <a:avLst/>
          </a:prstGeom>
        </p:spPr>
      </p:pic>
      <p:sp>
        <p:nvSpPr>
          <p:cNvPr id="19" name="TextBox 18">
            <a:extLst>
              <a:ext uri="{FF2B5EF4-FFF2-40B4-BE49-F238E27FC236}">
                <a16:creationId xmlns:a16="http://schemas.microsoft.com/office/drawing/2014/main" id="{3ECAAB32-7FEF-BAF7-995C-461153E74033}"/>
              </a:ext>
            </a:extLst>
          </p:cNvPr>
          <p:cNvSpPr txBox="1"/>
          <p:nvPr/>
        </p:nvSpPr>
        <p:spPr>
          <a:xfrm>
            <a:off x="6187736" y="694403"/>
            <a:ext cx="6094206" cy="295466"/>
          </a:xfrm>
          <a:prstGeom prst="rect">
            <a:avLst/>
          </a:prstGeom>
          <a:noFill/>
        </p:spPr>
        <p:txBody>
          <a:bodyPr wrap="square">
            <a:spAutoFit/>
          </a:bodyPr>
          <a:lstStyle/>
          <a:p>
            <a:r>
              <a:rPr lang="en-IT" sz="1800" b="0" i="0" dirty="0">
                <a:effectLst/>
                <a:latin typeface="+mn-lt"/>
              </a:rPr>
              <a:t>Weak Signal: Strongest peak is the blue line (read length) </a:t>
            </a:r>
            <a:endParaRPr lang="en-GB" dirty="0"/>
          </a:p>
        </p:txBody>
      </p:sp>
      <p:pic>
        <p:nvPicPr>
          <p:cNvPr id="20" name="Picture 19">
            <a:extLst>
              <a:ext uri="{FF2B5EF4-FFF2-40B4-BE49-F238E27FC236}">
                <a16:creationId xmlns:a16="http://schemas.microsoft.com/office/drawing/2014/main" id="{4BF4BB52-9595-712E-8D95-CDD9654C439F}"/>
              </a:ext>
            </a:extLst>
          </p:cNvPr>
          <p:cNvPicPr>
            <a:picLocks noChangeAspect="1"/>
          </p:cNvPicPr>
          <p:nvPr/>
        </p:nvPicPr>
        <p:blipFill>
          <a:blip r:embed="rId5"/>
          <a:stretch>
            <a:fillRect/>
          </a:stretch>
        </p:blipFill>
        <p:spPr>
          <a:xfrm>
            <a:off x="6629419" y="1388161"/>
            <a:ext cx="4724381" cy="4350617"/>
          </a:xfrm>
          <a:prstGeom prst="rect">
            <a:avLst/>
          </a:prstGeom>
        </p:spPr>
      </p:pic>
      <p:sp>
        <p:nvSpPr>
          <p:cNvPr id="22" name="TextBox 21">
            <a:extLst>
              <a:ext uri="{FF2B5EF4-FFF2-40B4-BE49-F238E27FC236}">
                <a16:creationId xmlns:a16="http://schemas.microsoft.com/office/drawing/2014/main" id="{385FEFF4-2EEA-3B24-60A2-F42E8EF969A4}"/>
              </a:ext>
            </a:extLst>
          </p:cNvPr>
          <p:cNvSpPr txBox="1"/>
          <p:nvPr/>
        </p:nvSpPr>
        <p:spPr>
          <a:xfrm>
            <a:off x="6187736" y="723372"/>
            <a:ext cx="6096000" cy="295466"/>
          </a:xfrm>
          <a:prstGeom prst="rect">
            <a:avLst/>
          </a:prstGeom>
          <a:noFill/>
        </p:spPr>
        <p:txBody>
          <a:bodyPr wrap="square">
            <a:spAutoFit/>
          </a:bodyPr>
          <a:lstStyle/>
          <a:p>
            <a:r>
              <a:rPr lang="en-IT" sz="1800" b="0" i="0" dirty="0">
                <a:effectLst/>
                <a:latin typeface="+mn-lt"/>
              </a:rPr>
              <a:t>No signal: Predominant peak is the blue line (read length) </a:t>
            </a:r>
            <a:endParaRPr lang="en-GB" dirty="0"/>
          </a:p>
        </p:txBody>
      </p:sp>
      <p:sp>
        <p:nvSpPr>
          <p:cNvPr id="23" name="TextBox 22">
            <a:extLst>
              <a:ext uri="{FF2B5EF4-FFF2-40B4-BE49-F238E27FC236}">
                <a16:creationId xmlns:a16="http://schemas.microsoft.com/office/drawing/2014/main" id="{18170771-5CF8-7671-F1B6-924D61316832}"/>
              </a:ext>
            </a:extLst>
          </p:cNvPr>
          <p:cNvSpPr txBox="1"/>
          <p:nvPr/>
        </p:nvSpPr>
        <p:spPr>
          <a:xfrm>
            <a:off x="5771141" y="5871637"/>
            <a:ext cx="6235103" cy="646331"/>
          </a:xfrm>
          <a:prstGeom prst="rect">
            <a:avLst/>
          </a:prstGeom>
          <a:noFill/>
        </p:spPr>
        <p:txBody>
          <a:bodyPr wrap="square" rtlCol="0">
            <a:spAutoFit/>
          </a:bodyPr>
          <a:lstStyle/>
          <a:p>
            <a:r>
              <a:rPr lang="en-GB" dirty="0"/>
              <a:t>In PE mode we can directly extrapolate this from the BAMPE insert size: so the span between read mates</a:t>
            </a:r>
          </a:p>
        </p:txBody>
      </p:sp>
    </p:spTree>
    <p:extLst>
      <p:ext uri="{BB962C8B-B14F-4D97-AF65-F5344CB8AC3E}">
        <p14:creationId xmlns:p14="http://schemas.microsoft.com/office/powerpoint/2010/main" val="242342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9" grpId="0"/>
      <p:bldP spid="19" grpId="1"/>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11FEEE6-EE9E-CE3E-57FC-1A66932CC1D8}"/>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81AED09B-76D3-24F7-8966-F5263527EFA2}"/>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A64D4AB0-09D7-040B-2AEF-A817C8BC7441}"/>
              </a:ext>
            </a:extLst>
          </p:cNvPr>
          <p:cNvSpPr>
            <a:spLocks noGrp="1"/>
          </p:cNvSpPr>
          <p:nvPr>
            <p:ph type="sldNum" sz="quarter" idx="12"/>
          </p:nvPr>
        </p:nvSpPr>
        <p:spPr/>
        <p:txBody>
          <a:bodyPr/>
          <a:lstStyle/>
          <a:p>
            <a:fld id="{62E92BA6-6E87-3343-8D2C-B7A656D628E4}" type="slidenum">
              <a:rPr lang="en-GB" smtClean="0"/>
              <a:t>6</a:t>
            </a:fld>
            <a:endParaRPr lang="en-GB"/>
          </a:p>
        </p:txBody>
      </p:sp>
      <p:sp>
        <p:nvSpPr>
          <p:cNvPr id="7" name="Text 2">
            <a:extLst>
              <a:ext uri="{FF2B5EF4-FFF2-40B4-BE49-F238E27FC236}">
                <a16:creationId xmlns:a16="http://schemas.microsoft.com/office/drawing/2014/main" id="{CED132D3-BF24-D51D-CA52-48D271AC55B4}"/>
              </a:ext>
            </a:extLst>
          </p:cNvPr>
          <p:cNvSpPr/>
          <p:nvPr/>
        </p:nvSpPr>
        <p:spPr>
          <a:xfrm>
            <a:off x="243840" y="823059"/>
            <a:ext cx="1325880" cy="640080"/>
          </a:xfrm>
          <a:prstGeom prst="rect">
            <a:avLst/>
          </a:prstGeom>
          <a:solidFill>
            <a:srgbClr val="F6F6F6"/>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FASTQ</a:t>
            </a:r>
            <a:endParaRPr lang="en-US" sz="1200" dirty="0"/>
          </a:p>
        </p:txBody>
      </p:sp>
      <p:sp>
        <p:nvSpPr>
          <p:cNvPr id="8" name="Shape 3">
            <a:extLst>
              <a:ext uri="{FF2B5EF4-FFF2-40B4-BE49-F238E27FC236}">
                <a16:creationId xmlns:a16="http://schemas.microsoft.com/office/drawing/2014/main" id="{5691EC75-7CC6-4A0D-C3AE-9FBDB956F34B}"/>
              </a:ext>
            </a:extLst>
          </p:cNvPr>
          <p:cNvSpPr/>
          <p:nvPr/>
        </p:nvSpPr>
        <p:spPr>
          <a:xfrm>
            <a:off x="1597152" y="1143099"/>
            <a:ext cx="219456" cy="0"/>
          </a:xfrm>
          <a:prstGeom prst="line">
            <a:avLst/>
          </a:prstGeom>
          <a:noFill/>
          <a:ln w="15240">
            <a:solidFill>
              <a:srgbClr val="2F704F"/>
            </a:solidFill>
            <a:prstDash val="solid"/>
            <a:tailEnd type="triangle"/>
          </a:ln>
        </p:spPr>
        <p:txBody>
          <a:bodyPr/>
          <a:lstStyle/>
          <a:p>
            <a:endParaRPr lang="en-GB"/>
          </a:p>
        </p:txBody>
      </p:sp>
      <p:sp>
        <p:nvSpPr>
          <p:cNvPr id="9" name="Text 4">
            <a:extLst>
              <a:ext uri="{FF2B5EF4-FFF2-40B4-BE49-F238E27FC236}">
                <a16:creationId xmlns:a16="http://schemas.microsoft.com/office/drawing/2014/main" id="{498EA64D-A18D-C04D-9C9E-CCF8EAB75673}"/>
              </a:ext>
            </a:extLst>
          </p:cNvPr>
          <p:cNvSpPr/>
          <p:nvPr/>
        </p:nvSpPr>
        <p:spPr>
          <a:xfrm>
            <a:off x="1889760" y="823059"/>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Bowtie2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BAM</a:t>
            </a:r>
            <a:endParaRPr lang="en-US" sz="1200" dirty="0"/>
          </a:p>
        </p:txBody>
      </p:sp>
      <p:sp>
        <p:nvSpPr>
          <p:cNvPr id="10" name="Shape 5">
            <a:extLst>
              <a:ext uri="{FF2B5EF4-FFF2-40B4-BE49-F238E27FC236}">
                <a16:creationId xmlns:a16="http://schemas.microsoft.com/office/drawing/2014/main" id="{0FC3CE6E-FAC6-D5A2-FA10-95AE6B33FCFE}"/>
              </a:ext>
            </a:extLst>
          </p:cNvPr>
          <p:cNvSpPr/>
          <p:nvPr/>
        </p:nvSpPr>
        <p:spPr>
          <a:xfrm>
            <a:off x="3243072" y="1143099"/>
            <a:ext cx="219456" cy="0"/>
          </a:xfrm>
          <a:prstGeom prst="line">
            <a:avLst/>
          </a:prstGeom>
          <a:noFill/>
          <a:ln w="15240">
            <a:solidFill>
              <a:srgbClr val="2F704F"/>
            </a:solidFill>
            <a:prstDash val="solid"/>
            <a:tailEnd type="triangle"/>
          </a:ln>
        </p:spPr>
        <p:txBody>
          <a:bodyPr/>
          <a:lstStyle/>
          <a:p>
            <a:endParaRPr lang="en-GB"/>
          </a:p>
        </p:txBody>
      </p:sp>
      <p:sp>
        <p:nvSpPr>
          <p:cNvPr id="11" name="Text 6">
            <a:extLst>
              <a:ext uri="{FF2B5EF4-FFF2-40B4-BE49-F238E27FC236}">
                <a16:creationId xmlns:a16="http://schemas.microsoft.com/office/drawing/2014/main" id="{63806288-7E96-F634-2749-6B81A5D73DD5}"/>
              </a:ext>
            </a:extLst>
          </p:cNvPr>
          <p:cNvSpPr/>
          <p:nvPr/>
        </p:nvSpPr>
        <p:spPr>
          <a:xfrm>
            <a:off x="3535680" y="823059"/>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ChIP QC</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phantom peak</a:t>
            </a:r>
            <a:endParaRPr lang="en-US" sz="1200" dirty="0"/>
          </a:p>
        </p:txBody>
      </p:sp>
      <p:sp>
        <p:nvSpPr>
          <p:cNvPr id="12" name="Shape 7">
            <a:extLst>
              <a:ext uri="{FF2B5EF4-FFF2-40B4-BE49-F238E27FC236}">
                <a16:creationId xmlns:a16="http://schemas.microsoft.com/office/drawing/2014/main" id="{B610415E-A93C-745E-4856-6DF6BA2C08B2}"/>
              </a:ext>
            </a:extLst>
          </p:cNvPr>
          <p:cNvSpPr/>
          <p:nvPr/>
        </p:nvSpPr>
        <p:spPr>
          <a:xfrm>
            <a:off x="4888992" y="1143099"/>
            <a:ext cx="219456" cy="0"/>
          </a:xfrm>
          <a:prstGeom prst="line">
            <a:avLst/>
          </a:prstGeom>
          <a:noFill/>
          <a:ln w="15240">
            <a:solidFill>
              <a:srgbClr val="2F704F"/>
            </a:solidFill>
            <a:prstDash val="solid"/>
            <a:tailEnd type="triangle"/>
          </a:ln>
        </p:spPr>
        <p:txBody>
          <a:bodyPr/>
          <a:lstStyle/>
          <a:p>
            <a:endParaRPr lang="en-GB"/>
          </a:p>
        </p:txBody>
      </p:sp>
      <p:sp>
        <p:nvSpPr>
          <p:cNvPr id="13" name="Text 8">
            <a:extLst>
              <a:ext uri="{FF2B5EF4-FFF2-40B4-BE49-F238E27FC236}">
                <a16:creationId xmlns:a16="http://schemas.microsoft.com/office/drawing/2014/main" id="{636028E9-429B-F87F-0DB2-18BE4A352F0C}"/>
              </a:ext>
            </a:extLst>
          </p:cNvPr>
          <p:cNvSpPr/>
          <p:nvPr/>
        </p:nvSpPr>
        <p:spPr>
          <a:xfrm>
            <a:off x="5181600" y="823059"/>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bigWig</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tracks</a:t>
            </a:r>
            <a:endParaRPr lang="en-US" sz="1200" dirty="0"/>
          </a:p>
        </p:txBody>
      </p:sp>
      <p:sp>
        <p:nvSpPr>
          <p:cNvPr id="14" name="Shape 9">
            <a:extLst>
              <a:ext uri="{FF2B5EF4-FFF2-40B4-BE49-F238E27FC236}">
                <a16:creationId xmlns:a16="http://schemas.microsoft.com/office/drawing/2014/main" id="{DC79F522-C27E-C1D7-6E51-2C80555A17E5}"/>
              </a:ext>
            </a:extLst>
          </p:cNvPr>
          <p:cNvSpPr/>
          <p:nvPr/>
        </p:nvSpPr>
        <p:spPr>
          <a:xfrm>
            <a:off x="6534912" y="1143099"/>
            <a:ext cx="219456" cy="0"/>
          </a:xfrm>
          <a:prstGeom prst="line">
            <a:avLst/>
          </a:prstGeom>
          <a:noFill/>
          <a:ln w="15240">
            <a:solidFill>
              <a:srgbClr val="2F704F"/>
            </a:solidFill>
            <a:prstDash val="solid"/>
            <a:tailEnd type="triangle"/>
          </a:ln>
        </p:spPr>
        <p:txBody>
          <a:bodyPr/>
          <a:lstStyle/>
          <a:p>
            <a:endParaRPr lang="en-GB"/>
          </a:p>
        </p:txBody>
      </p:sp>
      <p:sp>
        <p:nvSpPr>
          <p:cNvPr id="15" name="Text 10">
            <a:extLst>
              <a:ext uri="{FF2B5EF4-FFF2-40B4-BE49-F238E27FC236}">
                <a16:creationId xmlns:a16="http://schemas.microsoft.com/office/drawing/2014/main" id="{0E6BD326-C877-753E-19CA-D24E338337C1}"/>
              </a:ext>
            </a:extLst>
          </p:cNvPr>
          <p:cNvSpPr/>
          <p:nvPr/>
        </p:nvSpPr>
        <p:spPr>
          <a:xfrm>
            <a:off x="6827520" y="823059"/>
            <a:ext cx="1325880" cy="640080"/>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MACS3</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peaks</a:t>
            </a:r>
            <a:endParaRPr lang="en-US" sz="1200" dirty="0">
              <a:solidFill>
                <a:schemeClr val="bg1"/>
              </a:solidFill>
            </a:endParaRPr>
          </a:p>
        </p:txBody>
      </p:sp>
      <p:sp>
        <p:nvSpPr>
          <p:cNvPr id="16" name="Title 1">
            <a:extLst>
              <a:ext uri="{FF2B5EF4-FFF2-40B4-BE49-F238E27FC236}">
                <a16:creationId xmlns:a16="http://schemas.microsoft.com/office/drawing/2014/main" id="{73B0B448-3769-DFFA-3B1A-47834B4848BF}"/>
              </a:ext>
            </a:extLst>
          </p:cNvPr>
          <p:cNvSpPr>
            <a:spLocks noGrp="1"/>
          </p:cNvSpPr>
          <p:nvPr>
            <p:ph type="title"/>
          </p:nvPr>
        </p:nvSpPr>
        <p:spPr>
          <a:xfrm>
            <a:off x="155985" y="143352"/>
            <a:ext cx="10524207" cy="551051"/>
          </a:xfrm>
        </p:spPr>
        <p:txBody>
          <a:bodyPr>
            <a:normAutofit/>
          </a:bodyPr>
          <a:lstStyle/>
          <a:p>
            <a:r>
              <a:rPr lang="en-IT" sz="3200" dirty="0"/>
              <a:t>MACS3: from aligned fragments to ChIP enrichment</a:t>
            </a:r>
            <a:endParaRPr lang="en-GB" sz="3200" dirty="0"/>
          </a:p>
        </p:txBody>
      </p:sp>
      <p:sp>
        <p:nvSpPr>
          <p:cNvPr id="18" name="TextBox 17">
            <a:extLst>
              <a:ext uri="{FF2B5EF4-FFF2-40B4-BE49-F238E27FC236}">
                <a16:creationId xmlns:a16="http://schemas.microsoft.com/office/drawing/2014/main" id="{7F3B26F0-AD19-D11A-171D-6D2EF6E0ABC1}"/>
              </a:ext>
            </a:extLst>
          </p:cNvPr>
          <p:cNvSpPr txBox="1"/>
          <p:nvPr/>
        </p:nvSpPr>
        <p:spPr>
          <a:xfrm>
            <a:off x="155985" y="1911835"/>
            <a:ext cx="11938480" cy="4524315"/>
          </a:xfrm>
          <a:prstGeom prst="rect">
            <a:avLst/>
          </a:prstGeom>
          <a:noFill/>
        </p:spPr>
        <p:txBody>
          <a:bodyPr wrap="square">
            <a:spAutoFit/>
          </a:bodyPr>
          <a:lstStyle/>
          <a:p>
            <a:pPr marL="342900" indent="-342900">
              <a:buAutoNum type="arabicPeriod"/>
            </a:pPr>
            <a:r>
              <a:rPr lang="en-IT" sz="1600" dirty="0">
                <a:solidFill>
                  <a:srgbClr val="00B050"/>
                </a:solidFill>
              </a:rPr>
              <a:t>Build the observed ChIP signal:</a:t>
            </a:r>
          </a:p>
          <a:p>
            <a:pPr marL="857250" lvl="1" indent="-400050">
              <a:buAutoNum type="romanLcParenR"/>
            </a:pPr>
            <a:r>
              <a:rPr lang="en-GB" sz="1600" dirty="0"/>
              <a:t>Fragment are reconstructed either directly from the BAMPE or using the shift of FW and RW like the </a:t>
            </a:r>
            <a:r>
              <a:rPr lang="en-GB" sz="1600" dirty="0" err="1"/>
              <a:t>Phantompeak</a:t>
            </a:r>
            <a:r>
              <a:rPr lang="en-GB" sz="1600" dirty="0"/>
              <a:t> trick.</a:t>
            </a:r>
          </a:p>
          <a:p>
            <a:pPr marL="857250" lvl="1" indent="-400050">
              <a:buAutoNum type="romanLcParenR"/>
            </a:pPr>
            <a:r>
              <a:rPr lang="en-IT" sz="1600" dirty="0"/>
              <a:t>Overlapping fragments generate the </a:t>
            </a:r>
            <a:r>
              <a:rPr lang="en-IT" sz="1600" b="1" dirty="0"/>
              <a:t>observed pileup</a:t>
            </a:r>
            <a:r>
              <a:rPr lang="en-IT" sz="1600" dirty="0"/>
              <a:t> k(x) across the genome.</a:t>
            </a:r>
            <a:endParaRPr lang="en-GB" sz="1600" dirty="0"/>
          </a:p>
          <a:p>
            <a:pPr marL="342900" indent="-342900">
              <a:buAutoNum type="arabicPeriod"/>
            </a:pPr>
            <a:endParaRPr lang="en-GB" sz="1600" dirty="0"/>
          </a:p>
          <a:p>
            <a:pPr marL="342900" indent="-342900">
              <a:buAutoNum type="arabicPeriod"/>
            </a:pPr>
            <a:r>
              <a:rPr lang="en-IT" sz="1600" dirty="0">
                <a:solidFill>
                  <a:srgbClr val="00B050"/>
                </a:solidFill>
              </a:rPr>
              <a:t>Define the expected background</a:t>
            </a:r>
            <a:r>
              <a:rPr lang="en-IT" sz="1600" dirty="0"/>
              <a:t>:</a:t>
            </a:r>
          </a:p>
          <a:p>
            <a:pPr marL="857250" lvl="1" indent="-400050">
              <a:buAutoNum type="romanLcParenR"/>
            </a:pPr>
            <a:r>
              <a:rPr lang="en-IT" sz="1600" dirty="0"/>
              <a:t>For each genomic region, MACS3 asks: </a:t>
            </a:r>
            <a:r>
              <a:rPr lang="en-IT" sz="1600" b="1" dirty="0"/>
              <a:t>how much signal would we expect in the absence of specific enrichment?</a:t>
            </a:r>
          </a:p>
          <a:p>
            <a:pPr marL="857250" lvl="1" indent="-400050">
              <a:buAutoNum type="romanLcParenR"/>
            </a:pPr>
            <a:r>
              <a:rPr lang="en-US" sz="1600" dirty="0"/>
              <a:t>BG is constructed from control samples (like input) or internally from the actual sample.</a:t>
            </a:r>
          </a:p>
          <a:p>
            <a:pPr marL="857250" lvl="1" indent="-400050">
              <a:buAutoNum type="romanLcParenR"/>
            </a:pPr>
            <a:r>
              <a:rPr lang="en-IT" sz="1600" dirty="0"/>
              <a:t>MACS3 considers background at different spatial scales: </a:t>
            </a:r>
            <a:r>
              <a:rPr lang="en-IT" sz="1600" b="1" dirty="0"/>
              <a:t>genome-wide background</a:t>
            </a:r>
            <a:r>
              <a:rPr lang="en-IT" sz="1600" dirty="0"/>
              <a:t>, </a:t>
            </a:r>
            <a:r>
              <a:rPr lang="en-IT" sz="1600" b="1" dirty="0"/>
              <a:t>fragment-scale background</a:t>
            </a:r>
            <a:r>
              <a:rPr lang="en-IT" sz="1600" dirty="0"/>
              <a:t>, </a:t>
            </a:r>
            <a:r>
              <a:rPr lang="en-IT" sz="1600" b="1" dirty="0"/>
              <a:t>local background</a:t>
            </a:r>
            <a:r>
              <a:rPr lang="en-IT" sz="1600" dirty="0"/>
              <a:t>, </a:t>
            </a:r>
            <a:r>
              <a:rPr lang="en-IT" sz="1600" b="1" dirty="0"/>
              <a:t>broader local background </a:t>
            </a:r>
            <a:r>
              <a:rPr lang="en-IT" sz="1600" dirty="0"/>
              <a:t>-&gt; It uses the largest of these! i.e MACS says my expected intesities are potentially : global average signal, or different local level signals</a:t>
            </a:r>
          </a:p>
          <a:p>
            <a:pPr marL="342900" indent="-342900">
              <a:buAutoNum type="arabicPeriod"/>
            </a:pPr>
            <a:endParaRPr lang="en-IT" sz="1600" dirty="0"/>
          </a:p>
          <a:p>
            <a:pPr marL="342900" indent="-342900">
              <a:buAutoNum type="arabicPeriod"/>
            </a:pPr>
            <a:r>
              <a:rPr lang="en-IT" sz="1600" dirty="0">
                <a:solidFill>
                  <a:srgbClr val="00B050"/>
                </a:solidFill>
              </a:rPr>
              <a:t>Convert significant enrichment into peaks:</a:t>
            </a:r>
          </a:p>
          <a:p>
            <a:pPr marL="857250" lvl="1" indent="-400050">
              <a:buAutoNum type="romanLcParenR"/>
            </a:pPr>
            <a:r>
              <a:rPr lang="en-IT" sz="1600" dirty="0"/>
              <a:t>MACS3 compares observed pileup and expected (BG) using a </a:t>
            </a:r>
            <a:r>
              <a:rPr lang="en-IT" sz="1600" b="1" dirty="0"/>
              <a:t>Poisson model</a:t>
            </a:r>
            <a:r>
              <a:rPr lang="en-IT" sz="1600" dirty="0"/>
              <a:t>. Meaning Observed ~ Poisson(Expected) so we get how likely it is to see that observed signal given the expected signal and its theoretical distribution of the error.</a:t>
            </a:r>
          </a:p>
          <a:p>
            <a:pPr marL="857250" lvl="1" indent="-400050">
              <a:buAutoNum type="romanLcParenR"/>
            </a:pPr>
            <a:r>
              <a:rPr lang="en-IT" sz="1600" dirty="0"/>
              <a:t>It then select those significant – join nearby portions – apply some rule for gapping – compute p and then q values - generate the peakfile!</a:t>
            </a:r>
          </a:p>
          <a:p>
            <a:pPr marL="400050" indent="-400050">
              <a:buAutoNum type="romanLcParenR"/>
            </a:pPr>
            <a:endParaRPr lang="en-IT" sz="1600" dirty="0"/>
          </a:p>
          <a:p>
            <a:endParaRPr lang="en-IT" sz="1600" dirty="0"/>
          </a:p>
        </p:txBody>
      </p:sp>
    </p:spTree>
    <p:extLst>
      <p:ext uri="{BB962C8B-B14F-4D97-AF65-F5344CB8AC3E}">
        <p14:creationId xmlns:p14="http://schemas.microsoft.com/office/powerpoint/2010/main" val="339487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D0F476B-F93A-F44E-C839-0EE0EDB8C20E}"/>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184472E6-C3DC-1337-FAA3-BEE2B67AFA1B}"/>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61F68FD3-3625-0E40-FA59-6838B5ABEABF}"/>
              </a:ext>
            </a:extLst>
          </p:cNvPr>
          <p:cNvSpPr>
            <a:spLocks noGrp="1"/>
          </p:cNvSpPr>
          <p:nvPr>
            <p:ph type="sldNum" sz="quarter" idx="12"/>
          </p:nvPr>
        </p:nvSpPr>
        <p:spPr/>
        <p:txBody>
          <a:bodyPr/>
          <a:lstStyle/>
          <a:p>
            <a:fld id="{62E92BA6-6E87-3343-8D2C-B7A656D628E4}" type="slidenum">
              <a:rPr lang="en-GB" smtClean="0"/>
              <a:t>7</a:t>
            </a:fld>
            <a:endParaRPr lang="en-GB"/>
          </a:p>
        </p:txBody>
      </p:sp>
      <p:sp>
        <p:nvSpPr>
          <p:cNvPr id="7" name="Title 1">
            <a:extLst>
              <a:ext uri="{FF2B5EF4-FFF2-40B4-BE49-F238E27FC236}">
                <a16:creationId xmlns:a16="http://schemas.microsoft.com/office/drawing/2014/main" id="{5867F66F-A207-5D96-E7DA-A3884D68C5FB}"/>
              </a:ext>
            </a:extLst>
          </p:cNvPr>
          <p:cNvSpPr>
            <a:spLocks noGrp="1"/>
          </p:cNvSpPr>
          <p:nvPr>
            <p:ph type="title"/>
          </p:nvPr>
        </p:nvSpPr>
        <p:spPr>
          <a:xfrm>
            <a:off x="155985" y="143352"/>
            <a:ext cx="9414735" cy="551051"/>
          </a:xfrm>
        </p:spPr>
        <p:txBody>
          <a:bodyPr>
            <a:normAutofit/>
          </a:bodyPr>
          <a:lstStyle/>
          <a:p>
            <a:r>
              <a:rPr lang="en-IT" sz="3200" dirty="0"/>
              <a:t>Control condition and Control-free peak calling:</a:t>
            </a:r>
            <a:endParaRPr lang="en-GB" sz="3200" dirty="0"/>
          </a:p>
        </p:txBody>
      </p:sp>
      <p:pic>
        <p:nvPicPr>
          <p:cNvPr id="9" name="Picture 8">
            <a:extLst>
              <a:ext uri="{FF2B5EF4-FFF2-40B4-BE49-F238E27FC236}">
                <a16:creationId xmlns:a16="http://schemas.microsoft.com/office/drawing/2014/main" id="{70D574AD-2FE2-7452-6CCD-E630B58191FF}"/>
              </a:ext>
            </a:extLst>
          </p:cNvPr>
          <p:cNvPicPr>
            <a:picLocks noChangeAspect="1"/>
          </p:cNvPicPr>
          <p:nvPr/>
        </p:nvPicPr>
        <p:blipFill>
          <a:blip r:embed="rId2"/>
          <a:stretch>
            <a:fillRect/>
          </a:stretch>
        </p:blipFill>
        <p:spPr>
          <a:xfrm>
            <a:off x="285622" y="1387255"/>
            <a:ext cx="11620755" cy="4276243"/>
          </a:xfrm>
          <a:prstGeom prst="rect">
            <a:avLst/>
          </a:prstGeom>
          <a:ln w="28575">
            <a:solidFill>
              <a:schemeClr val="tx1"/>
            </a:solidFill>
          </a:ln>
        </p:spPr>
      </p:pic>
    </p:spTree>
    <p:extLst>
      <p:ext uri="{BB962C8B-B14F-4D97-AF65-F5344CB8AC3E}">
        <p14:creationId xmlns:p14="http://schemas.microsoft.com/office/powerpoint/2010/main" val="321343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EB20C5-5AEF-F776-1AE3-A90C2C0DE936}"/>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B04E9174-8DF0-2675-8B68-953439908917}"/>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7ABA7BD0-A2FD-BCBF-0B22-4FB0E375A484}"/>
              </a:ext>
            </a:extLst>
          </p:cNvPr>
          <p:cNvSpPr>
            <a:spLocks noGrp="1"/>
          </p:cNvSpPr>
          <p:nvPr>
            <p:ph type="sldNum" sz="quarter" idx="12"/>
          </p:nvPr>
        </p:nvSpPr>
        <p:spPr/>
        <p:txBody>
          <a:bodyPr/>
          <a:lstStyle/>
          <a:p>
            <a:fld id="{62E92BA6-6E87-3343-8D2C-B7A656D628E4}" type="slidenum">
              <a:rPr lang="en-GB" smtClean="0"/>
              <a:t>8</a:t>
            </a:fld>
            <a:endParaRPr lang="en-GB"/>
          </a:p>
        </p:txBody>
      </p:sp>
      <p:sp>
        <p:nvSpPr>
          <p:cNvPr id="7" name="Title 1">
            <a:extLst>
              <a:ext uri="{FF2B5EF4-FFF2-40B4-BE49-F238E27FC236}">
                <a16:creationId xmlns:a16="http://schemas.microsoft.com/office/drawing/2014/main" id="{879F5670-A0C1-EA68-AA92-558F8EB5C765}"/>
              </a:ext>
            </a:extLst>
          </p:cNvPr>
          <p:cNvSpPr>
            <a:spLocks noGrp="1"/>
          </p:cNvSpPr>
          <p:nvPr>
            <p:ph type="title"/>
          </p:nvPr>
        </p:nvSpPr>
        <p:spPr>
          <a:xfrm>
            <a:off x="155985" y="143352"/>
            <a:ext cx="9414735" cy="551051"/>
          </a:xfrm>
        </p:spPr>
        <p:txBody>
          <a:bodyPr>
            <a:normAutofit fontScale="90000"/>
          </a:bodyPr>
          <a:lstStyle/>
          <a:p>
            <a:r>
              <a:rPr lang="en-IT" b="1" dirty="0"/>
              <a:t>Post-peak quality control</a:t>
            </a:r>
          </a:p>
        </p:txBody>
      </p:sp>
      <p:sp>
        <p:nvSpPr>
          <p:cNvPr id="8" name="Text 2">
            <a:extLst>
              <a:ext uri="{FF2B5EF4-FFF2-40B4-BE49-F238E27FC236}">
                <a16:creationId xmlns:a16="http://schemas.microsoft.com/office/drawing/2014/main" id="{C648B2FD-CFFC-6CA1-3F84-76E18A928531}"/>
              </a:ext>
            </a:extLst>
          </p:cNvPr>
          <p:cNvSpPr/>
          <p:nvPr/>
        </p:nvSpPr>
        <p:spPr>
          <a:xfrm>
            <a:off x="320039" y="1286077"/>
            <a:ext cx="1325880" cy="640080"/>
          </a:xfrm>
          <a:prstGeom prst="rect">
            <a:avLst/>
          </a:prstGeom>
          <a:solidFill>
            <a:srgbClr val="F6F6F6"/>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FASTQ</a:t>
            </a:r>
            <a:endParaRPr lang="en-US" sz="1200" dirty="0"/>
          </a:p>
        </p:txBody>
      </p:sp>
      <p:sp>
        <p:nvSpPr>
          <p:cNvPr id="9" name="Shape 3">
            <a:extLst>
              <a:ext uri="{FF2B5EF4-FFF2-40B4-BE49-F238E27FC236}">
                <a16:creationId xmlns:a16="http://schemas.microsoft.com/office/drawing/2014/main" id="{E054935D-12F5-C156-1030-C693E7EA736A}"/>
              </a:ext>
            </a:extLst>
          </p:cNvPr>
          <p:cNvSpPr/>
          <p:nvPr/>
        </p:nvSpPr>
        <p:spPr>
          <a:xfrm>
            <a:off x="1673351" y="1606117"/>
            <a:ext cx="219456" cy="0"/>
          </a:xfrm>
          <a:prstGeom prst="line">
            <a:avLst/>
          </a:prstGeom>
          <a:noFill/>
          <a:ln w="15240">
            <a:solidFill>
              <a:srgbClr val="2F704F"/>
            </a:solidFill>
            <a:prstDash val="solid"/>
            <a:tailEnd type="triangle"/>
          </a:ln>
        </p:spPr>
        <p:txBody>
          <a:bodyPr/>
          <a:lstStyle/>
          <a:p>
            <a:endParaRPr lang="en-GB"/>
          </a:p>
        </p:txBody>
      </p:sp>
      <p:sp>
        <p:nvSpPr>
          <p:cNvPr id="10" name="Text 4">
            <a:extLst>
              <a:ext uri="{FF2B5EF4-FFF2-40B4-BE49-F238E27FC236}">
                <a16:creationId xmlns:a16="http://schemas.microsoft.com/office/drawing/2014/main" id="{16EE36DA-24ED-529D-647F-CB8ECFB49ED4}"/>
              </a:ext>
            </a:extLst>
          </p:cNvPr>
          <p:cNvSpPr/>
          <p:nvPr/>
        </p:nvSpPr>
        <p:spPr>
          <a:xfrm>
            <a:off x="196595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Bowtie2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BAM</a:t>
            </a:r>
            <a:endParaRPr lang="en-US" sz="1200" dirty="0"/>
          </a:p>
        </p:txBody>
      </p:sp>
      <p:sp>
        <p:nvSpPr>
          <p:cNvPr id="11" name="Shape 5">
            <a:extLst>
              <a:ext uri="{FF2B5EF4-FFF2-40B4-BE49-F238E27FC236}">
                <a16:creationId xmlns:a16="http://schemas.microsoft.com/office/drawing/2014/main" id="{6F45CC0F-F71A-5A17-D471-0EF65F65A043}"/>
              </a:ext>
            </a:extLst>
          </p:cNvPr>
          <p:cNvSpPr/>
          <p:nvPr/>
        </p:nvSpPr>
        <p:spPr>
          <a:xfrm>
            <a:off x="3319271" y="1606117"/>
            <a:ext cx="219456" cy="0"/>
          </a:xfrm>
          <a:prstGeom prst="line">
            <a:avLst/>
          </a:prstGeom>
          <a:noFill/>
          <a:ln w="15240">
            <a:solidFill>
              <a:srgbClr val="2F704F"/>
            </a:solidFill>
            <a:prstDash val="solid"/>
            <a:tailEnd type="triangle"/>
          </a:ln>
        </p:spPr>
        <p:txBody>
          <a:bodyPr/>
          <a:lstStyle/>
          <a:p>
            <a:endParaRPr lang="en-GB"/>
          </a:p>
        </p:txBody>
      </p:sp>
      <p:sp>
        <p:nvSpPr>
          <p:cNvPr id="12" name="Text 6">
            <a:extLst>
              <a:ext uri="{FF2B5EF4-FFF2-40B4-BE49-F238E27FC236}">
                <a16:creationId xmlns:a16="http://schemas.microsoft.com/office/drawing/2014/main" id="{771268DD-DC6A-2177-CF26-9126392D25BE}"/>
              </a:ext>
            </a:extLst>
          </p:cNvPr>
          <p:cNvSpPr/>
          <p:nvPr/>
        </p:nvSpPr>
        <p:spPr>
          <a:xfrm>
            <a:off x="361187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ChIP QC</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phantom peak</a:t>
            </a:r>
            <a:endParaRPr lang="en-US" sz="1200" dirty="0"/>
          </a:p>
        </p:txBody>
      </p:sp>
      <p:sp>
        <p:nvSpPr>
          <p:cNvPr id="13" name="Shape 7">
            <a:extLst>
              <a:ext uri="{FF2B5EF4-FFF2-40B4-BE49-F238E27FC236}">
                <a16:creationId xmlns:a16="http://schemas.microsoft.com/office/drawing/2014/main" id="{018B2203-1D26-CF67-69B1-4EABAEF30EE3}"/>
              </a:ext>
            </a:extLst>
          </p:cNvPr>
          <p:cNvSpPr/>
          <p:nvPr/>
        </p:nvSpPr>
        <p:spPr>
          <a:xfrm>
            <a:off x="4965191" y="1606117"/>
            <a:ext cx="219456" cy="0"/>
          </a:xfrm>
          <a:prstGeom prst="line">
            <a:avLst/>
          </a:prstGeom>
          <a:noFill/>
          <a:ln w="15240">
            <a:solidFill>
              <a:srgbClr val="2F704F"/>
            </a:solidFill>
            <a:prstDash val="solid"/>
            <a:tailEnd type="triangle"/>
          </a:ln>
        </p:spPr>
        <p:txBody>
          <a:bodyPr/>
          <a:lstStyle/>
          <a:p>
            <a:endParaRPr lang="en-GB"/>
          </a:p>
        </p:txBody>
      </p:sp>
      <p:sp>
        <p:nvSpPr>
          <p:cNvPr id="14" name="Text 8">
            <a:extLst>
              <a:ext uri="{FF2B5EF4-FFF2-40B4-BE49-F238E27FC236}">
                <a16:creationId xmlns:a16="http://schemas.microsoft.com/office/drawing/2014/main" id="{950F42B7-52BF-55C7-2915-FF2420C4B3CE}"/>
              </a:ext>
            </a:extLst>
          </p:cNvPr>
          <p:cNvSpPr/>
          <p:nvPr/>
        </p:nvSpPr>
        <p:spPr>
          <a:xfrm>
            <a:off x="525779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bigWig</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tracks</a:t>
            </a:r>
            <a:endParaRPr lang="en-US" sz="1200" dirty="0"/>
          </a:p>
        </p:txBody>
      </p:sp>
      <p:sp>
        <p:nvSpPr>
          <p:cNvPr id="15" name="Shape 9">
            <a:extLst>
              <a:ext uri="{FF2B5EF4-FFF2-40B4-BE49-F238E27FC236}">
                <a16:creationId xmlns:a16="http://schemas.microsoft.com/office/drawing/2014/main" id="{EDD1205E-4E1D-224A-1F72-5861203F6237}"/>
              </a:ext>
            </a:extLst>
          </p:cNvPr>
          <p:cNvSpPr/>
          <p:nvPr/>
        </p:nvSpPr>
        <p:spPr>
          <a:xfrm>
            <a:off x="6611111" y="1606117"/>
            <a:ext cx="219456" cy="0"/>
          </a:xfrm>
          <a:prstGeom prst="line">
            <a:avLst/>
          </a:prstGeom>
          <a:noFill/>
          <a:ln w="15240">
            <a:solidFill>
              <a:srgbClr val="2F704F"/>
            </a:solidFill>
            <a:prstDash val="solid"/>
            <a:tailEnd type="triangle"/>
          </a:ln>
        </p:spPr>
        <p:txBody>
          <a:bodyPr/>
          <a:lstStyle/>
          <a:p>
            <a:endParaRPr lang="en-GB"/>
          </a:p>
        </p:txBody>
      </p:sp>
      <p:sp>
        <p:nvSpPr>
          <p:cNvPr id="16" name="Text 10">
            <a:extLst>
              <a:ext uri="{FF2B5EF4-FFF2-40B4-BE49-F238E27FC236}">
                <a16:creationId xmlns:a16="http://schemas.microsoft.com/office/drawing/2014/main" id="{476D79C6-E996-021D-AC3E-664DB950FE63}"/>
              </a:ext>
            </a:extLst>
          </p:cNvPr>
          <p:cNvSpPr/>
          <p:nvPr/>
        </p:nvSpPr>
        <p:spPr>
          <a:xfrm>
            <a:off x="690371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MACS3</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peaks</a:t>
            </a:r>
            <a:endParaRPr lang="en-US" sz="1200" dirty="0"/>
          </a:p>
        </p:txBody>
      </p:sp>
      <p:sp>
        <p:nvSpPr>
          <p:cNvPr id="17" name="Shape 11">
            <a:extLst>
              <a:ext uri="{FF2B5EF4-FFF2-40B4-BE49-F238E27FC236}">
                <a16:creationId xmlns:a16="http://schemas.microsoft.com/office/drawing/2014/main" id="{617C312D-7ABB-049A-5841-20DE80CEAA9B}"/>
              </a:ext>
            </a:extLst>
          </p:cNvPr>
          <p:cNvSpPr/>
          <p:nvPr/>
        </p:nvSpPr>
        <p:spPr>
          <a:xfrm>
            <a:off x="8257031" y="1606117"/>
            <a:ext cx="219456" cy="0"/>
          </a:xfrm>
          <a:prstGeom prst="line">
            <a:avLst/>
          </a:prstGeom>
          <a:noFill/>
          <a:ln w="15240">
            <a:solidFill>
              <a:srgbClr val="2F704F"/>
            </a:solidFill>
            <a:prstDash val="solid"/>
            <a:tailEnd type="triangle"/>
          </a:ln>
        </p:spPr>
        <p:txBody>
          <a:bodyPr/>
          <a:lstStyle/>
          <a:p>
            <a:endParaRPr lang="en-GB"/>
          </a:p>
        </p:txBody>
      </p:sp>
      <p:sp>
        <p:nvSpPr>
          <p:cNvPr id="18" name="Text 12">
            <a:extLst>
              <a:ext uri="{FF2B5EF4-FFF2-40B4-BE49-F238E27FC236}">
                <a16:creationId xmlns:a16="http://schemas.microsoft.com/office/drawing/2014/main" id="{00204C3C-8274-4048-BC37-67A686BB85DF}"/>
              </a:ext>
            </a:extLst>
          </p:cNvPr>
          <p:cNvSpPr/>
          <p:nvPr/>
        </p:nvSpPr>
        <p:spPr>
          <a:xfrm>
            <a:off x="8549639" y="1286077"/>
            <a:ext cx="1325880" cy="640080"/>
          </a:xfrm>
          <a:prstGeom prst="rect">
            <a:avLst/>
          </a:prstGeom>
          <a:solidFill>
            <a:srgbClr val="FF0000"/>
          </a:solidFill>
          <a:ln w="12700">
            <a:solidFill>
              <a:srgbClr val="2F704F"/>
            </a:solidFill>
          </a:ln>
        </p:spPr>
        <p:txBody>
          <a:bodyPr wrap="square" lIns="762" tIns="762" rIns="762" bIns="762" rtlCol="0" anchor="ctr">
            <a:normAutofit/>
          </a:bodyPr>
          <a:lstStyle/>
          <a:p>
            <a:pPr algn="ctr"/>
            <a:r>
              <a:rPr lang="en-US" sz="1200" dirty="0">
                <a:solidFill>
                  <a:schemeClr val="bg1"/>
                </a:solidFill>
                <a:latin typeface="Gill Sans" pitchFamily="34" charset="0"/>
                <a:ea typeface="Gill Sans" pitchFamily="34" charset="-122"/>
                <a:cs typeface="Gill Sans" pitchFamily="34" charset="-120"/>
              </a:rPr>
              <a:t>Post-peak quality control</a:t>
            </a:r>
            <a:endParaRPr lang="en-US" sz="1200" dirty="0">
              <a:solidFill>
                <a:schemeClr val="bg1"/>
              </a:solidFill>
            </a:endParaRPr>
          </a:p>
        </p:txBody>
      </p:sp>
      <p:pic>
        <p:nvPicPr>
          <p:cNvPr id="21" name="Picture 20">
            <a:extLst>
              <a:ext uri="{FF2B5EF4-FFF2-40B4-BE49-F238E27FC236}">
                <a16:creationId xmlns:a16="http://schemas.microsoft.com/office/drawing/2014/main" id="{DBB19BF3-329B-2D7B-7F4F-2C028828B356}"/>
              </a:ext>
            </a:extLst>
          </p:cNvPr>
          <p:cNvPicPr>
            <a:picLocks noChangeAspect="1"/>
          </p:cNvPicPr>
          <p:nvPr/>
        </p:nvPicPr>
        <p:blipFill>
          <a:blip r:embed="rId2"/>
          <a:stretch>
            <a:fillRect/>
          </a:stretch>
        </p:blipFill>
        <p:spPr>
          <a:xfrm>
            <a:off x="406761" y="2359577"/>
            <a:ext cx="10947039" cy="3212346"/>
          </a:xfrm>
          <a:prstGeom prst="rect">
            <a:avLst/>
          </a:prstGeom>
          <a:ln w="28575">
            <a:solidFill>
              <a:schemeClr val="tx1"/>
            </a:solidFill>
          </a:ln>
        </p:spPr>
      </p:pic>
    </p:spTree>
    <p:extLst>
      <p:ext uri="{BB962C8B-B14F-4D97-AF65-F5344CB8AC3E}">
        <p14:creationId xmlns:p14="http://schemas.microsoft.com/office/powerpoint/2010/main" val="248477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768A0-4B46-9EC2-17C8-532CE5BCA419}"/>
              </a:ext>
            </a:extLst>
          </p:cNvPr>
          <p:cNvSpPr>
            <a:spLocks noGrp="1"/>
          </p:cNvSpPr>
          <p:nvPr>
            <p:ph type="title"/>
          </p:nvPr>
        </p:nvSpPr>
        <p:spPr>
          <a:xfrm>
            <a:off x="134470" y="122282"/>
            <a:ext cx="12192000" cy="658006"/>
          </a:xfrm>
        </p:spPr>
        <p:txBody>
          <a:bodyPr>
            <a:normAutofit fontScale="90000"/>
          </a:bodyPr>
          <a:lstStyle/>
          <a:p>
            <a:r>
              <a:rPr lang="en-IT" b="1" dirty="0"/>
              <a:t>IDR: reproducibility of ranked peak calls</a:t>
            </a:r>
            <a:endParaRPr lang="en-GB" dirty="0"/>
          </a:p>
        </p:txBody>
      </p:sp>
      <p:sp>
        <p:nvSpPr>
          <p:cNvPr id="4" name="Date Placeholder 3">
            <a:extLst>
              <a:ext uri="{FF2B5EF4-FFF2-40B4-BE49-F238E27FC236}">
                <a16:creationId xmlns:a16="http://schemas.microsoft.com/office/drawing/2014/main" id="{ED7D3B1F-927C-D4A7-71C4-0E2B310DF6FC}"/>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6DCE18FB-4F88-49F8-6812-AECFEDB09CF0}"/>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189B7CCB-90F9-9062-63D5-74D7928F0F93}"/>
              </a:ext>
            </a:extLst>
          </p:cNvPr>
          <p:cNvSpPr>
            <a:spLocks noGrp="1"/>
          </p:cNvSpPr>
          <p:nvPr>
            <p:ph type="sldNum" sz="quarter" idx="12"/>
          </p:nvPr>
        </p:nvSpPr>
        <p:spPr/>
        <p:txBody>
          <a:bodyPr/>
          <a:lstStyle/>
          <a:p>
            <a:fld id="{62E92BA6-6E87-3343-8D2C-B7A656D628E4}" type="slidenum">
              <a:rPr lang="en-GB" smtClean="0"/>
              <a:t>9</a:t>
            </a:fld>
            <a:endParaRPr lang="en-GB"/>
          </a:p>
        </p:txBody>
      </p:sp>
      <p:sp>
        <p:nvSpPr>
          <p:cNvPr id="7" name="TextBox 6">
            <a:extLst>
              <a:ext uri="{FF2B5EF4-FFF2-40B4-BE49-F238E27FC236}">
                <a16:creationId xmlns:a16="http://schemas.microsoft.com/office/drawing/2014/main" id="{7B1556F0-58A5-3F99-F84F-70920EB453DA}"/>
              </a:ext>
            </a:extLst>
          </p:cNvPr>
          <p:cNvSpPr txBox="1"/>
          <p:nvPr/>
        </p:nvSpPr>
        <p:spPr>
          <a:xfrm>
            <a:off x="169433" y="865994"/>
            <a:ext cx="7317709" cy="369332"/>
          </a:xfrm>
          <a:prstGeom prst="rect">
            <a:avLst/>
          </a:prstGeom>
          <a:noFill/>
        </p:spPr>
        <p:txBody>
          <a:bodyPr wrap="none" rtlCol="0">
            <a:spAutoFit/>
          </a:bodyPr>
          <a:lstStyle/>
          <a:p>
            <a:r>
              <a:rPr lang="en-IT" dirty="0"/>
              <a:t>Do biological replicates recover a consistent ranked set of enriched regions?</a:t>
            </a:r>
          </a:p>
        </p:txBody>
      </p:sp>
      <p:sp>
        <p:nvSpPr>
          <p:cNvPr id="8" name="TextBox 7">
            <a:extLst>
              <a:ext uri="{FF2B5EF4-FFF2-40B4-BE49-F238E27FC236}">
                <a16:creationId xmlns:a16="http://schemas.microsoft.com/office/drawing/2014/main" id="{B3B486C6-833C-C676-2726-8950918D4AEA}"/>
              </a:ext>
            </a:extLst>
          </p:cNvPr>
          <p:cNvSpPr txBox="1"/>
          <p:nvPr/>
        </p:nvSpPr>
        <p:spPr>
          <a:xfrm>
            <a:off x="169433" y="1487424"/>
            <a:ext cx="7657831" cy="1200329"/>
          </a:xfrm>
          <a:prstGeom prst="rect">
            <a:avLst/>
          </a:prstGeom>
          <a:noFill/>
        </p:spPr>
        <p:txBody>
          <a:bodyPr wrap="square" rtlCol="0">
            <a:spAutoFit/>
          </a:bodyPr>
          <a:lstStyle/>
          <a:p>
            <a:r>
              <a:rPr lang="en-GB" dirty="0"/>
              <a:t>Instead of simply asking if replicated leads to the same set of peaks IDR asks:</a:t>
            </a:r>
          </a:p>
          <a:p>
            <a:endParaRPr lang="en-GB" dirty="0"/>
          </a:p>
          <a:p>
            <a:r>
              <a:rPr lang="en-IT" i="1" dirty="0">
                <a:solidFill>
                  <a:schemeClr val="bg1">
                    <a:lumMod val="50000"/>
                  </a:schemeClr>
                </a:solidFill>
              </a:rPr>
              <a:t>After matching peaks between replicates, are strong peaks strong in both replicates, and where does that rank agreement begin to break down?</a:t>
            </a:r>
            <a:endParaRPr lang="en-GB" i="1" dirty="0">
              <a:solidFill>
                <a:schemeClr val="bg1">
                  <a:lumMod val="50000"/>
                </a:schemeClr>
              </a:solidFill>
            </a:endParaRPr>
          </a:p>
        </p:txBody>
      </p:sp>
      <p:sp>
        <p:nvSpPr>
          <p:cNvPr id="10" name="TextBox 9">
            <a:extLst>
              <a:ext uri="{FF2B5EF4-FFF2-40B4-BE49-F238E27FC236}">
                <a16:creationId xmlns:a16="http://schemas.microsoft.com/office/drawing/2014/main" id="{3265C900-4F3A-AF7B-F333-5E2A0A396703}"/>
              </a:ext>
            </a:extLst>
          </p:cNvPr>
          <p:cNvSpPr txBox="1"/>
          <p:nvPr/>
        </p:nvSpPr>
        <p:spPr>
          <a:xfrm>
            <a:off x="201168" y="2939851"/>
            <a:ext cx="6760464" cy="1754326"/>
          </a:xfrm>
          <a:prstGeom prst="rect">
            <a:avLst/>
          </a:prstGeom>
          <a:noFill/>
        </p:spPr>
        <p:txBody>
          <a:bodyPr wrap="square">
            <a:spAutoFit/>
          </a:bodyPr>
          <a:lstStyle/>
          <a:p>
            <a:pPr indent="0" algn="l">
              <a:buNone/>
            </a:pPr>
            <a:r>
              <a:rPr lang="en-IT" sz="1800" b="0" i="0" dirty="0">
                <a:solidFill>
                  <a:schemeClr val="tx1"/>
                </a:solidFill>
                <a:effectLst/>
                <a:latin typeface="+mn-lt"/>
              </a:rPr>
              <a:t>Conceptually, IDR does four things:</a:t>
            </a:r>
          </a:p>
          <a:p>
            <a:pPr marL="342900" lvl="0" indent="-342900" algn="l">
              <a:buFont typeface="+mj-lt"/>
              <a:buAutoNum type="arabicPeriod"/>
            </a:pPr>
            <a:r>
              <a:rPr lang="en-IT" sz="1800" b="1" i="0" dirty="0">
                <a:solidFill>
                  <a:schemeClr val="tx1"/>
                </a:solidFill>
                <a:effectLst/>
                <a:latin typeface="+mn-lt"/>
              </a:rPr>
              <a:t>matches overlapping peaks</a:t>
            </a:r>
            <a:r>
              <a:rPr lang="en-IT" sz="1800" b="0" i="0" dirty="0">
                <a:solidFill>
                  <a:schemeClr val="tx1"/>
                </a:solidFill>
                <a:effectLst/>
                <a:latin typeface="+mn-lt"/>
              </a:rPr>
              <a:t> between the two replicate lists;</a:t>
            </a:r>
          </a:p>
          <a:p>
            <a:pPr marL="342900" lvl="0" indent="-342900" algn="l">
              <a:buFont typeface="+mj-lt"/>
              <a:buAutoNum type="arabicPeriod"/>
            </a:pPr>
            <a:r>
              <a:rPr lang="en-IT" sz="1800" b="1" i="0" dirty="0">
                <a:solidFill>
                  <a:schemeClr val="tx1"/>
                </a:solidFill>
                <a:effectLst/>
                <a:latin typeface="+mn-lt"/>
              </a:rPr>
              <a:t>ranks the matched peaks</a:t>
            </a:r>
            <a:r>
              <a:rPr lang="en-IT" sz="1800" b="0" i="0" dirty="0">
                <a:solidFill>
                  <a:schemeClr val="tx1"/>
                </a:solidFill>
                <a:effectLst/>
                <a:latin typeface="+mn-lt"/>
              </a:rPr>
              <a:t> using a chosen peak score;</a:t>
            </a:r>
          </a:p>
          <a:p>
            <a:pPr marL="342900" lvl="0" indent="-342900" algn="l">
              <a:buFont typeface="+mj-lt"/>
              <a:buAutoNum type="arabicPeriod"/>
            </a:pPr>
            <a:r>
              <a:rPr lang="en-IT" sz="1800" b="0" i="0" dirty="0">
                <a:solidFill>
                  <a:schemeClr val="tx1"/>
                </a:solidFill>
                <a:effectLst/>
                <a:latin typeface="+mn-lt"/>
              </a:rPr>
              <a:t>fits a two-component model containing a reproducible and an irreproducible component;</a:t>
            </a:r>
          </a:p>
          <a:p>
            <a:pPr marL="342900" lvl="0" indent="-342900" algn="l">
              <a:buFont typeface="+mj-lt"/>
              <a:buAutoNum type="arabicPeriod"/>
            </a:pPr>
            <a:r>
              <a:rPr lang="en-IT" sz="1800" b="0" i="0" dirty="0">
                <a:solidFill>
                  <a:schemeClr val="tx1"/>
                </a:solidFill>
                <a:effectLst/>
                <a:latin typeface="+mn-lt"/>
              </a:rPr>
              <a:t>assigns local and global measures of irreproducibility.</a:t>
            </a:r>
            <a:endParaRPr lang="en-IT" sz="1275" b="0" i="0" dirty="0">
              <a:solidFill>
                <a:srgbClr val="343A40"/>
              </a:solidFill>
              <a:effectLst/>
              <a:latin typeface="Source Sans Pro" panose="020B0503030403020204" pitchFamily="34" charset="0"/>
            </a:endParaRPr>
          </a:p>
        </p:txBody>
      </p:sp>
      <p:sp>
        <p:nvSpPr>
          <p:cNvPr id="13" name="TextBox 12">
            <a:extLst>
              <a:ext uri="{FF2B5EF4-FFF2-40B4-BE49-F238E27FC236}">
                <a16:creationId xmlns:a16="http://schemas.microsoft.com/office/drawing/2014/main" id="{66ACF477-1133-01AB-EC6D-FB82C4CC6B1F}"/>
              </a:ext>
            </a:extLst>
          </p:cNvPr>
          <p:cNvSpPr txBox="1"/>
          <p:nvPr/>
        </p:nvSpPr>
        <p:spPr>
          <a:xfrm>
            <a:off x="838200" y="5155931"/>
            <a:ext cx="10872216" cy="369332"/>
          </a:xfrm>
          <a:prstGeom prst="rect">
            <a:avLst/>
          </a:prstGeom>
          <a:noFill/>
        </p:spPr>
        <p:txBody>
          <a:bodyPr wrap="square">
            <a:spAutoFit/>
          </a:bodyPr>
          <a:lstStyle/>
          <a:p>
            <a:pPr algn="ctr"/>
            <a:r>
              <a:rPr lang="en-IT" sz="1800" b="0" i="0" dirty="0">
                <a:solidFill>
                  <a:schemeClr val="tx1"/>
                </a:solidFill>
                <a:effectLst/>
                <a:latin typeface="+mn-lt"/>
              </a:rPr>
              <a:t>local IDR ~ probability that one matched peak pair belongs to the irreproducible component</a:t>
            </a:r>
            <a:endParaRPr lang="en-GB" dirty="0"/>
          </a:p>
        </p:txBody>
      </p:sp>
      <p:pic>
        <p:nvPicPr>
          <p:cNvPr id="14" name="Picture 13" descr="Handling replicates with IDR | Introduction to ChIP-Seq using  high-performance computing">
            <a:extLst>
              <a:ext uri="{FF2B5EF4-FFF2-40B4-BE49-F238E27FC236}">
                <a16:creationId xmlns:a16="http://schemas.microsoft.com/office/drawing/2014/main" id="{75A62969-CD83-EDC2-3504-9FDDDEC5A10D}"/>
              </a:ext>
            </a:extLst>
          </p:cNvPr>
          <p:cNvPicPr>
            <a:picLocks noChangeAspect="1"/>
          </p:cNvPicPr>
          <p:nvPr/>
        </p:nvPicPr>
        <p:blipFill>
          <a:blip r:embed="rId2"/>
          <a:srcRect l="6862" t="4794" r="6273" b="5716"/>
          <a:stretch>
            <a:fillRect/>
          </a:stretch>
        </p:blipFill>
        <p:spPr>
          <a:xfrm>
            <a:off x="7563342" y="1701581"/>
            <a:ext cx="4583376" cy="3223473"/>
          </a:xfrm>
          <a:prstGeom prst="rect">
            <a:avLst/>
          </a:prstGeom>
        </p:spPr>
      </p:pic>
    </p:spTree>
    <p:extLst>
      <p:ext uri="{BB962C8B-B14F-4D97-AF65-F5344CB8AC3E}">
        <p14:creationId xmlns:p14="http://schemas.microsoft.com/office/powerpoint/2010/main" val="104908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8C9A6A-A23A-9F91-6FEC-36B4383500D0}"/>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4309EEFD-4152-87F1-1E5A-A0AA9AAA7853}"/>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A06238A2-E0BE-383B-440E-6B14A6424013}"/>
              </a:ext>
            </a:extLst>
          </p:cNvPr>
          <p:cNvSpPr>
            <a:spLocks noGrp="1"/>
          </p:cNvSpPr>
          <p:nvPr>
            <p:ph type="sldNum" sz="quarter" idx="12"/>
          </p:nvPr>
        </p:nvSpPr>
        <p:spPr/>
        <p:txBody>
          <a:bodyPr/>
          <a:lstStyle/>
          <a:p>
            <a:fld id="{62E92BA6-6E87-3343-8D2C-B7A656D628E4}" type="slidenum">
              <a:rPr lang="en-GB" smtClean="0"/>
              <a:t>10</a:t>
            </a:fld>
            <a:endParaRPr lang="en-GB"/>
          </a:p>
        </p:txBody>
      </p:sp>
      <p:sp>
        <p:nvSpPr>
          <p:cNvPr id="8" name="TextBox 7">
            <a:extLst>
              <a:ext uri="{FF2B5EF4-FFF2-40B4-BE49-F238E27FC236}">
                <a16:creationId xmlns:a16="http://schemas.microsoft.com/office/drawing/2014/main" id="{75E67B5B-7E0B-731B-4AE9-4233071D5881}"/>
              </a:ext>
            </a:extLst>
          </p:cNvPr>
          <p:cNvSpPr txBox="1"/>
          <p:nvPr/>
        </p:nvSpPr>
        <p:spPr>
          <a:xfrm>
            <a:off x="0" y="0"/>
            <a:ext cx="12192000" cy="584775"/>
          </a:xfrm>
          <a:prstGeom prst="rect">
            <a:avLst/>
          </a:prstGeom>
          <a:noFill/>
        </p:spPr>
        <p:txBody>
          <a:bodyPr wrap="square">
            <a:spAutoFit/>
          </a:bodyPr>
          <a:lstStyle/>
          <a:p>
            <a:pPr indent="0" algn="l">
              <a:buNone/>
            </a:pPr>
            <a:r>
              <a:rPr lang="en-IT" sz="3200" b="1" i="0" dirty="0">
                <a:solidFill>
                  <a:schemeClr val="tx1"/>
                </a:solidFill>
                <a:effectLst/>
                <a:latin typeface="+mn-lt"/>
              </a:rPr>
              <a:t>Replicate signal correlation with deepTools</a:t>
            </a:r>
            <a:endParaRPr lang="en-IT" sz="3200" b="1" i="0" dirty="0">
              <a:solidFill>
                <a:srgbClr val="343A40"/>
              </a:solidFill>
              <a:effectLst/>
              <a:latin typeface="Source Sans Pro" panose="020B0503030403020204" pitchFamily="34" charset="0"/>
            </a:endParaRPr>
          </a:p>
        </p:txBody>
      </p:sp>
      <p:sp>
        <p:nvSpPr>
          <p:cNvPr id="10" name="TextBox 9">
            <a:extLst>
              <a:ext uri="{FF2B5EF4-FFF2-40B4-BE49-F238E27FC236}">
                <a16:creationId xmlns:a16="http://schemas.microsoft.com/office/drawing/2014/main" id="{DD69B2E9-94F3-893A-75B6-BCEA95B432A2}"/>
              </a:ext>
            </a:extLst>
          </p:cNvPr>
          <p:cNvSpPr txBox="1"/>
          <p:nvPr/>
        </p:nvSpPr>
        <p:spPr>
          <a:xfrm>
            <a:off x="128016" y="584775"/>
            <a:ext cx="11935968" cy="923330"/>
          </a:xfrm>
          <a:prstGeom prst="rect">
            <a:avLst/>
          </a:prstGeom>
          <a:noFill/>
        </p:spPr>
        <p:txBody>
          <a:bodyPr wrap="square">
            <a:spAutoFit/>
          </a:bodyPr>
          <a:lstStyle/>
          <a:p>
            <a:r>
              <a:rPr lang="en-IT" sz="1800" b="0" i="0" dirty="0">
                <a:solidFill>
                  <a:schemeClr val="tx1"/>
                </a:solidFill>
                <a:effectLst/>
                <a:latin typeface="+mn-lt"/>
              </a:rPr>
              <a:t>IDR compares </a:t>
            </a:r>
            <a:r>
              <a:rPr lang="en-IT" sz="1800" b="1" i="0" dirty="0">
                <a:solidFill>
                  <a:schemeClr val="tx1"/>
                </a:solidFill>
                <a:effectLst/>
                <a:latin typeface="+mn-lt"/>
              </a:rPr>
              <a:t>peak lists</a:t>
            </a:r>
            <a:r>
              <a:rPr lang="en-IT" sz="1800" b="0" i="0" dirty="0">
                <a:solidFill>
                  <a:schemeClr val="tx1"/>
                </a:solidFill>
                <a:effectLst/>
                <a:latin typeface="+mn-lt"/>
              </a:rPr>
              <a:t>. We also want a peak-independent view of whether biological replicates have similar ChIP-seq signal across the genome. A standard approach is to summarize each BAM over the same genomic bins and correlate the resulting vectors.</a:t>
            </a:r>
            <a:endParaRPr lang="en-GB" dirty="0"/>
          </a:p>
        </p:txBody>
      </p:sp>
      <p:sp>
        <p:nvSpPr>
          <p:cNvPr id="12" name="TextBox 11">
            <a:extLst>
              <a:ext uri="{FF2B5EF4-FFF2-40B4-BE49-F238E27FC236}">
                <a16:creationId xmlns:a16="http://schemas.microsoft.com/office/drawing/2014/main" id="{0270FABC-B614-EB56-6BC1-5A127E2B9A17}"/>
              </a:ext>
            </a:extLst>
          </p:cNvPr>
          <p:cNvSpPr txBox="1"/>
          <p:nvPr/>
        </p:nvSpPr>
        <p:spPr>
          <a:xfrm>
            <a:off x="8157972" y="1674674"/>
            <a:ext cx="3785362" cy="1754326"/>
          </a:xfrm>
          <a:prstGeom prst="rect">
            <a:avLst/>
          </a:prstGeom>
          <a:noFill/>
        </p:spPr>
        <p:txBody>
          <a:bodyPr wrap="square">
            <a:spAutoFit/>
          </a:bodyPr>
          <a:lstStyle/>
          <a:p>
            <a:r>
              <a:rPr lang="en-IT" sz="1800" b="0" i="0" dirty="0">
                <a:solidFill>
                  <a:srgbClr val="FF0000"/>
                </a:solidFill>
                <a:effectLst/>
                <a:latin typeface="+mn-lt"/>
              </a:rPr>
              <a:t>multiBamSummary</a:t>
            </a:r>
            <a:r>
              <a:rPr lang="en-IT" sz="1800" b="0" i="0" dirty="0">
                <a:solidFill>
                  <a:schemeClr val="tx1"/>
                </a:solidFill>
                <a:effectLst/>
                <a:latin typeface="+mn-lt"/>
              </a:rPr>
              <a:t> computes the read coverages for genomic regions for typically two or more BAM files. The analysis can be performed for the entire genome by running the program in ‘bins’ mode. </a:t>
            </a:r>
            <a:endParaRPr lang="en-GB" dirty="0"/>
          </a:p>
        </p:txBody>
      </p:sp>
      <p:pic>
        <p:nvPicPr>
          <p:cNvPr id="14" name="Picture 13">
            <a:extLst>
              <a:ext uri="{FF2B5EF4-FFF2-40B4-BE49-F238E27FC236}">
                <a16:creationId xmlns:a16="http://schemas.microsoft.com/office/drawing/2014/main" id="{3B581E50-557D-AF15-F51C-80141D8F34DE}"/>
              </a:ext>
            </a:extLst>
          </p:cNvPr>
          <p:cNvPicPr>
            <a:picLocks noChangeAspect="1"/>
          </p:cNvPicPr>
          <p:nvPr/>
        </p:nvPicPr>
        <p:blipFill>
          <a:blip r:embed="rId2"/>
          <a:stretch>
            <a:fillRect/>
          </a:stretch>
        </p:blipFill>
        <p:spPr>
          <a:xfrm>
            <a:off x="248666" y="1742948"/>
            <a:ext cx="7772400" cy="4266779"/>
          </a:xfrm>
          <a:prstGeom prst="rect">
            <a:avLst/>
          </a:prstGeom>
        </p:spPr>
      </p:pic>
      <p:sp>
        <p:nvSpPr>
          <p:cNvPr id="16" name="TextBox 15">
            <a:extLst>
              <a:ext uri="{FF2B5EF4-FFF2-40B4-BE49-F238E27FC236}">
                <a16:creationId xmlns:a16="http://schemas.microsoft.com/office/drawing/2014/main" id="{B38ADF76-BA62-DADF-6B8A-0A781AD0852F}"/>
              </a:ext>
            </a:extLst>
          </p:cNvPr>
          <p:cNvSpPr txBox="1"/>
          <p:nvPr/>
        </p:nvSpPr>
        <p:spPr>
          <a:xfrm>
            <a:off x="8153400" y="3775623"/>
            <a:ext cx="3789934" cy="2031325"/>
          </a:xfrm>
          <a:prstGeom prst="rect">
            <a:avLst/>
          </a:prstGeom>
          <a:noFill/>
        </p:spPr>
        <p:txBody>
          <a:bodyPr wrap="square">
            <a:spAutoFit/>
          </a:bodyPr>
          <a:lstStyle/>
          <a:p>
            <a:r>
              <a:rPr lang="en-IT" dirty="0">
                <a:solidFill>
                  <a:srgbClr val="FF0000"/>
                </a:solidFill>
              </a:rPr>
              <a:t>plotCorrelation</a:t>
            </a:r>
            <a:r>
              <a:rPr lang="en-IT" b="1" dirty="0"/>
              <a:t> </a:t>
            </a:r>
            <a:r>
              <a:rPr lang="en-IT" sz="1800" b="0" i="0" dirty="0">
                <a:solidFill>
                  <a:schemeClr val="tx1"/>
                </a:solidFill>
                <a:effectLst/>
                <a:latin typeface="+mn-lt"/>
              </a:rPr>
              <a:t>Tool for the analysis and visualization of sample correlations based on the output of multiBamSummary or multiBigwigSummary. Pearson or Spearman methods are available to compute correlation coefficients.</a:t>
            </a:r>
            <a:endParaRPr lang="en-GB" dirty="0"/>
          </a:p>
        </p:txBody>
      </p:sp>
    </p:spTree>
    <p:extLst>
      <p:ext uri="{BB962C8B-B14F-4D97-AF65-F5344CB8AC3E}">
        <p14:creationId xmlns:p14="http://schemas.microsoft.com/office/powerpoint/2010/main" val="3276627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DDDEC7C-6805-9A8C-B128-F5615EA7557A}"/>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784E2017-ED07-AB0E-E082-95626C1EEF4A}"/>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59624283-9EB3-764D-F8A3-283A208C65AC}"/>
              </a:ext>
            </a:extLst>
          </p:cNvPr>
          <p:cNvSpPr>
            <a:spLocks noGrp="1"/>
          </p:cNvSpPr>
          <p:nvPr>
            <p:ph type="sldNum" sz="quarter" idx="12"/>
          </p:nvPr>
        </p:nvSpPr>
        <p:spPr/>
        <p:txBody>
          <a:bodyPr/>
          <a:lstStyle/>
          <a:p>
            <a:fld id="{62E92BA6-6E87-3343-8D2C-B7A656D628E4}" type="slidenum">
              <a:rPr lang="en-GB" smtClean="0"/>
              <a:t>11</a:t>
            </a:fld>
            <a:endParaRPr lang="en-GB"/>
          </a:p>
        </p:txBody>
      </p:sp>
      <p:sp>
        <p:nvSpPr>
          <p:cNvPr id="8" name="TextBox 7">
            <a:extLst>
              <a:ext uri="{FF2B5EF4-FFF2-40B4-BE49-F238E27FC236}">
                <a16:creationId xmlns:a16="http://schemas.microsoft.com/office/drawing/2014/main" id="{85878736-289A-DC01-EBE2-F8D3A90950D7}"/>
              </a:ext>
            </a:extLst>
          </p:cNvPr>
          <p:cNvSpPr txBox="1"/>
          <p:nvPr/>
        </p:nvSpPr>
        <p:spPr>
          <a:xfrm>
            <a:off x="0" y="0"/>
            <a:ext cx="12192000" cy="584775"/>
          </a:xfrm>
          <a:prstGeom prst="rect">
            <a:avLst/>
          </a:prstGeom>
          <a:noFill/>
        </p:spPr>
        <p:txBody>
          <a:bodyPr wrap="square">
            <a:spAutoFit/>
          </a:bodyPr>
          <a:lstStyle/>
          <a:p>
            <a:pPr indent="0" algn="l">
              <a:buNone/>
            </a:pPr>
            <a:r>
              <a:rPr lang="en-IT" sz="3200" b="1" i="0" dirty="0">
                <a:solidFill>
                  <a:schemeClr val="tx1"/>
                </a:solidFill>
                <a:effectLst/>
                <a:latin typeface="+mn-lt"/>
              </a:rPr>
              <a:t>FRiP: fraction of usable fragments in called peaks</a:t>
            </a:r>
            <a:endParaRPr lang="en-IT" sz="3200" b="1" i="0" dirty="0">
              <a:solidFill>
                <a:srgbClr val="343A40"/>
              </a:solidFill>
              <a:effectLst/>
              <a:latin typeface="Source Sans Pro" panose="020B0503030403020204" pitchFamily="34" charset="0"/>
            </a:endParaRPr>
          </a:p>
        </p:txBody>
      </p:sp>
      <p:sp>
        <p:nvSpPr>
          <p:cNvPr id="10" name="TextBox 9">
            <a:extLst>
              <a:ext uri="{FF2B5EF4-FFF2-40B4-BE49-F238E27FC236}">
                <a16:creationId xmlns:a16="http://schemas.microsoft.com/office/drawing/2014/main" id="{15D1783E-CB0C-038E-4F0F-4125D65E84FF}"/>
              </a:ext>
            </a:extLst>
          </p:cNvPr>
          <p:cNvSpPr txBox="1"/>
          <p:nvPr/>
        </p:nvSpPr>
        <p:spPr>
          <a:xfrm>
            <a:off x="97536" y="897110"/>
            <a:ext cx="8610600" cy="369332"/>
          </a:xfrm>
          <a:prstGeom prst="rect">
            <a:avLst/>
          </a:prstGeom>
          <a:noFill/>
        </p:spPr>
        <p:txBody>
          <a:bodyPr wrap="square">
            <a:spAutoFit/>
          </a:bodyPr>
          <a:lstStyle/>
          <a:p>
            <a:r>
              <a:rPr lang="en-IT" sz="1800" b="0" i="0" dirty="0">
                <a:solidFill>
                  <a:schemeClr val="tx1"/>
                </a:solidFill>
                <a:effectLst/>
                <a:latin typeface="+mn-lt"/>
              </a:rPr>
              <a:t>The </a:t>
            </a:r>
            <a:r>
              <a:rPr lang="en-IT" sz="1800" b="1" i="0" dirty="0">
                <a:solidFill>
                  <a:schemeClr val="tx1"/>
                </a:solidFill>
                <a:effectLst/>
                <a:latin typeface="+mn-lt"/>
              </a:rPr>
              <a:t>fraction of reads in peaks (FRiP)</a:t>
            </a:r>
            <a:r>
              <a:rPr lang="en-IT" sz="1800" b="0" i="0" dirty="0">
                <a:solidFill>
                  <a:schemeClr val="tx1"/>
                </a:solidFill>
                <a:effectLst/>
                <a:latin typeface="+mn-lt"/>
              </a:rPr>
              <a:t> is a simple ChIP-seq signal-to-noise metric:</a:t>
            </a:r>
            <a:endParaRPr lang="en-GB" dirty="0"/>
          </a:p>
        </p:txBody>
      </p:sp>
      <p:sp>
        <p:nvSpPr>
          <p:cNvPr id="14" name="TextBox 13">
            <a:extLst>
              <a:ext uri="{FF2B5EF4-FFF2-40B4-BE49-F238E27FC236}">
                <a16:creationId xmlns:a16="http://schemas.microsoft.com/office/drawing/2014/main" id="{B3FE225F-F9E2-9C1E-52B9-E0EDF95EFF82}"/>
              </a:ext>
            </a:extLst>
          </p:cNvPr>
          <p:cNvSpPr txBox="1"/>
          <p:nvPr/>
        </p:nvSpPr>
        <p:spPr>
          <a:xfrm>
            <a:off x="8263128" y="3054023"/>
            <a:ext cx="3928872" cy="2308324"/>
          </a:xfrm>
          <a:prstGeom prst="rect">
            <a:avLst/>
          </a:prstGeom>
          <a:noFill/>
        </p:spPr>
        <p:txBody>
          <a:bodyPr wrap="square">
            <a:spAutoFit/>
          </a:bodyPr>
          <a:lstStyle/>
          <a:p>
            <a:r>
              <a:rPr lang="en-IT" dirty="0">
                <a:solidFill>
                  <a:srgbClr val="FF0000"/>
                </a:solidFill>
              </a:rPr>
              <a:t>plotEnrichment</a:t>
            </a:r>
            <a:r>
              <a:rPr lang="en-IT" b="1" dirty="0"/>
              <a:t> </a:t>
            </a:r>
            <a:r>
              <a:rPr lang="en-IT" sz="1800" b="0" i="0" dirty="0">
                <a:solidFill>
                  <a:schemeClr val="tx1"/>
                </a:solidFill>
                <a:effectLst/>
                <a:latin typeface="+mn-lt"/>
              </a:rPr>
              <a:t>Tool for calculating and plotting the signal enrichment in either regions in BED format or feature types (column 3) in GTF format. The underlying datapoints can also be output. Metrics are plotted as a fraction of total reads. Regions in a BED file are assigned to the ‘peak’ feature.</a:t>
            </a:r>
            <a:endParaRPr lang="en-GB" dirty="0"/>
          </a:p>
        </p:txBody>
      </p:sp>
      <p:pic>
        <p:nvPicPr>
          <p:cNvPr id="15" name="Picture 14">
            <a:extLst>
              <a:ext uri="{FF2B5EF4-FFF2-40B4-BE49-F238E27FC236}">
                <a16:creationId xmlns:a16="http://schemas.microsoft.com/office/drawing/2014/main" id="{C3202CB6-ED20-86D2-5749-7CD54526FB1F}"/>
              </a:ext>
            </a:extLst>
          </p:cNvPr>
          <p:cNvPicPr>
            <a:picLocks noChangeAspect="1"/>
          </p:cNvPicPr>
          <p:nvPr/>
        </p:nvPicPr>
        <p:blipFill>
          <a:blip r:embed="rId2"/>
          <a:stretch>
            <a:fillRect/>
          </a:stretch>
        </p:blipFill>
        <p:spPr>
          <a:xfrm>
            <a:off x="248666" y="1742948"/>
            <a:ext cx="7772400" cy="4266779"/>
          </a:xfrm>
          <a:prstGeom prst="rect">
            <a:avLst/>
          </a:prstGeom>
        </p:spPr>
      </p:pic>
    </p:spTree>
    <p:extLst>
      <p:ext uri="{BB962C8B-B14F-4D97-AF65-F5344CB8AC3E}">
        <p14:creationId xmlns:p14="http://schemas.microsoft.com/office/powerpoint/2010/main" val="1742842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D365B6-EC9B-F9C3-2CAE-55470FDAF71B}"/>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2B70D40B-84CF-869B-A3FE-6E0BA390F6D2}"/>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0E39FFD8-4437-F5B1-2F84-EAA232A024D4}"/>
              </a:ext>
            </a:extLst>
          </p:cNvPr>
          <p:cNvSpPr>
            <a:spLocks noGrp="1"/>
          </p:cNvSpPr>
          <p:nvPr>
            <p:ph type="sldNum" sz="quarter" idx="12"/>
          </p:nvPr>
        </p:nvSpPr>
        <p:spPr/>
        <p:txBody>
          <a:bodyPr/>
          <a:lstStyle/>
          <a:p>
            <a:fld id="{62E92BA6-6E87-3343-8D2C-B7A656D628E4}" type="slidenum">
              <a:rPr lang="en-GB" smtClean="0"/>
              <a:t>12</a:t>
            </a:fld>
            <a:endParaRPr lang="en-GB"/>
          </a:p>
        </p:txBody>
      </p:sp>
    </p:spTree>
    <p:extLst>
      <p:ext uri="{BB962C8B-B14F-4D97-AF65-F5344CB8AC3E}">
        <p14:creationId xmlns:p14="http://schemas.microsoft.com/office/powerpoint/2010/main" val="505494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ECEF38-E210-BCD9-2DB4-F2F602D2E9AA}"/>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5C218266-9DBC-7B02-24AF-77B944C90FD2}"/>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14EC014C-56DE-B223-8003-D0FEE427F9A7}"/>
              </a:ext>
            </a:extLst>
          </p:cNvPr>
          <p:cNvSpPr>
            <a:spLocks noGrp="1"/>
          </p:cNvSpPr>
          <p:nvPr>
            <p:ph type="sldNum" sz="quarter" idx="12"/>
          </p:nvPr>
        </p:nvSpPr>
        <p:spPr/>
        <p:txBody>
          <a:bodyPr/>
          <a:lstStyle/>
          <a:p>
            <a:fld id="{62E92BA6-6E87-3343-8D2C-B7A656D628E4}" type="slidenum">
              <a:rPr lang="en-GB" smtClean="0"/>
              <a:t>13</a:t>
            </a:fld>
            <a:endParaRPr lang="en-GB"/>
          </a:p>
        </p:txBody>
      </p:sp>
      <p:grpSp>
        <p:nvGrpSpPr>
          <p:cNvPr id="9" name="Group 8">
            <a:extLst>
              <a:ext uri="{FF2B5EF4-FFF2-40B4-BE49-F238E27FC236}">
                <a16:creationId xmlns:a16="http://schemas.microsoft.com/office/drawing/2014/main" id="{30C52FF5-0CDD-0114-E803-CD59C23B707C}"/>
              </a:ext>
            </a:extLst>
          </p:cNvPr>
          <p:cNvGrpSpPr/>
          <p:nvPr/>
        </p:nvGrpSpPr>
        <p:grpSpPr>
          <a:xfrm>
            <a:off x="669737" y="2392646"/>
            <a:ext cx="5884283" cy="3817254"/>
            <a:chOff x="4282351" y="548640"/>
            <a:chExt cx="7535126" cy="4888189"/>
          </a:xfrm>
        </p:grpSpPr>
        <p:pic>
          <p:nvPicPr>
            <p:cNvPr id="7" name="Picture 6" descr="strategy">
              <a:extLst>
                <a:ext uri="{FF2B5EF4-FFF2-40B4-BE49-F238E27FC236}">
                  <a16:creationId xmlns:a16="http://schemas.microsoft.com/office/drawing/2014/main" id="{8D30E8BB-1ED9-5663-6262-CDD3BE702129}"/>
                </a:ext>
              </a:extLst>
            </p:cNvPr>
            <p:cNvPicPr>
              <a:picLocks noChangeAspect="1"/>
            </p:cNvPicPr>
            <p:nvPr/>
          </p:nvPicPr>
          <p:blipFill>
            <a:blip r:embed="rId2"/>
            <a:stretch>
              <a:fillRect/>
            </a:stretch>
          </p:blipFill>
          <p:spPr>
            <a:xfrm>
              <a:off x="4282351" y="548640"/>
              <a:ext cx="7535126" cy="4888189"/>
            </a:xfrm>
            <a:prstGeom prst="rect">
              <a:avLst/>
            </a:prstGeom>
            <a:ln>
              <a:solidFill>
                <a:schemeClr val="tx1"/>
              </a:solidFill>
            </a:ln>
          </p:spPr>
        </p:pic>
        <p:sp>
          <p:nvSpPr>
            <p:cNvPr id="8" name="Rectangle 7">
              <a:extLst>
                <a:ext uri="{FF2B5EF4-FFF2-40B4-BE49-F238E27FC236}">
                  <a16:creationId xmlns:a16="http://schemas.microsoft.com/office/drawing/2014/main" id="{4E6038A0-83BD-135B-E298-ADA042A96379}"/>
                </a:ext>
              </a:extLst>
            </p:cNvPr>
            <p:cNvSpPr/>
            <p:nvPr/>
          </p:nvSpPr>
          <p:spPr>
            <a:xfrm>
              <a:off x="4584192" y="4364736"/>
              <a:ext cx="7233285" cy="5730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Text 2">
            <a:extLst>
              <a:ext uri="{FF2B5EF4-FFF2-40B4-BE49-F238E27FC236}">
                <a16:creationId xmlns:a16="http://schemas.microsoft.com/office/drawing/2014/main" id="{167935E6-1D9B-1768-0197-8049B9BD5263}"/>
              </a:ext>
            </a:extLst>
          </p:cNvPr>
          <p:cNvSpPr/>
          <p:nvPr/>
        </p:nvSpPr>
        <p:spPr>
          <a:xfrm>
            <a:off x="320039" y="1286077"/>
            <a:ext cx="1325880" cy="640080"/>
          </a:xfrm>
          <a:prstGeom prst="rect">
            <a:avLst/>
          </a:prstGeom>
          <a:solidFill>
            <a:srgbClr val="F6F6F6"/>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FASTQ</a:t>
            </a:r>
            <a:endParaRPr lang="en-US" sz="1200" dirty="0"/>
          </a:p>
        </p:txBody>
      </p:sp>
      <p:sp>
        <p:nvSpPr>
          <p:cNvPr id="11" name="Shape 3">
            <a:extLst>
              <a:ext uri="{FF2B5EF4-FFF2-40B4-BE49-F238E27FC236}">
                <a16:creationId xmlns:a16="http://schemas.microsoft.com/office/drawing/2014/main" id="{A22BC824-A9B3-13B4-D8F4-1172ADDCF38E}"/>
              </a:ext>
            </a:extLst>
          </p:cNvPr>
          <p:cNvSpPr/>
          <p:nvPr/>
        </p:nvSpPr>
        <p:spPr>
          <a:xfrm>
            <a:off x="1673351" y="1606117"/>
            <a:ext cx="219456" cy="0"/>
          </a:xfrm>
          <a:prstGeom prst="line">
            <a:avLst/>
          </a:prstGeom>
          <a:noFill/>
          <a:ln w="15240">
            <a:solidFill>
              <a:srgbClr val="2F704F"/>
            </a:solidFill>
            <a:prstDash val="solid"/>
            <a:tailEnd type="triangle"/>
          </a:ln>
        </p:spPr>
        <p:txBody>
          <a:bodyPr/>
          <a:lstStyle/>
          <a:p>
            <a:endParaRPr lang="en-GB"/>
          </a:p>
        </p:txBody>
      </p:sp>
      <p:sp>
        <p:nvSpPr>
          <p:cNvPr id="12" name="Text 4">
            <a:extLst>
              <a:ext uri="{FF2B5EF4-FFF2-40B4-BE49-F238E27FC236}">
                <a16:creationId xmlns:a16="http://schemas.microsoft.com/office/drawing/2014/main" id="{EC7458FF-E790-52F2-CE25-914CD8A0AD8E}"/>
              </a:ext>
            </a:extLst>
          </p:cNvPr>
          <p:cNvSpPr/>
          <p:nvPr/>
        </p:nvSpPr>
        <p:spPr>
          <a:xfrm>
            <a:off x="196595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Bowtie2</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BAM</a:t>
            </a:r>
            <a:endParaRPr lang="en-US" sz="1200" dirty="0"/>
          </a:p>
        </p:txBody>
      </p:sp>
      <p:sp>
        <p:nvSpPr>
          <p:cNvPr id="13" name="Shape 5">
            <a:extLst>
              <a:ext uri="{FF2B5EF4-FFF2-40B4-BE49-F238E27FC236}">
                <a16:creationId xmlns:a16="http://schemas.microsoft.com/office/drawing/2014/main" id="{73047185-24C2-5679-C1D1-CB9FE1D1FE1B}"/>
              </a:ext>
            </a:extLst>
          </p:cNvPr>
          <p:cNvSpPr/>
          <p:nvPr/>
        </p:nvSpPr>
        <p:spPr>
          <a:xfrm>
            <a:off x="3319271" y="1606117"/>
            <a:ext cx="219456" cy="0"/>
          </a:xfrm>
          <a:prstGeom prst="line">
            <a:avLst/>
          </a:prstGeom>
          <a:noFill/>
          <a:ln w="15240">
            <a:solidFill>
              <a:srgbClr val="2F704F"/>
            </a:solidFill>
            <a:prstDash val="solid"/>
            <a:tailEnd type="triangle"/>
          </a:ln>
        </p:spPr>
        <p:txBody>
          <a:bodyPr/>
          <a:lstStyle/>
          <a:p>
            <a:endParaRPr lang="en-GB"/>
          </a:p>
        </p:txBody>
      </p:sp>
      <p:sp>
        <p:nvSpPr>
          <p:cNvPr id="14" name="Text 6">
            <a:extLst>
              <a:ext uri="{FF2B5EF4-FFF2-40B4-BE49-F238E27FC236}">
                <a16:creationId xmlns:a16="http://schemas.microsoft.com/office/drawing/2014/main" id="{13C404A2-317E-039F-A8D5-EE87D1946E1E}"/>
              </a:ext>
            </a:extLst>
          </p:cNvPr>
          <p:cNvSpPr/>
          <p:nvPr/>
        </p:nvSpPr>
        <p:spPr>
          <a:xfrm>
            <a:off x="361187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ChIP QC</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phantom peak</a:t>
            </a:r>
            <a:endParaRPr lang="en-US" sz="1200" dirty="0"/>
          </a:p>
        </p:txBody>
      </p:sp>
      <p:sp>
        <p:nvSpPr>
          <p:cNvPr id="15" name="Shape 7">
            <a:extLst>
              <a:ext uri="{FF2B5EF4-FFF2-40B4-BE49-F238E27FC236}">
                <a16:creationId xmlns:a16="http://schemas.microsoft.com/office/drawing/2014/main" id="{3D3608DF-D80F-8DDE-3BE2-7817D4DF0BEC}"/>
              </a:ext>
            </a:extLst>
          </p:cNvPr>
          <p:cNvSpPr/>
          <p:nvPr/>
        </p:nvSpPr>
        <p:spPr>
          <a:xfrm>
            <a:off x="4965191" y="1606117"/>
            <a:ext cx="219456" cy="0"/>
          </a:xfrm>
          <a:prstGeom prst="line">
            <a:avLst/>
          </a:prstGeom>
          <a:noFill/>
          <a:ln w="15240">
            <a:solidFill>
              <a:srgbClr val="2F704F"/>
            </a:solidFill>
            <a:prstDash val="solid"/>
            <a:tailEnd type="triangle"/>
          </a:ln>
        </p:spPr>
        <p:txBody>
          <a:bodyPr/>
          <a:lstStyle/>
          <a:p>
            <a:endParaRPr lang="en-GB"/>
          </a:p>
        </p:txBody>
      </p:sp>
      <p:sp>
        <p:nvSpPr>
          <p:cNvPr id="16" name="Text 8">
            <a:extLst>
              <a:ext uri="{FF2B5EF4-FFF2-40B4-BE49-F238E27FC236}">
                <a16:creationId xmlns:a16="http://schemas.microsoft.com/office/drawing/2014/main" id="{94CBA71B-6C45-43C6-9007-13220663F4FE}"/>
              </a:ext>
            </a:extLst>
          </p:cNvPr>
          <p:cNvSpPr/>
          <p:nvPr/>
        </p:nvSpPr>
        <p:spPr>
          <a:xfrm>
            <a:off x="525779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bigWig</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tracks</a:t>
            </a:r>
            <a:endParaRPr lang="en-US" sz="1200" dirty="0"/>
          </a:p>
        </p:txBody>
      </p:sp>
      <p:sp>
        <p:nvSpPr>
          <p:cNvPr id="17" name="Shape 9">
            <a:extLst>
              <a:ext uri="{FF2B5EF4-FFF2-40B4-BE49-F238E27FC236}">
                <a16:creationId xmlns:a16="http://schemas.microsoft.com/office/drawing/2014/main" id="{B0746276-507D-D2D3-9EC2-D83B099CB07B}"/>
              </a:ext>
            </a:extLst>
          </p:cNvPr>
          <p:cNvSpPr/>
          <p:nvPr/>
        </p:nvSpPr>
        <p:spPr>
          <a:xfrm>
            <a:off x="6611111" y="1606117"/>
            <a:ext cx="219456" cy="0"/>
          </a:xfrm>
          <a:prstGeom prst="line">
            <a:avLst/>
          </a:prstGeom>
          <a:noFill/>
          <a:ln w="15240">
            <a:solidFill>
              <a:srgbClr val="2F704F"/>
            </a:solidFill>
            <a:prstDash val="solid"/>
            <a:tailEnd type="triangle"/>
          </a:ln>
        </p:spPr>
        <p:txBody>
          <a:bodyPr/>
          <a:lstStyle/>
          <a:p>
            <a:endParaRPr lang="en-GB"/>
          </a:p>
        </p:txBody>
      </p:sp>
      <p:sp>
        <p:nvSpPr>
          <p:cNvPr id="18" name="Text 10">
            <a:extLst>
              <a:ext uri="{FF2B5EF4-FFF2-40B4-BE49-F238E27FC236}">
                <a16:creationId xmlns:a16="http://schemas.microsoft.com/office/drawing/2014/main" id="{190A7E4A-E4D2-7A05-9168-21BD3F8635B9}"/>
              </a:ext>
            </a:extLst>
          </p:cNvPr>
          <p:cNvSpPr/>
          <p:nvPr/>
        </p:nvSpPr>
        <p:spPr>
          <a:xfrm>
            <a:off x="690371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marL="0" indent="0" algn="ctr">
              <a:buNone/>
            </a:pPr>
            <a:r>
              <a:rPr lang="en-US" sz="1200" dirty="0">
                <a:solidFill>
                  <a:srgbClr val="111111"/>
                </a:solidFill>
                <a:latin typeface="Gill Sans" pitchFamily="34" charset="0"/>
                <a:ea typeface="Gill Sans" pitchFamily="34" charset="-122"/>
                <a:cs typeface="Gill Sans" pitchFamily="34" charset="-120"/>
              </a:rPr>
              <a:t>MACS3</a:t>
            </a:r>
            <a:endParaRPr lang="en-US" sz="1200" dirty="0"/>
          </a:p>
          <a:p>
            <a:pPr marL="0" indent="0" algn="ctr">
              <a:buNone/>
            </a:pPr>
            <a:r>
              <a:rPr lang="en-US" sz="1200" dirty="0">
                <a:solidFill>
                  <a:srgbClr val="111111"/>
                </a:solidFill>
                <a:latin typeface="Gill Sans" pitchFamily="34" charset="0"/>
                <a:ea typeface="Gill Sans" pitchFamily="34" charset="-122"/>
                <a:cs typeface="Gill Sans" pitchFamily="34" charset="-120"/>
              </a:rPr>
              <a:t>peaks</a:t>
            </a:r>
            <a:endParaRPr lang="en-US" sz="1200" dirty="0"/>
          </a:p>
        </p:txBody>
      </p:sp>
      <p:sp>
        <p:nvSpPr>
          <p:cNvPr id="19" name="Shape 11">
            <a:extLst>
              <a:ext uri="{FF2B5EF4-FFF2-40B4-BE49-F238E27FC236}">
                <a16:creationId xmlns:a16="http://schemas.microsoft.com/office/drawing/2014/main" id="{8FE782FF-6B47-B415-5B0E-3B527751E203}"/>
              </a:ext>
            </a:extLst>
          </p:cNvPr>
          <p:cNvSpPr/>
          <p:nvPr/>
        </p:nvSpPr>
        <p:spPr>
          <a:xfrm>
            <a:off x="8257031" y="1606117"/>
            <a:ext cx="219456" cy="0"/>
          </a:xfrm>
          <a:prstGeom prst="line">
            <a:avLst/>
          </a:prstGeom>
          <a:noFill/>
          <a:ln w="15240">
            <a:solidFill>
              <a:srgbClr val="2F704F"/>
            </a:solidFill>
            <a:prstDash val="solid"/>
            <a:tailEnd type="triangle"/>
          </a:ln>
        </p:spPr>
        <p:txBody>
          <a:bodyPr/>
          <a:lstStyle/>
          <a:p>
            <a:endParaRPr lang="en-GB"/>
          </a:p>
        </p:txBody>
      </p:sp>
      <p:sp>
        <p:nvSpPr>
          <p:cNvPr id="20" name="Text 12">
            <a:extLst>
              <a:ext uri="{FF2B5EF4-FFF2-40B4-BE49-F238E27FC236}">
                <a16:creationId xmlns:a16="http://schemas.microsoft.com/office/drawing/2014/main" id="{A06D9BC0-3538-D8DB-0371-7526393D4AA9}"/>
              </a:ext>
            </a:extLst>
          </p:cNvPr>
          <p:cNvSpPr/>
          <p:nvPr/>
        </p:nvSpPr>
        <p:spPr>
          <a:xfrm>
            <a:off x="8549639" y="1286077"/>
            <a:ext cx="1325880" cy="640080"/>
          </a:xfrm>
          <a:prstGeom prst="rect">
            <a:avLst/>
          </a:prstGeom>
          <a:solidFill>
            <a:srgbClr val="FFFFFF"/>
          </a:solidFill>
          <a:ln w="12700">
            <a:solidFill>
              <a:srgbClr val="2F704F"/>
            </a:solidFill>
          </a:ln>
        </p:spPr>
        <p:txBody>
          <a:bodyPr wrap="square" lIns="762" tIns="762" rIns="762" bIns="762" rtlCol="0" anchor="ctr">
            <a:normAutofit/>
          </a:bodyPr>
          <a:lstStyle/>
          <a:p>
            <a:pPr algn="ctr"/>
            <a:r>
              <a:rPr lang="en-US" sz="1200" dirty="0">
                <a:solidFill>
                  <a:srgbClr val="111111"/>
                </a:solidFill>
                <a:latin typeface="Gill Sans" pitchFamily="34" charset="0"/>
                <a:ea typeface="Gill Sans" pitchFamily="34" charset="-122"/>
                <a:cs typeface="Gill Sans" pitchFamily="34" charset="-120"/>
              </a:rPr>
              <a:t>Post-peak quality control</a:t>
            </a:r>
            <a:endParaRPr lang="en-US" sz="1200" dirty="0"/>
          </a:p>
        </p:txBody>
      </p:sp>
      <p:sp>
        <p:nvSpPr>
          <p:cNvPr id="21" name="Shape 13">
            <a:extLst>
              <a:ext uri="{FF2B5EF4-FFF2-40B4-BE49-F238E27FC236}">
                <a16:creationId xmlns:a16="http://schemas.microsoft.com/office/drawing/2014/main" id="{04ED3945-5033-2E22-D8F2-E9FC4B34712D}"/>
              </a:ext>
            </a:extLst>
          </p:cNvPr>
          <p:cNvSpPr/>
          <p:nvPr/>
        </p:nvSpPr>
        <p:spPr>
          <a:xfrm>
            <a:off x="9902951" y="1606117"/>
            <a:ext cx="219456" cy="0"/>
          </a:xfrm>
          <a:prstGeom prst="line">
            <a:avLst/>
          </a:prstGeom>
          <a:noFill/>
          <a:ln w="15240">
            <a:solidFill>
              <a:srgbClr val="2F704F"/>
            </a:solidFill>
            <a:prstDash val="solid"/>
            <a:tailEnd type="triangle"/>
          </a:ln>
        </p:spPr>
        <p:txBody>
          <a:bodyPr/>
          <a:lstStyle/>
          <a:p>
            <a:endParaRPr lang="en-GB"/>
          </a:p>
        </p:txBody>
      </p:sp>
      <p:sp>
        <p:nvSpPr>
          <p:cNvPr id="22" name="Text 14">
            <a:extLst>
              <a:ext uri="{FF2B5EF4-FFF2-40B4-BE49-F238E27FC236}">
                <a16:creationId xmlns:a16="http://schemas.microsoft.com/office/drawing/2014/main" id="{710AA4E5-2FD3-3C65-D378-6CC0D5F2F03F}"/>
              </a:ext>
            </a:extLst>
          </p:cNvPr>
          <p:cNvSpPr/>
          <p:nvPr/>
        </p:nvSpPr>
        <p:spPr>
          <a:xfrm>
            <a:off x="10195559" y="1286077"/>
            <a:ext cx="1325880" cy="640080"/>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common</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peak set</a:t>
            </a:r>
            <a:endParaRPr lang="en-US" sz="1200" dirty="0">
              <a:solidFill>
                <a:schemeClr val="bg1"/>
              </a:solidFill>
            </a:endParaRPr>
          </a:p>
        </p:txBody>
      </p:sp>
      <p:sp>
        <p:nvSpPr>
          <p:cNvPr id="23" name="Shape 13">
            <a:extLst>
              <a:ext uri="{FF2B5EF4-FFF2-40B4-BE49-F238E27FC236}">
                <a16:creationId xmlns:a16="http://schemas.microsoft.com/office/drawing/2014/main" id="{0E5243FC-8C8D-D193-FB31-28C16C63DFF1}"/>
              </a:ext>
            </a:extLst>
          </p:cNvPr>
          <p:cNvSpPr/>
          <p:nvPr/>
        </p:nvSpPr>
        <p:spPr>
          <a:xfrm>
            <a:off x="11576303" y="1606117"/>
            <a:ext cx="219456" cy="0"/>
          </a:xfrm>
          <a:prstGeom prst="line">
            <a:avLst/>
          </a:prstGeom>
          <a:noFill/>
          <a:ln w="15240">
            <a:solidFill>
              <a:srgbClr val="2F704F"/>
            </a:solidFill>
            <a:prstDash val="solid"/>
            <a:tailEnd type="triangle"/>
          </a:ln>
        </p:spPr>
        <p:txBody>
          <a:bodyPr/>
          <a:lstStyle/>
          <a:p>
            <a:endParaRPr lang="en-GB"/>
          </a:p>
        </p:txBody>
      </p:sp>
      <p:sp>
        <p:nvSpPr>
          <p:cNvPr id="24" name="TextBox 23">
            <a:extLst>
              <a:ext uri="{FF2B5EF4-FFF2-40B4-BE49-F238E27FC236}">
                <a16:creationId xmlns:a16="http://schemas.microsoft.com/office/drawing/2014/main" id="{46A3FFF7-E5BC-8873-51F6-DD6F0FB29ACA}"/>
              </a:ext>
            </a:extLst>
          </p:cNvPr>
          <p:cNvSpPr txBox="1"/>
          <p:nvPr/>
        </p:nvSpPr>
        <p:spPr>
          <a:xfrm>
            <a:off x="0" y="0"/>
            <a:ext cx="12192000" cy="584775"/>
          </a:xfrm>
          <a:prstGeom prst="rect">
            <a:avLst/>
          </a:prstGeom>
          <a:noFill/>
        </p:spPr>
        <p:txBody>
          <a:bodyPr wrap="square">
            <a:spAutoFit/>
          </a:bodyPr>
          <a:lstStyle/>
          <a:p>
            <a:r>
              <a:rPr lang="en-IT" sz="3200" b="1" dirty="0"/>
              <a:t>Build one common peak set and count matrix</a:t>
            </a:r>
          </a:p>
        </p:txBody>
      </p:sp>
      <p:pic>
        <p:nvPicPr>
          <p:cNvPr id="25" name="Picture 24" descr="../../_images/merge-glyph.png">
            <a:extLst>
              <a:ext uri="{FF2B5EF4-FFF2-40B4-BE49-F238E27FC236}">
                <a16:creationId xmlns:a16="http://schemas.microsoft.com/office/drawing/2014/main" id="{BC033D5E-7F05-8A41-DB8E-6CA7204FE90C}"/>
              </a:ext>
            </a:extLst>
          </p:cNvPr>
          <p:cNvPicPr>
            <a:picLocks noChangeAspect="1"/>
          </p:cNvPicPr>
          <p:nvPr/>
        </p:nvPicPr>
        <p:blipFill>
          <a:blip r:embed="rId3"/>
          <a:stretch>
            <a:fillRect/>
          </a:stretch>
        </p:blipFill>
        <p:spPr>
          <a:xfrm>
            <a:off x="7322819" y="4128904"/>
            <a:ext cx="4198620" cy="1959356"/>
          </a:xfrm>
          <a:prstGeom prst="rect">
            <a:avLst/>
          </a:prstGeom>
          <a:ln>
            <a:solidFill>
              <a:schemeClr val="tx1"/>
            </a:solidFill>
          </a:ln>
        </p:spPr>
      </p:pic>
      <p:pic>
        <p:nvPicPr>
          <p:cNvPr id="27" name="Picture 26">
            <a:extLst>
              <a:ext uri="{FF2B5EF4-FFF2-40B4-BE49-F238E27FC236}">
                <a16:creationId xmlns:a16="http://schemas.microsoft.com/office/drawing/2014/main" id="{F1906B72-6868-5EC0-62BC-AC8E6D2F2C55}"/>
              </a:ext>
            </a:extLst>
          </p:cNvPr>
          <p:cNvPicPr>
            <a:picLocks noChangeAspect="1"/>
          </p:cNvPicPr>
          <p:nvPr/>
        </p:nvPicPr>
        <p:blipFill>
          <a:blip r:embed="rId4"/>
          <a:stretch>
            <a:fillRect/>
          </a:stretch>
        </p:blipFill>
        <p:spPr>
          <a:xfrm>
            <a:off x="7322819" y="2310350"/>
            <a:ext cx="1143001" cy="1612901"/>
          </a:xfrm>
          <a:prstGeom prst="rect">
            <a:avLst/>
          </a:prstGeom>
        </p:spPr>
      </p:pic>
      <p:sp>
        <p:nvSpPr>
          <p:cNvPr id="28" name="TextBox 27">
            <a:extLst>
              <a:ext uri="{FF2B5EF4-FFF2-40B4-BE49-F238E27FC236}">
                <a16:creationId xmlns:a16="http://schemas.microsoft.com/office/drawing/2014/main" id="{EC14EF7C-865D-89F7-0F79-3A8B7F05B7DA}"/>
              </a:ext>
            </a:extLst>
          </p:cNvPr>
          <p:cNvSpPr txBox="1"/>
          <p:nvPr/>
        </p:nvSpPr>
        <p:spPr>
          <a:xfrm>
            <a:off x="8610600" y="2507396"/>
            <a:ext cx="2910839" cy="1477328"/>
          </a:xfrm>
          <a:prstGeom prst="rect">
            <a:avLst/>
          </a:prstGeom>
          <a:noFill/>
        </p:spPr>
        <p:txBody>
          <a:bodyPr wrap="square" rtlCol="0">
            <a:spAutoFit/>
          </a:bodyPr>
          <a:lstStyle/>
          <a:p>
            <a:pPr marL="285750" indent="-285750">
              <a:buFontTx/>
              <a:buChar char="-"/>
            </a:pPr>
            <a:r>
              <a:rPr lang="en-GB" dirty="0"/>
              <a:t>Merge called peaks</a:t>
            </a:r>
          </a:p>
          <a:p>
            <a:endParaRPr lang="en-GB" dirty="0"/>
          </a:p>
          <a:p>
            <a:pPr marL="285750" indent="-285750">
              <a:buFontTx/>
              <a:buChar char="-"/>
            </a:pPr>
            <a:r>
              <a:rPr lang="en-GB" dirty="0"/>
              <a:t>Count reads from BAM matching the consensus Peak</a:t>
            </a:r>
          </a:p>
        </p:txBody>
      </p:sp>
    </p:spTree>
    <p:extLst>
      <p:ext uri="{BB962C8B-B14F-4D97-AF65-F5344CB8AC3E}">
        <p14:creationId xmlns:p14="http://schemas.microsoft.com/office/powerpoint/2010/main" val="218717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C095D54-6304-BF5B-CB92-FC03E076F964}"/>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DEE08EDE-C8AC-1A7A-5FA8-243C5E9C9C3A}"/>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4CEFDBB7-FA13-8C86-092D-B728EF8F7870}"/>
              </a:ext>
            </a:extLst>
          </p:cNvPr>
          <p:cNvSpPr>
            <a:spLocks noGrp="1"/>
          </p:cNvSpPr>
          <p:nvPr>
            <p:ph type="sldNum" sz="quarter" idx="12"/>
          </p:nvPr>
        </p:nvSpPr>
        <p:spPr/>
        <p:txBody>
          <a:bodyPr/>
          <a:lstStyle/>
          <a:p>
            <a:fld id="{62E92BA6-6E87-3343-8D2C-B7A656D628E4}" type="slidenum">
              <a:rPr lang="en-GB" smtClean="0"/>
              <a:t>14</a:t>
            </a:fld>
            <a:endParaRPr lang="en-GB"/>
          </a:p>
        </p:txBody>
      </p:sp>
      <p:sp>
        <p:nvSpPr>
          <p:cNvPr id="7" name="TextBox 6">
            <a:extLst>
              <a:ext uri="{FF2B5EF4-FFF2-40B4-BE49-F238E27FC236}">
                <a16:creationId xmlns:a16="http://schemas.microsoft.com/office/drawing/2014/main" id="{FB0F7752-5405-1BD8-2E1B-3CCED5D9E760}"/>
              </a:ext>
            </a:extLst>
          </p:cNvPr>
          <p:cNvSpPr txBox="1"/>
          <p:nvPr/>
        </p:nvSpPr>
        <p:spPr>
          <a:xfrm>
            <a:off x="0" y="0"/>
            <a:ext cx="12192000" cy="584775"/>
          </a:xfrm>
          <a:prstGeom prst="rect">
            <a:avLst/>
          </a:prstGeom>
          <a:noFill/>
        </p:spPr>
        <p:txBody>
          <a:bodyPr wrap="square">
            <a:spAutoFit/>
          </a:bodyPr>
          <a:lstStyle/>
          <a:p>
            <a:r>
              <a:rPr lang="it-IT" sz="3200" b="1" dirty="0" err="1"/>
              <a:t>Differential</a:t>
            </a:r>
            <a:r>
              <a:rPr lang="it-IT" sz="3200" b="1" dirty="0"/>
              <a:t> </a:t>
            </a:r>
            <a:r>
              <a:rPr lang="it-IT" sz="3200" b="1" dirty="0" err="1"/>
              <a:t>peak</a:t>
            </a:r>
            <a:r>
              <a:rPr lang="it-IT" sz="3200" b="1" dirty="0"/>
              <a:t> </a:t>
            </a:r>
            <a:r>
              <a:rPr lang="it-IT" sz="3200" b="1" dirty="0" err="1"/>
              <a:t>analysis</a:t>
            </a:r>
            <a:r>
              <a:rPr lang="it-IT" sz="3200" b="1" dirty="0"/>
              <a:t>: DESEQ2</a:t>
            </a:r>
            <a:endParaRPr lang="en-IT" sz="3200" b="1" dirty="0"/>
          </a:p>
        </p:txBody>
      </p:sp>
      <p:sp>
        <p:nvSpPr>
          <p:cNvPr id="11" name="TextBox 10">
            <a:extLst>
              <a:ext uri="{FF2B5EF4-FFF2-40B4-BE49-F238E27FC236}">
                <a16:creationId xmlns:a16="http://schemas.microsoft.com/office/drawing/2014/main" id="{26A6385E-1080-CB17-01FE-115F68AA7406}"/>
              </a:ext>
            </a:extLst>
          </p:cNvPr>
          <p:cNvSpPr txBox="1"/>
          <p:nvPr/>
        </p:nvSpPr>
        <p:spPr>
          <a:xfrm>
            <a:off x="217932" y="1772723"/>
            <a:ext cx="6726936" cy="1200329"/>
          </a:xfrm>
          <a:prstGeom prst="rect">
            <a:avLst/>
          </a:prstGeom>
          <a:noFill/>
        </p:spPr>
        <p:txBody>
          <a:bodyPr wrap="square">
            <a:spAutoFit/>
          </a:bodyPr>
          <a:lstStyle/>
          <a:p>
            <a:pPr indent="0" algn="l">
              <a:buNone/>
            </a:pPr>
            <a:r>
              <a:rPr lang="en-IT" sz="1800" b="0" i="0" dirty="0">
                <a:solidFill>
                  <a:schemeClr val="tx1"/>
                </a:solidFill>
                <a:effectLst/>
                <a:latin typeface="+mn-lt"/>
              </a:rPr>
              <a:t>This deliberately mirrors Day 2 RNA-seq. The rows are now genomic peak intervals instead of genes, but the question is the same:</a:t>
            </a:r>
          </a:p>
          <a:p>
            <a:pPr>
              <a:buNone/>
            </a:pPr>
            <a:br>
              <a:rPr lang="en-IT" dirty="0"/>
            </a:br>
            <a:endParaRPr lang="en-GB" dirty="0"/>
          </a:p>
        </p:txBody>
      </p:sp>
      <p:sp>
        <p:nvSpPr>
          <p:cNvPr id="12" name="Text 15">
            <a:extLst>
              <a:ext uri="{FF2B5EF4-FFF2-40B4-BE49-F238E27FC236}">
                <a16:creationId xmlns:a16="http://schemas.microsoft.com/office/drawing/2014/main" id="{5D2729A6-EC3A-A0C0-4D08-8E9F34656D02}"/>
              </a:ext>
            </a:extLst>
          </p:cNvPr>
          <p:cNvSpPr/>
          <p:nvPr/>
        </p:nvSpPr>
        <p:spPr>
          <a:xfrm>
            <a:off x="1524000" y="3236218"/>
            <a:ext cx="1600200" cy="749808"/>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count matrix</a:t>
            </a:r>
            <a:endParaRPr lang="en-US" sz="1200" dirty="0">
              <a:solidFill>
                <a:schemeClr val="bg1"/>
              </a:solidFill>
            </a:endParaRPr>
          </a:p>
        </p:txBody>
      </p:sp>
      <p:sp>
        <p:nvSpPr>
          <p:cNvPr id="13" name="Shape 16">
            <a:extLst>
              <a:ext uri="{FF2B5EF4-FFF2-40B4-BE49-F238E27FC236}">
                <a16:creationId xmlns:a16="http://schemas.microsoft.com/office/drawing/2014/main" id="{68E6368E-8D46-FF2F-020D-59A9D895BFAF}"/>
              </a:ext>
            </a:extLst>
          </p:cNvPr>
          <p:cNvSpPr/>
          <p:nvPr/>
        </p:nvSpPr>
        <p:spPr>
          <a:xfrm>
            <a:off x="3151632" y="3611122"/>
            <a:ext cx="585216" cy="0"/>
          </a:xfrm>
          <a:prstGeom prst="line">
            <a:avLst/>
          </a:prstGeom>
          <a:noFill/>
          <a:ln w="15240">
            <a:solidFill>
              <a:srgbClr val="2F704F"/>
            </a:solidFill>
            <a:prstDash val="solid"/>
            <a:tailEnd type="triangle"/>
          </a:ln>
        </p:spPr>
        <p:txBody>
          <a:bodyPr/>
          <a:lstStyle/>
          <a:p>
            <a:endParaRPr lang="en-GB">
              <a:solidFill>
                <a:schemeClr val="bg1"/>
              </a:solidFill>
            </a:endParaRPr>
          </a:p>
        </p:txBody>
      </p:sp>
      <p:sp>
        <p:nvSpPr>
          <p:cNvPr id="14" name="Text 17">
            <a:extLst>
              <a:ext uri="{FF2B5EF4-FFF2-40B4-BE49-F238E27FC236}">
                <a16:creationId xmlns:a16="http://schemas.microsoft.com/office/drawing/2014/main" id="{4DFDC653-6A45-434A-2C0C-C2ECDE76F518}"/>
              </a:ext>
            </a:extLst>
          </p:cNvPr>
          <p:cNvSpPr/>
          <p:nvPr/>
        </p:nvSpPr>
        <p:spPr>
          <a:xfrm>
            <a:off x="3810000" y="3236218"/>
            <a:ext cx="1600200" cy="749808"/>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scatter</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correlation</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PCA</a:t>
            </a:r>
            <a:endParaRPr lang="en-US" sz="1200" dirty="0">
              <a:solidFill>
                <a:schemeClr val="bg1"/>
              </a:solidFill>
            </a:endParaRPr>
          </a:p>
        </p:txBody>
      </p:sp>
      <p:sp>
        <p:nvSpPr>
          <p:cNvPr id="15" name="Shape 18">
            <a:extLst>
              <a:ext uri="{FF2B5EF4-FFF2-40B4-BE49-F238E27FC236}">
                <a16:creationId xmlns:a16="http://schemas.microsoft.com/office/drawing/2014/main" id="{B9A3A8F4-0A87-5460-0FB1-E58B75788D5B}"/>
              </a:ext>
            </a:extLst>
          </p:cNvPr>
          <p:cNvSpPr/>
          <p:nvPr/>
        </p:nvSpPr>
        <p:spPr>
          <a:xfrm>
            <a:off x="5437632" y="3611122"/>
            <a:ext cx="585216" cy="0"/>
          </a:xfrm>
          <a:prstGeom prst="line">
            <a:avLst/>
          </a:prstGeom>
          <a:noFill/>
          <a:ln w="15240">
            <a:solidFill>
              <a:srgbClr val="2F704F"/>
            </a:solidFill>
            <a:prstDash val="solid"/>
            <a:tailEnd type="triangle"/>
          </a:ln>
        </p:spPr>
        <p:txBody>
          <a:bodyPr/>
          <a:lstStyle/>
          <a:p>
            <a:endParaRPr lang="en-GB">
              <a:solidFill>
                <a:schemeClr val="bg1"/>
              </a:solidFill>
            </a:endParaRPr>
          </a:p>
        </p:txBody>
      </p:sp>
      <p:sp>
        <p:nvSpPr>
          <p:cNvPr id="16" name="Text 19">
            <a:extLst>
              <a:ext uri="{FF2B5EF4-FFF2-40B4-BE49-F238E27FC236}">
                <a16:creationId xmlns:a16="http://schemas.microsoft.com/office/drawing/2014/main" id="{F31D6E70-F341-E6FA-8920-174C5F8FA4D5}"/>
              </a:ext>
            </a:extLst>
          </p:cNvPr>
          <p:cNvSpPr/>
          <p:nvPr/>
        </p:nvSpPr>
        <p:spPr>
          <a:xfrm>
            <a:off x="6096000" y="3236218"/>
            <a:ext cx="1600200" cy="749808"/>
          </a:xfrm>
          <a:prstGeom prst="rect">
            <a:avLst/>
          </a:prstGeom>
          <a:solidFill>
            <a:srgbClr val="FF0000"/>
          </a:solidFill>
          <a:ln w="12700">
            <a:solidFill>
              <a:srgbClr val="2F704F"/>
            </a:solidFill>
          </a:ln>
        </p:spPr>
        <p:txBody>
          <a:bodyPr wrap="square" lIns="762" tIns="762" rIns="762" bIns="762" rtlCol="0" anchor="ctr">
            <a:normAutofit/>
          </a:bodyPr>
          <a:lstStyle/>
          <a:p>
            <a:pPr marL="0" indent="0" algn="ctr">
              <a:buNone/>
            </a:pPr>
            <a:r>
              <a:rPr lang="en-US" sz="1200" dirty="0">
                <a:solidFill>
                  <a:schemeClr val="bg1"/>
                </a:solidFill>
                <a:latin typeface="Gill Sans" pitchFamily="34" charset="0"/>
                <a:ea typeface="Gill Sans" pitchFamily="34" charset="-122"/>
                <a:cs typeface="Gill Sans" pitchFamily="34" charset="-120"/>
              </a:rPr>
              <a:t>DESeq2</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differential</a:t>
            </a:r>
            <a:endParaRPr lang="en-US" sz="1200" dirty="0">
              <a:solidFill>
                <a:schemeClr val="bg1"/>
              </a:solidFill>
            </a:endParaRPr>
          </a:p>
          <a:p>
            <a:pPr marL="0" indent="0" algn="ctr">
              <a:buNone/>
            </a:pPr>
            <a:r>
              <a:rPr lang="en-US" sz="1200" dirty="0">
                <a:solidFill>
                  <a:schemeClr val="bg1"/>
                </a:solidFill>
                <a:latin typeface="Gill Sans" pitchFamily="34" charset="0"/>
                <a:ea typeface="Gill Sans" pitchFamily="34" charset="-122"/>
                <a:cs typeface="Gill Sans" pitchFamily="34" charset="-120"/>
              </a:rPr>
              <a:t>peaks</a:t>
            </a:r>
            <a:endParaRPr lang="en-US" sz="1200" dirty="0">
              <a:solidFill>
                <a:schemeClr val="bg1"/>
              </a:solidFill>
            </a:endParaRPr>
          </a:p>
        </p:txBody>
      </p:sp>
      <p:sp>
        <p:nvSpPr>
          <p:cNvPr id="17" name="Shape 20">
            <a:extLst>
              <a:ext uri="{FF2B5EF4-FFF2-40B4-BE49-F238E27FC236}">
                <a16:creationId xmlns:a16="http://schemas.microsoft.com/office/drawing/2014/main" id="{752830A7-3F74-8ECE-4311-7FA45D8B660E}"/>
              </a:ext>
            </a:extLst>
          </p:cNvPr>
          <p:cNvSpPr/>
          <p:nvPr/>
        </p:nvSpPr>
        <p:spPr>
          <a:xfrm>
            <a:off x="7723632" y="3611122"/>
            <a:ext cx="585216" cy="0"/>
          </a:xfrm>
          <a:prstGeom prst="line">
            <a:avLst/>
          </a:prstGeom>
          <a:noFill/>
          <a:ln w="15240">
            <a:solidFill>
              <a:srgbClr val="2F704F"/>
            </a:solidFill>
            <a:prstDash val="solid"/>
            <a:tailEnd type="triangle"/>
          </a:ln>
        </p:spPr>
        <p:txBody>
          <a:bodyPr/>
          <a:lstStyle/>
          <a:p>
            <a:endParaRPr lang="en-GB"/>
          </a:p>
        </p:txBody>
      </p:sp>
      <p:sp>
        <p:nvSpPr>
          <p:cNvPr id="21" name="Shape 13">
            <a:extLst>
              <a:ext uri="{FF2B5EF4-FFF2-40B4-BE49-F238E27FC236}">
                <a16:creationId xmlns:a16="http://schemas.microsoft.com/office/drawing/2014/main" id="{39ECE3BC-9CDC-C8F8-D195-91BC26E52D00}"/>
              </a:ext>
            </a:extLst>
          </p:cNvPr>
          <p:cNvSpPr/>
          <p:nvPr/>
        </p:nvSpPr>
        <p:spPr>
          <a:xfrm>
            <a:off x="1222428" y="3611122"/>
            <a:ext cx="219456" cy="0"/>
          </a:xfrm>
          <a:prstGeom prst="line">
            <a:avLst/>
          </a:prstGeom>
          <a:noFill/>
          <a:ln w="15240">
            <a:solidFill>
              <a:srgbClr val="2F704F"/>
            </a:solidFill>
            <a:prstDash val="solid"/>
            <a:tailEnd type="triangle"/>
          </a:ln>
        </p:spPr>
        <p:txBody>
          <a:bodyPr/>
          <a:lstStyle/>
          <a:p>
            <a:endParaRPr lang="en-GB">
              <a:solidFill>
                <a:schemeClr val="bg1"/>
              </a:solidFill>
            </a:endParaRPr>
          </a:p>
        </p:txBody>
      </p:sp>
      <p:sp>
        <p:nvSpPr>
          <p:cNvPr id="22" name="TextBox 21">
            <a:extLst>
              <a:ext uri="{FF2B5EF4-FFF2-40B4-BE49-F238E27FC236}">
                <a16:creationId xmlns:a16="http://schemas.microsoft.com/office/drawing/2014/main" id="{3ADE4FB7-B8B4-5608-B85B-F3C577BBF875}"/>
              </a:ext>
            </a:extLst>
          </p:cNvPr>
          <p:cNvSpPr txBox="1"/>
          <p:nvPr/>
        </p:nvSpPr>
        <p:spPr>
          <a:xfrm>
            <a:off x="2237232" y="4974044"/>
            <a:ext cx="7865936" cy="369332"/>
          </a:xfrm>
          <a:prstGeom prst="rect">
            <a:avLst/>
          </a:prstGeom>
          <a:noFill/>
        </p:spPr>
        <p:txBody>
          <a:bodyPr wrap="none" rtlCol="0">
            <a:spAutoFit/>
          </a:bodyPr>
          <a:lstStyle/>
          <a:p>
            <a:r>
              <a:rPr lang="en-GB" dirty="0"/>
              <a:t>Conceptually is the same and the QC of the fitted dispersion follow the same rule</a:t>
            </a:r>
          </a:p>
        </p:txBody>
      </p:sp>
    </p:spTree>
    <p:extLst>
      <p:ext uri="{BB962C8B-B14F-4D97-AF65-F5344CB8AC3E}">
        <p14:creationId xmlns:p14="http://schemas.microsoft.com/office/powerpoint/2010/main" val="3830852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63B98AF-3CB2-2C31-D6FC-A2A3418C919F}"/>
              </a:ext>
            </a:extLst>
          </p:cNvPr>
          <p:cNvSpPr>
            <a:spLocks noGrp="1"/>
          </p:cNvSpPr>
          <p:nvPr>
            <p:ph type="dt" sz="half" idx="10"/>
          </p:nvPr>
        </p:nvSpPr>
        <p:spPr/>
        <p:txBody>
          <a:bodyPr/>
          <a:lstStyle/>
          <a:p>
            <a:fld id="{761DFEEA-1162-B343-ACBF-B3E92F6AC390}" type="datetime1">
              <a:rPr lang="it-IT" smtClean="0"/>
              <a:t>08/10/26</a:t>
            </a:fld>
            <a:endParaRPr lang="en-GB" dirty="0"/>
          </a:p>
        </p:txBody>
      </p:sp>
      <p:sp>
        <p:nvSpPr>
          <p:cNvPr id="5" name="Footer Placeholder 4">
            <a:extLst>
              <a:ext uri="{FF2B5EF4-FFF2-40B4-BE49-F238E27FC236}">
                <a16:creationId xmlns:a16="http://schemas.microsoft.com/office/drawing/2014/main" id="{D377EBF2-39F9-4FD2-282F-A7D423AE12B4}"/>
              </a:ext>
            </a:extLst>
          </p:cNvPr>
          <p:cNvSpPr>
            <a:spLocks noGrp="1"/>
          </p:cNvSpPr>
          <p:nvPr>
            <p:ph type="ftr" sz="quarter" idx="11"/>
          </p:nvPr>
        </p:nvSpPr>
        <p:spPr/>
        <p:txBody>
          <a:bodyPr/>
          <a:lstStyle/>
          <a:p>
            <a:r>
              <a:rPr lang="en-GB" dirty="0"/>
              <a:t>Day 1: Reproducible NGS Data Analysis on Personal Laptops</a:t>
            </a:r>
          </a:p>
        </p:txBody>
      </p:sp>
      <p:sp>
        <p:nvSpPr>
          <p:cNvPr id="6" name="Slide Number Placeholder 5">
            <a:extLst>
              <a:ext uri="{FF2B5EF4-FFF2-40B4-BE49-F238E27FC236}">
                <a16:creationId xmlns:a16="http://schemas.microsoft.com/office/drawing/2014/main" id="{30098E79-3320-176B-5FA3-2A3D754805B7}"/>
              </a:ext>
            </a:extLst>
          </p:cNvPr>
          <p:cNvSpPr>
            <a:spLocks noGrp="1"/>
          </p:cNvSpPr>
          <p:nvPr>
            <p:ph type="sldNum" sz="quarter" idx="12"/>
          </p:nvPr>
        </p:nvSpPr>
        <p:spPr/>
        <p:txBody>
          <a:bodyPr/>
          <a:lstStyle/>
          <a:p>
            <a:fld id="{62E92BA6-6E87-3343-8D2C-B7A656D628E4}" type="slidenum">
              <a:rPr lang="en-GB" smtClean="0"/>
              <a:t>15</a:t>
            </a:fld>
            <a:endParaRPr lang="en-GB"/>
          </a:p>
        </p:txBody>
      </p:sp>
      <p:sp>
        <p:nvSpPr>
          <p:cNvPr id="7" name="TextBox 6">
            <a:extLst>
              <a:ext uri="{FF2B5EF4-FFF2-40B4-BE49-F238E27FC236}">
                <a16:creationId xmlns:a16="http://schemas.microsoft.com/office/drawing/2014/main" id="{21FE0794-6E92-E0A9-EE49-0D899618D582}"/>
              </a:ext>
            </a:extLst>
          </p:cNvPr>
          <p:cNvSpPr txBox="1"/>
          <p:nvPr/>
        </p:nvSpPr>
        <p:spPr>
          <a:xfrm>
            <a:off x="0" y="0"/>
            <a:ext cx="12192000" cy="523220"/>
          </a:xfrm>
          <a:prstGeom prst="rect">
            <a:avLst/>
          </a:prstGeom>
          <a:noFill/>
        </p:spPr>
        <p:txBody>
          <a:bodyPr wrap="square">
            <a:spAutoFit/>
          </a:bodyPr>
          <a:lstStyle/>
          <a:p>
            <a:r>
              <a:rPr lang="en-IT" sz="2800" b="1" dirty="0"/>
              <a:t>De novo motif discovery with STREME</a:t>
            </a:r>
          </a:p>
        </p:txBody>
      </p:sp>
      <p:sp>
        <p:nvSpPr>
          <p:cNvPr id="8" name="TextBox 7">
            <a:extLst>
              <a:ext uri="{FF2B5EF4-FFF2-40B4-BE49-F238E27FC236}">
                <a16:creationId xmlns:a16="http://schemas.microsoft.com/office/drawing/2014/main" id="{A4242A9B-AC00-C44B-84B2-4E84BDFC690B}"/>
              </a:ext>
            </a:extLst>
          </p:cNvPr>
          <p:cNvSpPr txBox="1"/>
          <p:nvPr/>
        </p:nvSpPr>
        <p:spPr>
          <a:xfrm>
            <a:off x="170688" y="902208"/>
            <a:ext cx="11340477" cy="369332"/>
          </a:xfrm>
          <a:prstGeom prst="rect">
            <a:avLst/>
          </a:prstGeom>
          <a:noFill/>
        </p:spPr>
        <p:txBody>
          <a:bodyPr wrap="none" rtlCol="0">
            <a:spAutoFit/>
          </a:bodyPr>
          <a:lstStyle/>
          <a:p>
            <a:r>
              <a:rPr lang="en-IT" dirty="0"/>
              <a:t>ChIP-seq tells us </a:t>
            </a:r>
            <a:r>
              <a:rPr lang="en-IT" b="1" dirty="0"/>
              <a:t>where</a:t>
            </a:r>
            <a:r>
              <a:rPr lang="en-IT" dirty="0"/>
              <a:t> a protein-associated enrichment occurs in the genome. Motif analysis asks a different question:</a:t>
            </a:r>
            <a:endParaRPr lang="en-GB" dirty="0"/>
          </a:p>
        </p:txBody>
      </p:sp>
      <p:sp>
        <p:nvSpPr>
          <p:cNvPr id="10" name="TextBox 9">
            <a:extLst>
              <a:ext uri="{FF2B5EF4-FFF2-40B4-BE49-F238E27FC236}">
                <a16:creationId xmlns:a16="http://schemas.microsoft.com/office/drawing/2014/main" id="{5FEED0D7-DFE7-AB61-FA1E-E64BAB7F593B}"/>
              </a:ext>
            </a:extLst>
          </p:cNvPr>
          <p:cNvSpPr txBox="1"/>
          <p:nvPr/>
        </p:nvSpPr>
        <p:spPr>
          <a:xfrm>
            <a:off x="0" y="1450473"/>
            <a:ext cx="12192000" cy="400110"/>
          </a:xfrm>
          <a:prstGeom prst="rect">
            <a:avLst/>
          </a:prstGeom>
          <a:noFill/>
        </p:spPr>
        <p:txBody>
          <a:bodyPr wrap="square">
            <a:spAutoFit/>
          </a:bodyPr>
          <a:lstStyle/>
          <a:p>
            <a:pPr algn="ctr"/>
            <a:r>
              <a:rPr lang="en-IT" sz="2000" b="0" i="0" dirty="0">
                <a:solidFill>
                  <a:schemeClr val="tx1">
                    <a:lumMod val="50000"/>
                    <a:lumOff val="50000"/>
                  </a:schemeClr>
                </a:solidFill>
                <a:effectLst/>
                <a:latin typeface="+mn-lt"/>
              </a:rPr>
              <a:t>Do those enriched regions share a short DNA sequence pattern more often than expected by chance?</a:t>
            </a:r>
            <a:endParaRPr lang="en-GB" sz="2000" dirty="0">
              <a:solidFill>
                <a:schemeClr val="tx1">
                  <a:lumMod val="50000"/>
                  <a:lumOff val="50000"/>
                </a:schemeClr>
              </a:solidFill>
            </a:endParaRPr>
          </a:p>
        </p:txBody>
      </p:sp>
      <p:pic>
        <p:nvPicPr>
          <p:cNvPr id="12" name="Picture 11">
            <a:extLst>
              <a:ext uri="{FF2B5EF4-FFF2-40B4-BE49-F238E27FC236}">
                <a16:creationId xmlns:a16="http://schemas.microsoft.com/office/drawing/2014/main" id="{2DD22CF0-3ACA-CA77-7FB6-FECE4EF83A46}"/>
              </a:ext>
            </a:extLst>
          </p:cNvPr>
          <p:cNvPicPr>
            <a:picLocks noChangeAspect="1"/>
          </p:cNvPicPr>
          <p:nvPr/>
        </p:nvPicPr>
        <p:blipFill>
          <a:blip r:embed="rId2"/>
          <a:stretch>
            <a:fillRect/>
          </a:stretch>
        </p:blipFill>
        <p:spPr>
          <a:xfrm>
            <a:off x="405384" y="2334712"/>
            <a:ext cx="7772400" cy="2188575"/>
          </a:xfrm>
          <a:prstGeom prst="rect">
            <a:avLst/>
          </a:prstGeom>
          <a:ln>
            <a:solidFill>
              <a:schemeClr val="tx1"/>
            </a:solidFill>
          </a:ln>
        </p:spPr>
      </p:pic>
      <p:sp>
        <p:nvSpPr>
          <p:cNvPr id="14" name="TextBox 13">
            <a:extLst>
              <a:ext uri="{FF2B5EF4-FFF2-40B4-BE49-F238E27FC236}">
                <a16:creationId xmlns:a16="http://schemas.microsoft.com/office/drawing/2014/main" id="{F910230C-C116-4CEA-E505-081E504C8E19}"/>
              </a:ext>
            </a:extLst>
          </p:cNvPr>
          <p:cNvSpPr txBox="1"/>
          <p:nvPr/>
        </p:nvSpPr>
        <p:spPr>
          <a:xfrm>
            <a:off x="8327136" y="2334711"/>
            <a:ext cx="3713422" cy="2585323"/>
          </a:xfrm>
          <a:prstGeom prst="rect">
            <a:avLst/>
          </a:prstGeom>
          <a:noFill/>
        </p:spPr>
        <p:txBody>
          <a:bodyPr wrap="square">
            <a:spAutoFit/>
          </a:bodyPr>
          <a:lstStyle/>
          <a:p>
            <a:r>
              <a:rPr lang="en-IT" sz="1800" b="1" i="0" dirty="0">
                <a:solidFill>
                  <a:schemeClr val="tx1"/>
                </a:solidFill>
                <a:effectLst/>
                <a:latin typeface="+mn-lt"/>
              </a:rPr>
              <a:t>De novo</a:t>
            </a:r>
            <a:r>
              <a:rPr lang="en-IT" sz="1800" b="0" i="0" dirty="0">
                <a:solidFill>
                  <a:schemeClr val="tx1"/>
                </a:solidFill>
                <a:effectLst/>
                <a:latin typeface="+mn-lt"/>
              </a:rPr>
              <a:t> means that we do not give STREME a known HP1021 binding motif and ask whether it is present. </a:t>
            </a:r>
          </a:p>
          <a:p>
            <a:endParaRPr lang="en-IT" dirty="0"/>
          </a:p>
          <a:p>
            <a:r>
              <a:rPr lang="en-IT" sz="1800" b="0" i="0" dirty="0">
                <a:solidFill>
                  <a:schemeClr val="tx1"/>
                </a:solidFill>
                <a:effectLst/>
                <a:latin typeface="+mn-lt"/>
              </a:rPr>
              <a:t>STREME starts from the peak sequences themselves and searches for recurring patterns that are enriched compared with a background set.</a:t>
            </a:r>
            <a:endParaRPr lang="en-GB" dirty="0"/>
          </a:p>
        </p:txBody>
      </p:sp>
      <p:sp>
        <p:nvSpPr>
          <p:cNvPr id="16" name="TextBox 15">
            <a:extLst>
              <a:ext uri="{FF2B5EF4-FFF2-40B4-BE49-F238E27FC236}">
                <a16:creationId xmlns:a16="http://schemas.microsoft.com/office/drawing/2014/main" id="{F1DB4D6A-02CB-2BB4-006A-917C9E293E18}"/>
              </a:ext>
            </a:extLst>
          </p:cNvPr>
          <p:cNvSpPr txBox="1"/>
          <p:nvPr/>
        </p:nvSpPr>
        <p:spPr>
          <a:xfrm>
            <a:off x="405384" y="5032462"/>
            <a:ext cx="11786616" cy="1200329"/>
          </a:xfrm>
          <a:prstGeom prst="rect">
            <a:avLst/>
          </a:prstGeom>
          <a:noFill/>
        </p:spPr>
        <p:txBody>
          <a:bodyPr wrap="square">
            <a:spAutoFit/>
          </a:bodyPr>
          <a:lstStyle/>
          <a:p>
            <a:pPr marL="342900" lvl="0" indent="-342900" algn="l">
              <a:buFont typeface="Arial" panose="020B0604020202020204" pitchFamily="34" charset="0"/>
              <a:buChar char="•"/>
            </a:pPr>
            <a:r>
              <a:rPr lang="en-IT" sz="1800" b="0" i="0" dirty="0">
                <a:solidFill>
                  <a:schemeClr val="tx1"/>
                </a:solidFill>
                <a:effectLst/>
                <a:latin typeface="+mn-lt"/>
              </a:rPr>
              <a:t>the DNA-binding preference is unknown;</a:t>
            </a:r>
          </a:p>
          <a:p>
            <a:pPr marL="342900" lvl="0" indent="-342900" algn="l">
              <a:buFont typeface="Arial" panose="020B0604020202020204" pitchFamily="34" charset="0"/>
              <a:buChar char="•"/>
            </a:pPr>
            <a:r>
              <a:rPr lang="en-IT" sz="1800" b="0" i="0" dirty="0">
                <a:solidFill>
                  <a:schemeClr val="tx1"/>
                </a:solidFill>
                <a:effectLst/>
                <a:latin typeface="+mn-lt"/>
              </a:rPr>
              <a:t>we want to recover the expected motif without forcing the answer;</a:t>
            </a:r>
          </a:p>
          <a:p>
            <a:pPr marL="342900" lvl="0" indent="-342900" algn="l">
              <a:buFont typeface="Arial" panose="020B0604020202020204" pitchFamily="34" charset="0"/>
              <a:buChar char="•"/>
            </a:pPr>
            <a:r>
              <a:rPr lang="en-IT" sz="1800" b="0" i="0" dirty="0">
                <a:solidFill>
                  <a:schemeClr val="tx1"/>
                </a:solidFill>
                <a:effectLst/>
                <a:latin typeface="+mn-lt"/>
              </a:rPr>
              <a:t>we want to detect additional motifs that could reflect cofactors or other sequence features associated with the peaks.</a:t>
            </a:r>
          </a:p>
          <a:p>
            <a:pPr marL="342900" lvl="0" indent="-342900" algn="l">
              <a:buFont typeface="Arial" panose="020B0604020202020204" pitchFamily="34" charset="0"/>
              <a:buChar char="•"/>
            </a:pPr>
            <a:r>
              <a:rPr lang="en-IT" dirty="0"/>
              <a:t>As a QC given the known motif for the targeted protein</a:t>
            </a:r>
            <a:endParaRPr lang="en-GB" dirty="0"/>
          </a:p>
        </p:txBody>
      </p:sp>
    </p:spTree>
    <p:extLst>
      <p:ext uri="{BB962C8B-B14F-4D97-AF65-F5344CB8AC3E}">
        <p14:creationId xmlns:p14="http://schemas.microsoft.com/office/powerpoint/2010/main" val="11616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7E1797-475D-1867-AC1D-B904D43E3E27}"/>
              </a:ext>
            </a:extLst>
          </p:cNvPr>
          <p:cNvSpPr>
            <a:spLocks noGrp="1"/>
          </p:cNvSpPr>
          <p:nvPr>
            <p:ph type="dt" sz="half" idx="10"/>
          </p:nvPr>
        </p:nvSpPr>
        <p:spPr/>
        <p:txBody>
          <a:bodyPr/>
          <a:lstStyle/>
          <a:p>
            <a:fld id="{761DFEEA-1162-B343-ACBF-B3E92F6AC390}" type="datetime1">
              <a:rPr lang="it-IT" smtClean="0"/>
              <a:t>08/10/26</a:t>
            </a:fld>
            <a:endParaRPr lang="en-GB"/>
          </a:p>
        </p:txBody>
      </p:sp>
      <p:sp>
        <p:nvSpPr>
          <p:cNvPr id="5" name="Footer Placeholder 4">
            <a:extLst>
              <a:ext uri="{FF2B5EF4-FFF2-40B4-BE49-F238E27FC236}">
                <a16:creationId xmlns:a16="http://schemas.microsoft.com/office/drawing/2014/main" id="{F6B5BDF9-ED9F-D22C-34B1-F66F13BB5175}"/>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9BBBC257-7F02-89F1-29F2-D19823281107}"/>
              </a:ext>
            </a:extLst>
          </p:cNvPr>
          <p:cNvSpPr>
            <a:spLocks noGrp="1"/>
          </p:cNvSpPr>
          <p:nvPr>
            <p:ph type="sldNum" sz="quarter" idx="12"/>
          </p:nvPr>
        </p:nvSpPr>
        <p:spPr/>
        <p:txBody>
          <a:bodyPr/>
          <a:lstStyle/>
          <a:p>
            <a:fld id="{62E92BA6-6E87-3343-8D2C-B7A656D628E4}" type="slidenum">
              <a:rPr lang="en-GB" smtClean="0"/>
              <a:t>16</a:t>
            </a:fld>
            <a:endParaRPr lang="en-GB"/>
          </a:p>
        </p:txBody>
      </p:sp>
      <p:sp>
        <p:nvSpPr>
          <p:cNvPr id="8" name="TextBox 7">
            <a:extLst>
              <a:ext uri="{FF2B5EF4-FFF2-40B4-BE49-F238E27FC236}">
                <a16:creationId xmlns:a16="http://schemas.microsoft.com/office/drawing/2014/main" id="{1346DA1A-EE0C-48CD-32F7-5ABB17D04D9C}"/>
              </a:ext>
            </a:extLst>
          </p:cNvPr>
          <p:cNvSpPr txBox="1"/>
          <p:nvPr/>
        </p:nvSpPr>
        <p:spPr>
          <a:xfrm>
            <a:off x="838200" y="2067477"/>
            <a:ext cx="10131552" cy="3693319"/>
          </a:xfrm>
          <a:prstGeom prst="rect">
            <a:avLst/>
          </a:prstGeom>
          <a:noFill/>
        </p:spPr>
        <p:txBody>
          <a:bodyPr wrap="square">
            <a:spAutoFit/>
          </a:bodyPr>
          <a:lstStyle/>
          <a:p>
            <a:pPr indent="0" algn="l">
              <a:buNone/>
            </a:pPr>
            <a:r>
              <a:rPr lang="en-IT" sz="1800" b="0" i="0" dirty="0">
                <a:solidFill>
                  <a:schemeClr val="tx1"/>
                </a:solidFill>
                <a:effectLst/>
                <a:latin typeface="+mn-lt"/>
              </a:rPr>
              <a:t>STREME proceeds from candidate sequence words toward a more flexible motif representation:</a:t>
            </a:r>
          </a:p>
          <a:p>
            <a:pPr indent="0" algn="l">
              <a:buNone/>
            </a:pPr>
            <a:endParaRPr lang="en-IT" sz="1800" b="0" i="0" dirty="0">
              <a:solidFill>
                <a:schemeClr val="tx1"/>
              </a:solidFill>
              <a:effectLst/>
              <a:latin typeface="+mn-lt"/>
            </a:endParaRPr>
          </a:p>
          <a:p>
            <a:pPr marL="342900" lvl="0" indent="-342900" algn="l">
              <a:buFont typeface="+mj-lt"/>
              <a:buAutoNum type="arabicPeriod"/>
            </a:pPr>
            <a:r>
              <a:rPr lang="en-IT" sz="1800" b="1" i="0" dirty="0">
                <a:solidFill>
                  <a:schemeClr val="tx1"/>
                </a:solidFill>
                <a:effectLst/>
                <a:latin typeface="+mn-lt"/>
              </a:rPr>
              <a:t>Find promising seed words.</a:t>
            </a:r>
            <a:r>
              <a:rPr lang="en-IT" sz="1800" b="0" i="0" dirty="0">
                <a:solidFill>
                  <a:schemeClr val="tx1"/>
                </a:solidFill>
                <a:effectLst/>
                <a:latin typeface="+mn-lt"/>
              </a:rPr>
              <a:t> Short words enriched in the primary sequences relative to the controls provide starting points.</a:t>
            </a:r>
          </a:p>
          <a:p>
            <a:pPr marL="342900" lvl="0" indent="-342900" algn="l">
              <a:buFont typeface="+mj-lt"/>
              <a:buAutoNum type="arabicPeriod"/>
            </a:pPr>
            <a:r>
              <a:rPr lang="en-IT" sz="1800" b="1" i="0" dirty="0">
                <a:solidFill>
                  <a:schemeClr val="tx1"/>
                </a:solidFill>
                <a:effectLst/>
                <a:latin typeface="+mn-lt"/>
              </a:rPr>
              <a:t>Refine the motif.</a:t>
            </a:r>
            <a:r>
              <a:rPr lang="en-IT" sz="1800" b="0" i="0" dirty="0">
                <a:solidFill>
                  <a:schemeClr val="tx1"/>
                </a:solidFill>
                <a:effectLst/>
                <a:latin typeface="+mn-lt"/>
              </a:rPr>
              <a:t> Similar sequence occurrences are collected and used to improve the model.</a:t>
            </a:r>
          </a:p>
          <a:p>
            <a:pPr marL="342900" lvl="0" indent="-342900" algn="l">
              <a:buFont typeface="+mj-lt"/>
              <a:buAutoNum type="arabicPeriod"/>
            </a:pPr>
            <a:r>
              <a:rPr lang="en-IT" sz="1800" b="1" i="0" dirty="0">
                <a:solidFill>
                  <a:schemeClr val="tx1"/>
                </a:solidFill>
                <a:effectLst/>
                <a:latin typeface="+mn-lt"/>
              </a:rPr>
              <a:t>Represent the motif as a position-weight matrix (PWM).</a:t>
            </a:r>
            <a:r>
              <a:rPr lang="en-IT" sz="1800" b="0" i="0" dirty="0">
                <a:solidFill>
                  <a:schemeClr val="tx1"/>
                </a:solidFill>
                <a:effectLst/>
                <a:latin typeface="+mn-lt"/>
              </a:rPr>
              <a:t> Each position stores the preference for A, C, G and T rather than requiring one exact sequence.</a:t>
            </a:r>
          </a:p>
          <a:p>
            <a:pPr marL="342900" lvl="0" indent="-342900" algn="l">
              <a:buFont typeface="+mj-lt"/>
              <a:buAutoNum type="arabicPeriod"/>
            </a:pPr>
            <a:r>
              <a:rPr lang="en-IT" sz="1800" b="1" i="0" dirty="0">
                <a:solidFill>
                  <a:schemeClr val="tx1"/>
                </a:solidFill>
                <a:effectLst/>
                <a:latin typeface="+mn-lt"/>
              </a:rPr>
              <a:t>Search both DNA strands.</a:t>
            </a:r>
            <a:r>
              <a:rPr lang="en-IT" sz="1800" b="0" i="0" dirty="0">
                <a:solidFill>
                  <a:schemeClr val="tx1"/>
                </a:solidFill>
                <a:effectLst/>
                <a:latin typeface="+mn-lt"/>
              </a:rPr>
              <a:t> A DNA-binding site may occur in either orientation, so the reverse complement is considered automatically for DNA.</a:t>
            </a:r>
          </a:p>
          <a:p>
            <a:pPr marL="342900" lvl="0" indent="-342900" algn="l">
              <a:buFont typeface="+mj-lt"/>
              <a:buAutoNum type="arabicPeriod"/>
            </a:pPr>
            <a:r>
              <a:rPr lang="en-IT" sz="1800" b="1" i="0" dirty="0">
                <a:solidFill>
                  <a:schemeClr val="tx1"/>
                </a:solidFill>
                <a:effectLst/>
                <a:latin typeface="+mn-lt"/>
              </a:rPr>
              <a:t>Evaluate enrichment.</a:t>
            </a:r>
            <a:r>
              <a:rPr lang="en-IT" sz="1800" b="0" i="0" dirty="0">
                <a:solidFill>
                  <a:schemeClr val="tx1"/>
                </a:solidFill>
                <a:effectLst/>
                <a:latin typeface="+mn-lt"/>
              </a:rPr>
              <a:t> STREME asks whether sequences containing good matches to the motif are more frequent in the primary set than in the control set.</a:t>
            </a:r>
          </a:p>
          <a:p>
            <a:pPr marL="342900" lvl="0" indent="-342900" algn="l">
              <a:buFont typeface="+mj-lt"/>
              <a:buAutoNum type="arabicPeriod"/>
            </a:pPr>
            <a:r>
              <a:rPr lang="en-IT" sz="1800" b="1" i="0" dirty="0">
                <a:solidFill>
                  <a:schemeClr val="tx1"/>
                </a:solidFill>
                <a:effectLst/>
                <a:latin typeface="+mn-lt"/>
              </a:rPr>
              <a:t>Continue searching.</a:t>
            </a:r>
            <a:r>
              <a:rPr lang="en-IT" sz="1800" b="0" i="0" dirty="0">
                <a:solidFill>
                  <a:schemeClr val="tx1"/>
                </a:solidFill>
                <a:effectLst/>
                <a:latin typeface="+mn-lt"/>
              </a:rPr>
              <a:t> After a motif is found, its strongest sites are masked/erased and STREME can search for additional motifs in the remaining sequence information.</a:t>
            </a:r>
          </a:p>
        </p:txBody>
      </p:sp>
      <p:sp>
        <p:nvSpPr>
          <p:cNvPr id="9" name="TextBox 8">
            <a:extLst>
              <a:ext uri="{FF2B5EF4-FFF2-40B4-BE49-F238E27FC236}">
                <a16:creationId xmlns:a16="http://schemas.microsoft.com/office/drawing/2014/main" id="{A317D3F3-8335-815E-A35D-67889975DC49}"/>
              </a:ext>
            </a:extLst>
          </p:cNvPr>
          <p:cNvSpPr txBox="1"/>
          <p:nvPr/>
        </p:nvSpPr>
        <p:spPr>
          <a:xfrm>
            <a:off x="0" y="0"/>
            <a:ext cx="12192000" cy="523220"/>
          </a:xfrm>
          <a:prstGeom prst="rect">
            <a:avLst/>
          </a:prstGeom>
          <a:noFill/>
        </p:spPr>
        <p:txBody>
          <a:bodyPr wrap="square">
            <a:spAutoFit/>
          </a:bodyPr>
          <a:lstStyle/>
          <a:p>
            <a:r>
              <a:rPr lang="en-IT" sz="2800" b="1" dirty="0"/>
              <a:t>De novo motif discovery with STREME</a:t>
            </a:r>
          </a:p>
        </p:txBody>
      </p:sp>
      <p:pic>
        <p:nvPicPr>
          <p:cNvPr id="10" name="Picture 9">
            <a:extLst>
              <a:ext uri="{FF2B5EF4-FFF2-40B4-BE49-F238E27FC236}">
                <a16:creationId xmlns:a16="http://schemas.microsoft.com/office/drawing/2014/main" id="{AA25F026-C01E-756A-660E-98905C3D3CCA}"/>
              </a:ext>
            </a:extLst>
          </p:cNvPr>
          <p:cNvPicPr>
            <a:picLocks noChangeAspect="1"/>
          </p:cNvPicPr>
          <p:nvPr/>
        </p:nvPicPr>
        <p:blipFill>
          <a:blip r:embed="rId2"/>
          <a:stretch>
            <a:fillRect/>
          </a:stretch>
        </p:blipFill>
        <p:spPr>
          <a:xfrm>
            <a:off x="6964680" y="0"/>
            <a:ext cx="5227320" cy="1471924"/>
          </a:xfrm>
          <a:prstGeom prst="rect">
            <a:avLst/>
          </a:prstGeom>
          <a:ln>
            <a:solidFill>
              <a:schemeClr val="tx1"/>
            </a:solidFill>
          </a:ln>
        </p:spPr>
      </p:pic>
    </p:spTree>
    <p:extLst>
      <p:ext uri="{BB962C8B-B14F-4D97-AF65-F5344CB8AC3E}">
        <p14:creationId xmlns:p14="http://schemas.microsoft.com/office/powerpoint/2010/main" val="3666508007"/>
      </p:ext>
    </p:extLst>
  </p:cSld>
  <p:clrMapOvr>
    <a:masterClrMapping/>
  </p:clrMapOvr>
</p:sld>
</file>

<file path=ppt/theme/theme1.xml><?xml version="1.0" encoding="utf-8"?>
<a:theme xmlns:a="http://schemas.openxmlformats.org/drawingml/2006/main" name="Office 2013 - 2022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1271</TotalTime>
  <Words>1573</Words>
  <Application>Microsoft Macintosh PowerPoint</Application>
  <PresentationFormat>Widescreen</PresentationFormat>
  <Paragraphs>273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Courier New</vt:lpstr>
      <vt:lpstr>Gill Sans</vt:lpstr>
      <vt:lpstr>Gill Sans MT</vt:lpstr>
      <vt:lpstr>Source Sans Pro</vt:lpstr>
      <vt:lpstr>Office 2013 - 2022 Theme</vt:lpstr>
      <vt:lpstr>Reproducible NGS Data Analysis on Personal Laptops</vt:lpstr>
      <vt:lpstr>PowerPoint Presentation</vt:lpstr>
      <vt:lpstr>RECAP: DAY1 – DAY2 – DAY3</vt:lpstr>
      <vt:lpstr>DAY3/4 Workflow:</vt:lpstr>
      <vt:lpstr>Wet-lab protocol &gt; Bioinformatic analysis</vt:lpstr>
      <vt:lpstr>ChIP-seq specific QCs:  PhantomPeak check:</vt:lpstr>
      <vt:lpstr>MACS3: from aligned fragments to ChIP enrichment</vt:lpstr>
      <vt:lpstr>Control condition and Control-free peak calling:</vt:lpstr>
      <vt:lpstr>Post-peak quality control</vt:lpstr>
      <vt:lpstr>IDR: reproducibility of ranked peak calls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Gualdrini Francesco</dc:creator>
  <cp:lastModifiedBy>Gualdrini Francesco</cp:lastModifiedBy>
  <cp:revision>190</cp:revision>
  <dcterms:created xsi:type="dcterms:W3CDTF">2026-09-11T06:59:50Z</dcterms:created>
  <dcterms:modified xsi:type="dcterms:W3CDTF">2026-10-08T15:57:06Z</dcterms:modified>
</cp:coreProperties>
</file>