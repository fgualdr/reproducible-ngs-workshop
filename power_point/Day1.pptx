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84" r:id="rId1"/>
  </p:sldMasterIdLst>
  <p:notesMasterIdLst>
    <p:notesMasterId r:id="rId41"/>
  </p:notesMasterIdLst>
  <p:sldIdLst>
    <p:sldId id="256" r:id="rId2"/>
    <p:sldId id="257" r:id="rId3"/>
    <p:sldId id="289" r:id="rId4"/>
    <p:sldId id="290" r:id="rId5"/>
    <p:sldId id="258" r:id="rId6"/>
    <p:sldId id="259" r:id="rId7"/>
    <p:sldId id="260" r:id="rId8"/>
    <p:sldId id="262" r:id="rId9"/>
    <p:sldId id="263" r:id="rId10"/>
    <p:sldId id="282" r:id="rId11"/>
    <p:sldId id="261" r:id="rId12"/>
    <p:sldId id="265" r:id="rId13"/>
    <p:sldId id="266" r:id="rId14"/>
    <p:sldId id="264" r:id="rId15"/>
    <p:sldId id="283" r:id="rId16"/>
    <p:sldId id="267" r:id="rId17"/>
    <p:sldId id="268" r:id="rId18"/>
    <p:sldId id="272" r:id="rId19"/>
    <p:sldId id="273" r:id="rId20"/>
    <p:sldId id="284" r:id="rId21"/>
    <p:sldId id="294" r:id="rId22"/>
    <p:sldId id="269" r:id="rId23"/>
    <p:sldId id="270" r:id="rId24"/>
    <p:sldId id="271" r:id="rId25"/>
    <p:sldId id="274" r:id="rId26"/>
    <p:sldId id="275" r:id="rId27"/>
    <p:sldId id="276" r:id="rId28"/>
    <p:sldId id="278" r:id="rId29"/>
    <p:sldId id="281" r:id="rId30"/>
    <p:sldId id="295" r:id="rId31"/>
    <p:sldId id="293" r:id="rId32"/>
    <p:sldId id="279" r:id="rId33"/>
    <p:sldId id="280" r:id="rId34"/>
    <p:sldId id="285" r:id="rId35"/>
    <p:sldId id="292" r:id="rId36"/>
    <p:sldId id="288" r:id="rId37"/>
    <p:sldId id="291" r:id="rId38"/>
    <p:sldId id="286" r:id="rId39"/>
    <p:sldId id="287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2A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24"/>
    <p:restoredTop sz="94689"/>
  </p:normalViewPr>
  <p:slideViewPr>
    <p:cSldViewPr snapToGrid="0">
      <p:cViewPr varScale="1">
        <p:scale>
          <a:sx n="127" d="100"/>
          <a:sy n="127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06BF8C-4158-F342-8216-E1A8A29CF1BB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5500A-D261-DC43-897E-19B59BA221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488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5500A-D261-DC43-897E-19B59BA2217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782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96E4B-6C64-E643-9A0A-AB5E13C2F5FA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893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33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ECE03-5904-2640-B404-A3FEAB598526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360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6A-96B1-BD4E-91A6-BD8913D3E1E1}" type="datetime1">
              <a:rPr lang="it-IT" smtClean="0"/>
              <a:t>21/09/26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284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CEE35-98CA-3449-A912-39DDE1219E25}" type="datetime1">
              <a:rPr lang="it-IT" smtClean="0"/>
              <a:t>21/09/26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544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3B74D-CC1D-D544-8CB0-DB12C3D1744A}" type="datetime1">
              <a:rPr lang="it-IT" smtClean="0"/>
              <a:t>21/09/26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3475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98775-032D-C849-B9B0-C1D11ED802C1}" type="datetime1">
              <a:rPr lang="it-IT" smtClean="0"/>
              <a:t>21/09/26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4839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5ADB-7CE0-804E-9C85-40A519507F1A}" type="datetime1">
              <a:rPr lang="it-IT" smtClean="0"/>
              <a:t>21/09/26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5161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4C8A3-CA6B-DB4B-8A18-5294010BD3CB}" type="datetime1">
              <a:rPr lang="it-IT" smtClean="0"/>
              <a:t>21/09/26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50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09858-3BFB-DA41-A1A7-0A2A32E9793F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900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458F-C659-9242-908F-36A06BB8B093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017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470" y="122282"/>
            <a:ext cx="12192000" cy="519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8929" y="956048"/>
            <a:ext cx="11192435" cy="5086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1503F-4B7A-6348-924A-FFD23680AA8F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021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Francesco.Gualdrini@gmai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ature.com/articles/s41467-023-42364-6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OUR_USERNAME/workshop_ng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cbi.nlm.nih.gov/datasets/genome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knowledge.illumina.com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bi.ac.uk/ena/browser/home" TargetMode="External"/><Relationship Id="rId2" Type="http://schemas.openxmlformats.org/officeDocument/2006/relationships/hyperlink" Target="https://www.ncbi.nlm.nih.gov/geo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ebi.ac.uk/biostudies/ArrayExpress/studies/E-MTAB-13026?query=E-MTAB-13026" TargetMode="External"/><Relationship Id="rId4" Type="http://schemas.openxmlformats.org/officeDocument/2006/relationships/hyperlink" Target="https://www.ebi.ac.uk/biostudies/ArrayExpress/studies/E-MTAB-13025?query=E-MTAB-13025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gene/fastp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92747-DC33-217F-1565-FF97054DED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T" dirty="0"/>
              <a:t>Reproducible NGS Data Analysis on Personal Laptops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FE03A-9F62-3B7F-B9C2-05F885B63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D085-7898-BE4F-A67D-B59B606A6206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9AE5A-44AD-824B-FEE4-42D719C2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8CCC8-4672-8B3D-3D7A-7B9695FBD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000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C5B6F-C051-6CF7-6EE3-7430A2CE1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Workshop agenda: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CA4B9-4791-0D65-589A-2434C1ED6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730E4-1E99-1D48-A8E4-52FD9285B379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4AC01-E672-EE32-10EB-1C57EE4FD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9D027-CDE8-9172-CF07-E53CE7B5F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1</a:t>
            </a:fld>
            <a:endParaRPr lang="en-GB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3B373B87-769E-E5C8-EEB2-FCB83B9F30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0533836"/>
              </p:ext>
            </p:extLst>
          </p:nvPr>
        </p:nvGraphicFramePr>
        <p:xfrm>
          <a:off x="1282541" y="878902"/>
          <a:ext cx="9481537" cy="4418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490">
                  <a:extLst>
                    <a:ext uri="{9D8B030D-6E8A-4147-A177-3AD203B41FA5}">
                      <a16:colId xmlns:a16="http://schemas.microsoft.com/office/drawing/2014/main" val="47038831"/>
                    </a:ext>
                  </a:extLst>
                </a:gridCol>
                <a:gridCol w="3505543">
                  <a:extLst>
                    <a:ext uri="{9D8B030D-6E8A-4147-A177-3AD203B41FA5}">
                      <a16:colId xmlns:a16="http://schemas.microsoft.com/office/drawing/2014/main" val="1309235333"/>
                    </a:ext>
                  </a:extLst>
                </a:gridCol>
                <a:gridCol w="3672979">
                  <a:extLst>
                    <a:ext uri="{9D8B030D-6E8A-4147-A177-3AD203B41FA5}">
                      <a16:colId xmlns:a16="http://schemas.microsoft.com/office/drawing/2014/main" val="4061967126"/>
                    </a:ext>
                  </a:extLst>
                </a:gridCol>
                <a:gridCol w="1306525">
                  <a:extLst>
                    <a:ext uri="{9D8B030D-6E8A-4147-A177-3AD203B41FA5}">
                      <a16:colId xmlns:a16="http://schemas.microsoft.com/office/drawing/2014/main" val="322285171"/>
                    </a:ext>
                  </a:extLst>
                </a:gridCol>
              </a:tblGrid>
              <a:tr h="640773">
                <a:tc>
                  <a:txBody>
                    <a:bodyPr/>
                    <a:lstStyle/>
                    <a:p>
                      <a:r>
                        <a:rPr lang="en-GB" sz="1600" dirty="0"/>
                        <a:t>Day</a:t>
                      </a:r>
                    </a:p>
                  </a:txBody>
                  <a:tcPr marL="122301" marR="122301" marT="61150" marB="61150"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Main objective</a:t>
                      </a:r>
                    </a:p>
                  </a:txBody>
                  <a:tcPr marL="122301" marR="122301" marT="61150" marB="61150"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Main outputs</a:t>
                      </a:r>
                    </a:p>
                  </a:txBody>
                  <a:tcPr marL="122301" marR="122301" marT="61150" marB="61150"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DATE</a:t>
                      </a:r>
                    </a:p>
                  </a:txBody>
                  <a:tcPr marL="122301" marR="122301" marT="61150" marB="61150" anchor="ctr"/>
                </a:tc>
                <a:extLst>
                  <a:ext uri="{0D108BD9-81ED-4DB2-BD59-A6C34878D82A}">
                    <a16:rowId xmlns:a16="http://schemas.microsoft.com/office/drawing/2014/main" val="3127746534"/>
                  </a:ext>
                </a:extLst>
              </a:tr>
              <a:tr h="787644">
                <a:tc>
                  <a:txBody>
                    <a:bodyPr/>
                    <a:lstStyle/>
                    <a:p>
                      <a:r>
                        <a:rPr lang="en-GB" sz="1600" dirty="0"/>
                        <a:t>Day 0</a:t>
                      </a:r>
                    </a:p>
                  </a:txBody>
                  <a:tcPr marL="122301" marR="122301" marT="61150" marB="61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T" sz="1600" dirty="0"/>
                        <a:t>Set up the computational environment</a:t>
                      </a:r>
                    </a:p>
                  </a:txBody>
                  <a:tcPr marL="122301" marR="122301" marT="61150" marB="61150" anchor="ctr"/>
                </a:tc>
                <a:tc>
                  <a:txBody>
                    <a:bodyPr/>
                    <a:lstStyle/>
                    <a:p>
                      <a:r>
                        <a:rPr lang="en-IT" sz="1600" dirty="0"/>
                        <a:t>VS Code, Git, Docker, IGV, …</a:t>
                      </a:r>
                      <a:endParaRPr lang="en-GB" sz="1600" dirty="0"/>
                    </a:p>
                  </a:txBody>
                  <a:tcPr marL="122301" marR="122301" marT="61150" marB="61150"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-</a:t>
                      </a:r>
                    </a:p>
                  </a:txBody>
                  <a:tcPr marL="122301" marR="122301" marT="61150" marB="61150" anchor="ctr"/>
                </a:tc>
                <a:extLst>
                  <a:ext uri="{0D108BD9-81ED-4DB2-BD59-A6C34878D82A}">
                    <a16:rowId xmlns:a16="http://schemas.microsoft.com/office/drawing/2014/main" val="498775016"/>
                  </a:ext>
                </a:extLst>
              </a:tr>
              <a:tr h="787644">
                <a:tc>
                  <a:txBody>
                    <a:bodyPr/>
                    <a:lstStyle/>
                    <a:p>
                      <a:r>
                        <a:rPr lang="en-GB" sz="1600" dirty="0"/>
                        <a:t>Day 1</a:t>
                      </a:r>
                    </a:p>
                  </a:txBody>
                  <a:tcPr marL="122301" marR="122301" marT="61150" marB="61150" anchor="ctr"/>
                </a:tc>
                <a:tc>
                  <a:txBody>
                    <a:bodyPr/>
                    <a:lstStyle/>
                    <a:p>
                      <a:r>
                        <a:rPr lang="en-IT" sz="1600" dirty="0"/>
                        <a:t>Build a reproducible project, retrieve inputs data, get ready!</a:t>
                      </a:r>
                      <a:endParaRPr lang="en-GB" sz="1600" dirty="0"/>
                    </a:p>
                  </a:txBody>
                  <a:tcPr marL="122301" marR="122301" marT="61150" marB="61150" anchor="ctr"/>
                </a:tc>
                <a:tc>
                  <a:txBody>
                    <a:bodyPr/>
                    <a:lstStyle/>
                    <a:p>
                      <a:r>
                        <a:rPr lang="en-IT" sz="1600" dirty="0"/>
                        <a:t>Metadata, reference genome, annotation, processed FASTQ</a:t>
                      </a:r>
                      <a:endParaRPr lang="en-GB" sz="1600" dirty="0"/>
                    </a:p>
                  </a:txBody>
                  <a:tcPr marL="122301" marR="122301" marT="61150" marB="611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18 Sep 2026</a:t>
                      </a:r>
                    </a:p>
                    <a:p>
                      <a:endParaRPr lang="en-GB" sz="1600" dirty="0"/>
                    </a:p>
                  </a:txBody>
                  <a:tcPr marL="122301" marR="122301" marT="61150" marB="61150" anchor="ctr"/>
                </a:tc>
                <a:extLst>
                  <a:ext uri="{0D108BD9-81ED-4DB2-BD59-A6C34878D82A}">
                    <a16:rowId xmlns:a16="http://schemas.microsoft.com/office/drawing/2014/main" val="3765601108"/>
                  </a:ext>
                </a:extLst>
              </a:tr>
              <a:tr h="780910">
                <a:tc>
                  <a:txBody>
                    <a:bodyPr/>
                    <a:lstStyle/>
                    <a:p>
                      <a:r>
                        <a:rPr lang="en-GB" sz="1600" dirty="0"/>
                        <a:t>Day 2</a:t>
                      </a:r>
                    </a:p>
                  </a:txBody>
                  <a:tcPr marL="122301" marR="122301" marT="61150" marB="61150" anchor="ctr"/>
                </a:tc>
                <a:tc>
                  <a:txBody>
                    <a:bodyPr/>
                    <a:lstStyle/>
                    <a:p>
                      <a:r>
                        <a:rPr lang="en-IT" sz="1600" dirty="0"/>
                        <a:t>RNA-seq analysis</a:t>
                      </a:r>
                      <a:endParaRPr lang="en-GB" sz="1600" dirty="0"/>
                    </a:p>
                  </a:txBody>
                  <a:tcPr marL="122301" marR="122301" marT="61150" marB="61150" anchor="ctr"/>
                </a:tc>
                <a:tc>
                  <a:txBody>
                    <a:bodyPr/>
                    <a:lstStyle/>
                    <a:p>
                      <a:r>
                        <a:rPr lang="en-IT" sz="1600" dirty="0"/>
                        <a:t>BAM files, gene counts, differential expression</a:t>
                      </a:r>
                      <a:endParaRPr lang="en-GB" sz="1600" dirty="0"/>
                    </a:p>
                  </a:txBody>
                  <a:tcPr marL="122301" marR="122301" marT="61150" marB="611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25 Sep 2026</a:t>
                      </a:r>
                    </a:p>
                    <a:p>
                      <a:endParaRPr lang="en-GB" sz="1600" dirty="0"/>
                    </a:p>
                  </a:txBody>
                  <a:tcPr marL="122301" marR="122301" marT="61150" marB="61150" anchor="ctr"/>
                </a:tc>
                <a:extLst>
                  <a:ext uri="{0D108BD9-81ED-4DB2-BD59-A6C34878D82A}">
                    <a16:rowId xmlns:a16="http://schemas.microsoft.com/office/drawing/2014/main" val="705589543"/>
                  </a:ext>
                </a:extLst>
              </a:tr>
              <a:tr h="640773">
                <a:tc>
                  <a:txBody>
                    <a:bodyPr/>
                    <a:lstStyle/>
                    <a:p>
                      <a:r>
                        <a:rPr lang="en-GB" sz="1600" dirty="0"/>
                        <a:t>Day 3</a:t>
                      </a:r>
                    </a:p>
                  </a:txBody>
                  <a:tcPr marL="122301" marR="122301" marT="61150" marB="61150" anchor="ctr"/>
                </a:tc>
                <a:tc>
                  <a:txBody>
                    <a:bodyPr/>
                    <a:lstStyle/>
                    <a:p>
                      <a:r>
                        <a:rPr lang="en-IT" sz="1600" dirty="0"/>
                        <a:t>ChIP-seq analysis</a:t>
                      </a:r>
                      <a:endParaRPr lang="en-GB" sz="1600" dirty="0"/>
                    </a:p>
                  </a:txBody>
                  <a:tcPr marL="122301" marR="122301" marT="61150" marB="61150" anchor="ctr"/>
                </a:tc>
                <a:tc>
                  <a:txBody>
                    <a:bodyPr/>
                    <a:lstStyle/>
                    <a:p>
                      <a:r>
                        <a:rPr lang="en-IT" sz="1600" dirty="0"/>
                        <a:t>BAM files, bigWig tracks, peaks, motifs</a:t>
                      </a:r>
                      <a:endParaRPr lang="en-GB" sz="1600" dirty="0"/>
                    </a:p>
                  </a:txBody>
                  <a:tcPr marL="122301" marR="122301" marT="61150" marB="611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09 Oct 2026</a:t>
                      </a:r>
                    </a:p>
                    <a:p>
                      <a:endParaRPr lang="en-GB" sz="1600" dirty="0"/>
                    </a:p>
                  </a:txBody>
                  <a:tcPr marL="122301" marR="122301" marT="61150" marB="61150" anchor="ctr"/>
                </a:tc>
                <a:extLst>
                  <a:ext uri="{0D108BD9-81ED-4DB2-BD59-A6C34878D82A}">
                    <a16:rowId xmlns:a16="http://schemas.microsoft.com/office/drawing/2014/main" val="2612861216"/>
                  </a:ext>
                </a:extLst>
              </a:tr>
              <a:tr h="780910">
                <a:tc>
                  <a:txBody>
                    <a:bodyPr/>
                    <a:lstStyle/>
                    <a:p>
                      <a:r>
                        <a:rPr lang="en-GB" sz="1600" dirty="0"/>
                        <a:t>Day 4</a:t>
                      </a:r>
                    </a:p>
                  </a:txBody>
                  <a:tcPr marL="122301" marR="122301" marT="61150" marB="61150" anchor="ctr"/>
                </a:tc>
                <a:tc>
                  <a:txBody>
                    <a:bodyPr/>
                    <a:lstStyle/>
                    <a:p>
                      <a:r>
                        <a:rPr lang="en-IT" sz="1600" dirty="0"/>
                        <a:t>Basic Integration: RNA-seq and ChIP-seq</a:t>
                      </a:r>
                      <a:endParaRPr lang="en-GB" sz="1600" dirty="0"/>
                    </a:p>
                  </a:txBody>
                  <a:tcPr marL="122301" marR="122301" marT="61150" marB="61150" anchor="ctr"/>
                </a:tc>
                <a:tc>
                  <a:txBody>
                    <a:bodyPr/>
                    <a:lstStyle/>
                    <a:p>
                      <a:r>
                        <a:rPr lang="en-IT" sz="1600" dirty="0"/>
                        <a:t>Candidate regulatory relationships and genomic interpretation</a:t>
                      </a:r>
                      <a:endParaRPr lang="en-GB" sz="1600" dirty="0"/>
                    </a:p>
                  </a:txBody>
                  <a:tcPr marL="122301" marR="122301" marT="61150" marB="61150"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16 Oct 2026</a:t>
                      </a:r>
                    </a:p>
                  </a:txBody>
                  <a:tcPr marL="122301" marR="122301" marT="61150" marB="61150" anchor="ctr"/>
                </a:tc>
                <a:extLst>
                  <a:ext uri="{0D108BD9-81ED-4DB2-BD59-A6C34878D82A}">
                    <a16:rowId xmlns:a16="http://schemas.microsoft.com/office/drawing/2014/main" val="18477544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C0D7DF3-0AE9-4FB2-7AF0-7420AF8896E8}"/>
              </a:ext>
            </a:extLst>
          </p:cNvPr>
          <p:cNvSpPr txBox="1"/>
          <p:nvPr/>
        </p:nvSpPr>
        <p:spPr>
          <a:xfrm>
            <a:off x="1282541" y="5642287"/>
            <a:ext cx="3522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@: </a:t>
            </a:r>
            <a:r>
              <a:rPr lang="en-GB" dirty="0">
                <a:hlinkClick r:id="rId2"/>
              </a:rPr>
              <a:t>Francesco.Gualdrini@gmail.com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3114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AD8DE-34F1-B6C8-6DB4-8A51721F1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800" dirty="0"/>
              <a:t>DAY 01</a:t>
            </a:r>
          </a:p>
          <a:p>
            <a:pPr marL="0" indent="0" algn="ctr">
              <a:buNone/>
            </a:pPr>
            <a:endParaRPr lang="en-GB" sz="4800" dirty="0"/>
          </a:p>
          <a:p>
            <a:pPr marL="0" indent="0" algn="ctr">
              <a:buNone/>
            </a:pPr>
            <a:r>
              <a:rPr lang="en-IT" sz="4800" dirty="0"/>
              <a:t>Reproducible and portable </a:t>
            </a:r>
          </a:p>
          <a:p>
            <a:pPr marL="0" indent="0" algn="ctr">
              <a:buNone/>
            </a:pPr>
            <a:r>
              <a:rPr lang="en-IT" sz="4800" dirty="0"/>
              <a:t>settings</a:t>
            </a:r>
            <a:endParaRPr lang="en-GB" sz="4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8FE0-0E6C-AA8E-E01E-FF55BEC0A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D4A82-CBA4-6A08-3BEB-B236992F3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036FD-A9A0-FFF6-C5E7-ACE8589DF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0877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CF129-465B-0E4F-9FEB-045F9B66B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998ED-B826-7CDE-F5F8-A4BD1BF9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1A29A-2280-3B28-FB79-2B7B3B5E2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3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30AE37-CE33-C412-365C-AF77EF3A71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98"/>
          <a:stretch>
            <a:fillRect/>
          </a:stretch>
        </p:blipFill>
        <p:spPr>
          <a:xfrm>
            <a:off x="127658" y="560438"/>
            <a:ext cx="5781757" cy="57371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021C14-C3D5-3F9F-FEE6-B9BEB162AA79}"/>
              </a:ext>
            </a:extLst>
          </p:cNvPr>
          <p:cNvSpPr txBox="1"/>
          <p:nvPr/>
        </p:nvSpPr>
        <p:spPr>
          <a:xfrm>
            <a:off x="6282586" y="519075"/>
            <a:ext cx="49298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1600" b="1" i="1" dirty="0"/>
              <a:t>Next-generation sequencing (NGS) </a:t>
            </a:r>
            <a:r>
              <a:rPr lang="en-IT" sz="1600" i="1" dirty="0"/>
              <a:t>is a high-throughput technology that turns nucleic acid samples into digital nucleotide sequence text files</a:t>
            </a:r>
            <a:endParaRPr lang="en-GB" sz="16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873FFE-6D59-CC8D-251A-0327D6C0D7D7}"/>
              </a:ext>
            </a:extLst>
          </p:cNvPr>
          <p:cNvSpPr txBox="1"/>
          <p:nvPr/>
        </p:nvSpPr>
        <p:spPr>
          <a:xfrm>
            <a:off x="6712973" y="1539825"/>
            <a:ext cx="415690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i="1" dirty="0">
                <a:solidFill>
                  <a:schemeClr val="bg1">
                    <a:lumMod val="50000"/>
                  </a:schemeClr>
                </a:solidFill>
              </a:rPr>
              <a:t>https://</a:t>
            </a:r>
            <a:r>
              <a:rPr lang="en-GB" sz="1050" i="1" dirty="0" err="1">
                <a:solidFill>
                  <a:schemeClr val="bg1">
                    <a:lumMod val="50000"/>
                  </a:schemeClr>
                </a:solidFill>
              </a:rPr>
              <a:t>firegene.com</a:t>
            </a:r>
            <a:r>
              <a:rPr lang="en-GB" sz="1050" i="1" dirty="0">
                <a:solidFill>
                  <a:schemeClr val="bg1">
                    <a:lumMod val="50000"/>
                  </a:schemeClr>
                </a:solidFill>
              </a:rPr>
              <a:t>/blogs/news/</a:t>
            </a:r>
            <a:r>
              <a:rPr lang="en-GB" sz="1050" i="1" dirty="0" err="1">
                <a:solidFill>
                  <a:schemeClr val="bg1">
                    <a:lumMod val="50000"/>
                  </a:schemeClr>
                </a:solidFill>
              </a:rPr>
              <a:t>ngs</a:t>
            </a:r>
            <a:r>
              <a:rPr lang="en-GB" sz="1050" i="1" dirty="0">
                <a:solidFill>
                  <a:schemeClr val="bg1">
                    <a:lumMod val="50000"/>
                  </a:schemeClr>
                </a:solidFill>
              </a:rPr>
              <a:t>-workflow-steps-next-generation-sequencing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9B2003-D498-3A49-5DBD-D49E0C216E3D}"/>
              </a:ext>
            </a:extLst>
          </p:cNvPr>
          <p:cNvSpPr txBox="1"/>
          <p:nvPr/>
        </p:nvSpPr>
        <p:spPr>
          <a:xfrm>
            <a:off x="6119831" y="2029928"/>
            <a:ext cx="5618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i="1" dirty="0"/>
              <a:t>Reference based NGS analysis </a:t>
            </a:r>
            <a:r>
              <a:rPr lang="en-GB" sz="1600" i="1" dirty="0"/>
              <a:t>is </a:t>
            </a:r>
            <a:r>
              <a:rPr lang="en-IT" sz="1600" i="1" dirty="0"/>
              <a:t>a bioinformatics method where newly sequenced DNA or RNA seuquences (reads) are aligned and compared to an existing reference genome ( or transcriptome 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64B8D1-2BC3-CF41-4798-9C9CE445252C}"/>
              </a:ext>
            </a:extLst>
          </p:cNvPr>
          <p:cNvSpPr txBox="1"/>
          <p:nvPr/>
        </p:nvSpPr>
        <p:spPr>
          <a:xfrm>
            <a:off x="5909415" y="3181216"/>
            <a:ext cx="3960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 study we will play with comes from: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ED164B-218C-2699-0EB4-38B8A2092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039" y="3609337"/>
            <a:ext cx="4063486" cy="19286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3B0068D-2E2B-3ABC-4A36-FF0F71938254}"/>
              </a:ext>
            </a:extLst>
          </p:cNvPr>
          <p:cNvSpPr txBox="1"/>
          <p:nvPr/>
        </p:nvSpPr>
        <p:spPr>
          <a:xfrm>
            <a:off x="6282586" y="5687019"/>
            <a:ext cx="45872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hlinkClick r:id="rId4"/>
              </a:rPr>
              <a:t>https://</a:t>
            </a:r>
            <a:r>
              <a:rPr lang="en-GB" sz="1600" dirty="0" err="1">
                <a:hlinkClick r:id="rId4"/>
              </a:rPr>
              <a:t>www.nature.com</a:t>
            </a:r>
            <a:r>
              <a:rPr lang="en-GB" sz="1600" dirty="0">
                <a:hlinkClick r:id="rId4"/>
              </a:rPr>
              <a:t>/articles/s41467-023-42364-6</a:t>
            </a:r>
            <a:endParaRPr lang="en-GB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FF0236-0EA6-5AAF-DAE3-889D51EABA23}"/>
              </a:ext>
            </a:extLst>
          </p:cNvPr>
          <p:cNvSpPr txBox="1"/>
          <p:nvPr/>
        </p:nvSpPr>
        <p:spPr>
          <a:xfrm>
            <a:off x="10052525" y="3576141"/>
            <a:ext cx="2004212" cy="1392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400" dirty="0">
                <a:solidFill>
                  <a:schemeClr val="accent1">
                    <a:lumMod val="75000"/>
                  </a:schemeClr>
                </a:solidFill>
              </a:rPr>
              <a:t>HP1021</a:t>
            </a:r>
            <a:r>
              <a:rPr lang="en-IT" sz="1400" dirty="0"/>
              <a:t>: atypical orphan response regulator and redox switch protein that controls responses to oxidative stress and cellular metabolism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9EC782-EFDE-02B5-AB5C-8C55D25D661F}"/>
              </a:ext>
            </a:extLst>
          </p:cNvPr>
          <p:cNvSpPr txBox="1"/>
          <p:nvPr/>
        </p:nvSpPr>
        <p:spPr>
          <a:xfrm>
            <a:off x="-1656" y="-19878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2400" b="1" dirty="0"/>
              <a:t>Next-generation sequencing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477094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26274-6779-AF62-D498-E3040231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Workshop objective: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B3908-44D7-56CD-AD9C-8B5870959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196221"/>
            <a:ext cx="10515600" cy="734695"/>
          </a:xfrm>
        </p:spPr>
        <p:txBody>
          <a:bodyPr>
            <a:normAutofit/>
          </a:bodyPr>
          <a:lstStyle/>
          <a:p>
            <a:r>
              <a:rPr lang="en-IT" sz="2000" dirty="0"/>
              <a:t>Howan NGS analysis is constructed as a sequence of </a:t>
            </a:r>
            <a:r>
              <a:rPr lang="en-IT" sz="2000" b="1" dirty="0"/>
              <a:t>data transformations</a:t>
            </a:r>
            <a:r>
              <a:rPr lang="en-IT" sz="2000" dirty="0"/>
              <a:t>, and how to make those transformations </a:t>
            </a:r>
            <a:r>
              <a:rPr lang="en-IT" sz="2000" b="1" dirty="0"/>
              <a:t>transparent and reproducible.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2D937-34C6-4E52-D72B-BB5CADD88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71298-0CC3-2A88-4C04-D5FA4A496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DA4C0-E713-DB7C-5572-871C9D59E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4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58F7E1-D629-E738-C74C-D228DCF2B762}"/>
              </a:ext>
            </a:extLst>
          </p:cNvPr>
          <p:cNvSpPr txBox="1"/>
          <p:nvPr/>
        </p:nvSpPr>
        <p:spPr>
          <a:xfrm>
            <a:off x="838198" y="2433455"/>
            <a:ext cx="105155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T" sz="2000" dirty="0"/>
              <a:t>What each analytical step does and why it is needed.</a:t>
            </a:r>
          </a:p>
          <a:p>
            <a:pPr>
              <a:buFont typeface="Wingdings" pitchFamily="2" charset="2"/>
              <a:buChar char="Ø"/>
            </a:pPr>
            <a:r>
              <a:rPr lang="en-IT" sz="2000" dirty="0"/>
              <a:t>Reference-based RNA-seq and ChIP-seq workflows starting from FASTQ files.</a:t>
            </a:r>
          </a:p>
          <a:p>
            <a:pPr>
              <a:buFont typeface="Wingdings" pitchFamily="2" charset="2"/>
              <a:buChar char="Ø"/>
            </a:pPr>
            <a:r>
              <a:rPr lang="en-IT" sz="2000" dirty="0"/>
              <a:t>Intermediate files and QC metrics instead of treating the workflow as a black box.</a:t>
            </a:r>
          </a:p>
          <a:p>
            <a:pPr>
              <a:buFont typeface="Wingdings" pitchFamily="2" charset="2"/>
              <a:buChar char="Ø"/>
            </a:pPr>
            <a:r>
              <a:rPr lang="en-IT" sz="2000" dirty="0"/>
              <a:t>Record the data, reference, code, parameters and software environment used to generate a result.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A122DB-A4A6-DE61-3986-3C8FA0101A4A}"/>
              </a:ext>
            </a:extLst>
          </p:cNvPr>
          <p:cNvSpPr txBox="1"/>
          <p:nvPr/>
        </p:nvSpPr>
        <p:spPr>
          <a:xfrm>
            <a:off x="838198" y="4384182"/>
            <a:ext cx="109595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i="1" dirty="0">
                <a:solidFill>
                  <a:schemeClr val="bg1">
                    <a:lumMod val="50000"/>
                  </a:schemeClr>
                </a:solidFill>
              </a:rPr>
              <a:t>Bioinformatics provides the computational methods used to process and analyse biological data. </a:t>
            </a:r>
          </a:p>
          <a:p>
            <a:r>
              <a:rPr lang="en-IT" i="1" dirty="0">
                <a:solidFill>
                  <a:schemeClr val="bg1">
                    <a:lumMod val="50000"/>
                  </a:schemeClr>
                </a:solidFill>
              </a:rPr>
              <a:t>Computational biology uses those data and methods to model and understand biological systems.</a:t>
            </a:r>
          </a:p>
          <a:p>
            <a:endParaRPr lang="en-IT" i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T" i="1" dirty="0">
                <a:solidFill>
                  <a:schemeClr val="bg1">
                    <a:lumMod val="50000"/>
                  </a:schemeClr>
                </a:solidFill>
              </a:rPr>
              <a:t>AI can assist code development and troubleshooting, but generated code still needs to be understood, tested and validated.</a:t>
            </a:r>
            <a:endParaRPr lang="en-GB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234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3520A-E033-3246-434C-56656DC78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Reproducibility in bioinformatics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7683F-3308-5C69-EB31-73C4528BF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4432"/>
            <a:ext cx="10515600" cy="524278"/>
          </a:xfrm>
        </p:spPr>
        <p:txBody>
          <a:bodyPr/>
          <a:lstStyle/>
          <a:p>
            <a:pPr marL="0" indent="0">
              <a:buNone/>
            </a:pPr>
            <a:r>
              <a:rPr lang="en-IT" dirty="0"/>
              <a:t>Results depends on more than the code alone!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EE3FB-9FCA-1246-2291-A05D6167E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06DCD-2FDF-83BB-C091-544D85D28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193EE-6821-FDB8-528C-8791E57B7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5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A31516-812F-6C25-4ED4-9659E736C46D}"/>
              </a:ext>
            </a:extLst>
          </p:cNvPr>
          <p:cNvSpPr txBox="1"/>
          <p:nvPr/>
        </p:nvSpPr>
        <p:spPr>
          <a:xfrm>
            <a:off x="900953" y="1981837"/>
            <a:ext cx="105155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T" sz="2100" i="1" dirty="0">
                <a:solidFill>
                  <a:schemeClr val="accent1">
                    <a:lumMod val="75000"/>
                  </a:schemeClr>
                </a:solidFill>
              </a:rPr>
              <a:t>Reproducible result = data provenance + reference + code and parameters + software environment​</a:t>
            </a:r>
            <a:endParaRPr lang="en-GB" sz="21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A28CD1-B4FE-A887-5F68-BD1A3867A35A}"/>
              </a:ext>
            </a:extLst>
          </p:cNvPr>
          <p:cNvSpPr txBox="1"/>
          <p:nvPr/>
        </p:nvSpPr>
        <p:spPr>
          <a:xfrm>
            <a:off x="838201" y="2767767"/>
            <a:ext cx="1051559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2400" dirty="0"/>
              <a:t>A bioinformatics result can change because we changed: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IT" sz="2400" i="1" dirty="0"/>
              <a:t>the samples or files; 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IT" sz="2400" i="1" dirty="0"/>
              <a:t>the genome assembly or annotation; 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IT" sz="2400" i="1" dirty="0"/>
              <a:t>the command or its parameters; 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IT" sz="2400" i="1" dirty="0"/>
              <a:t>the software version or dependencies.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7500B4-7960-79FD-F0F7-ECF30D7B393B}"/>
              </a:ext>
            </a:extLst>
          </p:cNvPr>
          <p:cNvSpPr txBox="1"/>
          <p:nvPr/>
        </p:nvSpPr>
        <p:spPr>
          <a:xfrm>
            <a:off x="900953" y="4953277"/>
            <a:ext cx="454881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T" sz="2000" i="1" dirty="0">
                <a:solidFill>
                  <a:schemeClr val="accent1">
                    <a:lumMod val="75000"/>
                  </a:schemeClr>
                </a:solidFill>
              </a:rPr>
              <a:t>Reproducibility means that these choices </a:t>
            </a:r>
          </a:p>
          <a:p>
            <a:pPr algn="ctr"/>
            <a:r>
              <a:rPr lang="en-IT" sz="2000" i="1" dirty="0">
                <a:solidFill>
                  <a:schemeClr val="accent1">
                    <a:lumMod val="75000"/>
                  </a:schemeClr>
                </a:solidFill>
              </a:rPr>
              <a:t>can be reconstructed later by us or by somebody else.</a:t>
            </a:r>
            <a:endParaRPr lang="en-GB" sz="20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3" name="Picture 12" descr="Of Git and GitHub, Master and Main - BiTE Interactive">
            <a:extLst>
              <a:ext uri="{FF2B5EF4-FFF2-40B4-BE49-F238E27FC236}">
                <a16:creationId xmlns:a16="http://schemas.microsoft.com/office/drawing/2014/main" id="{5ED36BDE-327F-AF23-BD99-817BD72FE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55" y="3536392"/>
            <a:ext cx="2960867" cy="222361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64FE00E-D871-4D55-8A6E-77DDF9470ABA}"/>
              </a:ext>
            </a:extLst>
          </p:cNvPr>
          <p:cNvGrpSpPr/>
          <p:nvPr/>
        </p:nvGrpSpPr>
        <p:grpSpPr>
          <a:xfrm>
            <a:off x="9056390" y="3078032"/>
            <a:ext cx="2743200" cy="2681971"/>
            <a:chOff x="8549640" y="3392702"/>
            <a:chExt cx="1899901" cy="1857495"/>
          </a:xfrm>
        </p:grpSpPr>
        <p:pic>
          <p:nvPicPr>
            <p:cNvPr id="14" name="Picture 13" descr="Episode 13: Sharing Images and Containers (Push-Pull in DockerHub) | by  Amir Mustafa | Medium">
              <a:extLst>
                <a:ext uri="{FF2B5EF4-FFF2-40B4-BE49-F238E27FC236}">
                  <a16:creationId xmlns:a16="http://schemas.microsoft.com/office/drawing/2014/main" id="{32CCE312-BB7C-B0A8-8302-A85D1C7E8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49640" y="4258491"/>
              <a:ext cx="1899901" cy="991706"/>
            </a:xfrm>
            <a:prstGeom prst="rect">
              <a:avLst/>
            </a:prstGeom>
          </p:spPr>
        </p:pic>
        <p:pic>
          <p:nvPicPr>
            <p:cNvPr id="15" name="Picture 14" descr="Docker Logo, symbol, meaning, history, PNG, brand">
              <a:extLst>
                <a:ext uri="{FF2B5EF4-FFF2-40B4-BE49-F238E27FC236}">
                  <a16:creationId xmlns:a16="http://schemas.microsoft.com/office/drawing/2014/main" id="{0328A130-6802-A436-75CD-76E0DE2E4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49640" y="3392702"/>
              <a:ext cx="1899901" cy="10686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135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45F97-C384-F296-F94A-DFD7D1DC9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380"/>
            <a:ext cx="10515600" cy="604693"/>
          </a:xfrm>
        </p:spPr>
        <p:txBody>
          <a:bodyPr>
            <a:normAutofit fontScale="90000"/>
          </a:bodyPr>
          <a:lstStyle/>
          <a:p>
            <a:r>
              <a:rPr lang="en-GB" dirty="0"/>
              <a:t>Git and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CF545-1168-B883-8F5F-1094F18BB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367" y="603550"/>
            <a:ext cx="4785102" cy="6853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T" sz="2400" dirty="0">
                <a:solidFill>
                  <a:schemeClr val="accent1">
                    <a:lumMod val="75000"/>
                  </a:schemeClr>
                </a:solidFill>
              </a:rPr>
              <a:t>Git is a version-control system that records the history of the analysis.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48F9A-C8FC-F8FF-B12F-BC5EAE4C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DC892-5ECB-C188-00C4-FB2BDCB68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F3E1A-218B-F847-83DF-C7D9BCA1D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6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A7A466-12BB-D945-F636-D7121988C2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79"/>
          <a:stretch>
            <a:fillRect/>
          </a:stretch>
        </p:blipFill>
        <p:spPr>
          <a:xfrm>
            <a:off x="5955035" y="53532"/>
            <a:ext cx="3903666" cy="54548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E2B4F9-4C8F-B630-FF91-505E423A12B3}"/>
              </a:ext>
            </a:extLst>
          </p:cNvPr>
          <p:cNvSpPr txBox="1"/>
          <p:nvPr/>
        </p:nvSpPr>
        <p:spPr>
          <a:xfrm>
            <a:off x="54725" y="1237287"/>
            <a:ext cx="598842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Git Cheat Sheet: https://git-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scm.com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/cheat-sheet</a:t>
            </a:r>
          </a:p>
          <a:p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Getting started</a:t>
            </a: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Start a new repository: 				git 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Clone an existing repository: 			git clone &lt;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Check the current state of the repository: 	git status</a:t>
            </a:r>
          </a:p>
          <a:p>
            <a:endParaRPr lang="en-GB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Prepare and make a commit</a:t>
            </a: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Add one file or its changes: 			git add &lt;file&gt;</a:t>
            </a: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Add all current changes: 			git add .</a:t>
            </a:r>
          </a:p>
          <a:p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Unstage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a file but keep the changes: 	git restore --staged &lt;file&gt;</a:t>
            </a: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Create a commit with a message: 		git commit -m "message"</a:t>
            </a:r>
          </a:p>
          <a:p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Inspect changes and history</a:t>
            </a: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Show changes not yet staged: 			git diff</a:t>
            </a: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Show changes already staged: 			git diff --staged</a:t>
            </a: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Show the commit history: 			git log --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oneline</a:t>
            </a:r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Undo changes</a:t>
            </a: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Discard 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unstaged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changes in a file: 			git restore &lt;file&gt;</a:t>
            </a: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Undo a previous commit by creating a new commit: 	git revert &lt;commit&gt;</a:t>
            </a:r>
          </a:p>
          <a:p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Branches</a:t>
            </a: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List branches: git branch</a:t>
            </a: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Create a new branch and switch to it: 	git switch -c &lt;name&gt;</a:t>
            </a: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Switch to another branch: 			git switch &lt;name&gt;</a:t>
            </a: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Delete a merged branch: 			git branch -d &lt;name&gt;</a:t>
            </a:r>
          </a:p>
          <a:p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Remote repository / GitHub</a:t>
            </a: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Download remote changes without modifying the current branch: 	git fetch</a:t>
            </a: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Download and integrate remote changes: 					git pull</a:t>
            </a: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Upload local commits to the remote repository: 		git push</a:t>
            </a: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switch branches or restore files				git checkout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3B9D17-B74D-6CE3-08A2-5939A66C7E64}"/>
              </a:ext>
            </a:extLst>
          </p:cNvPr>
          <p:cNvSpPr txBox="1"/>
          <p:nvPr/>
        </p:nvSpPr>
        <p:spPr>
          <a:xfrm>
            <a:off x="7790329" y="6037165"/>
            <a:ext cx="290456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Taken from :https://</a:t>
            </a:r>
            <a:r>
              <a:rPr lang="en-GB" sz="10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bytebytego.com</a:t>
            </a:r>
            <a:r>
              <a:rPr lang="en-GB" sz="1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/guides/git-workflow/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C02C3D-8A86-D7C4-BDA3-C217BD133074}"/>
              </a:ext>
            </a:extLst>
          </p:cNvPr>
          <p:cNvSpPr txBox="1"/>
          <p:nvPr/>
        </p:nvSpPr>
        <p:spPr>
          <a:xfrm>
            <a:off x="9723527" y="2284982"/>
            <a:ext cx="236668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solidFill>
                  <a:schemeClr val="accent5">
                    <a:lumMod val="75000"/>
                  </a:schemeClr>
                </a:solidFill>
              </a:rPr>
              <a:t>g</a:t>
            </a:r>
            <a:r>
              <a:rPr lang="en-IT" sz="1100" dirty="0">
                <a:solidFill>
                  <a:schemeClr val="accent5">
                    <a:lumMod val="75000"/>
                  </a:schemeClr>
                </a:solidFill>
              </a:rPr>
              <a:t>it commit</a:t>
            </a:r>
          </a:p>
          <a:p>
            <a:r>
              <a:rPr lang="en-IT" sz="1100" dirty="0"/>
              <a:t>A labelled snapshot of the project at a particular point in its history.</a:t>
            </a:r>
            <a:endParaRPr lang="en-GB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A7056A-98C6-99C1-4D65-811B94D72B5D}"/>
              </a:ext>
            </a:extLst>
          </p:cNvPr>
          <p:cNvSpPr txBox="1"/>
          <p:nvPr/>
        </p:nvSpPr>
        <p:spPr>
          <a:xfrm>
            <a:off x="9671098" y="250071"/>
            <a:ext cx="2460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200" b="1" dirty="0"/>
              <a:t>GitHub</a:t>
            </a:r>
            <a:r>
              <a:rPr lang="en-IT" sz="1200" dirty="0"/>
              <a:t> stores a remote copy and enables sharing, collaboration and troubleshooting.</a:t>
            </a:r>
            <a:endParaRPr lang="en-GB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77CCC4-02A5-AD19-3C16-3A72DFD7E50B}"/>
              </a:ext>
            </a:extLst>
          </p:cNvPr>
          <p:cNvSpPr txBox="1"/>
          <p:nvPr/>
        </p:nvSpPr>
        <p:spPr>
          <a:xfrm>
            <a:off x="9770592" y="3382102"/>
            <a:ext cx="23666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solidFill>
                  <a:schemeClr val="accent5">
                    <a:lumMod val="75000"/>
                  </a:schemeClr>
                </a:solidFill>
              </a:rPr>
              <a:t>git add</a:t>
            </a:r>
            <a:endParaRPr lang="en-IT" sz="11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IT" sz="1100" dirty="0"/>
              <a:t>Add all or selected changes</a:t>
            </a:r>
            <a:endParaRPr lang="en-GB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BD3EE0-4636-00C4-F632-E8BFEBACF7AD}"/>
              </a:ext>
            </a:extLst>
          </p:cNvPr>
          <p:cNvSpPr txBox="1"/>
          <p:nvPr/>
        </p:nvSpPr>
        <p:spPr>
          <a:xfrm>
            <a:off x="9770592" y="4114303"/>
            <a:ext cx="2366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accent5">
                    <a:lumMod val="75000"/>
                  </a:schemeClr>
                </a:solidFill>
              </a:rPr>
              <a:t>git </a:t>
            </a:r>
            <a:r>
              <a:rPr lang="en-GB" sz="1100" dirty="0" err="1">
                <a:solidFill>
                  <a:schemeClr val="accent5">
                    <a:lumMod val="75000"/>
                  </a:schemeClr>
                </a:solidFill>
              </a:rPr>
              <a:t>init</a:t>
            </a:r>
            <a:r>
              <a:rPr lang="en-GB" sz="1100" dirty="0">
                <a:solidFill>
                  <a:schemeClr val="accent5">
                    <a:lumMod val="75000"/>
                  </a:schemeClr>
                </a:solidFill>
              </a:rPr>
              <a:t> / git clone</a:t>
            </a:r>
          </a:p>
          <a:p>
            <a:r>
              <a:rPr lang="en-GB" sz="1100" dirty="0"/>
              <a:t>Initialize the working directory as a git repo or clone an existing one from GitHub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EABB92-B017-FDE1-4693-600B2874604F}"/>
              </a:ext>
            </a:extLst>
          </p:cNvPr>
          <p:cNvSpPr txBox="1"/>
          <p:nvPr/>
        </p:nvSpPr>
        <p:spPr>
          <a:xfrm>
            <a:off x="9723527" y="1180218"/>
            <a:ext cx="236668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solidFill>
                  <a:schemeClr val="accent5">
                    <a:lumMod val="75000"/>
                  </a:schemeClr>
                </a:solidFill>
              </a:rPr>
              <a:t>g</a:t>
            </a:r>
            <a:r>
              <a:rPr lang="en-IT" sz="1100" dirty="0">
                <a:solidFill>
                  <a:schemeClr val="accent5">
                    <a:lumMod val="75000"/>
                  </a:schemeClr>
                </a:solidFill>
              </a:rPr>
              <a:t>it push</a:t>
            </a:r>
          </a:p>
          <a:p>
            <a:r>
              <a:rPr lang="en-GB" sz="1100" dirty="0"/>
              <a:t>Upload local commits to the remote repository</a:t>
            </a:r>
          </a:p>
        </p:txBody>
      </p:sp>
      <p:pic>
        <p:nvPicPr>
          <p:cNvPr id="18" name="Picture 17" descr="Github Logo - Free social media icons">
            <a:extLst>
              <a:ext uri="{FF2B5EF4-FFF2-40B4-BE49-F238E27FC236}">
                <a16:creationId xmlns:a16="http://schemas.microsoft.com/office/drawing/2014/main" id="{A670372E-0882-757E-38DA-8EE0CBB85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4212" y="53532"/>
            <a:ext cx="544388" cy="54438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A1CDEBC-7B82-658E-B0A9-CEDDC54CF492}"/>
              </a:ext>
            </a:extLst>
          </p:cNvPr>
          <p:cNvSpPr txBox="1"/>
          <p:nvPr/>
        </p:nvSpPr>
        <p:spPr>
          <a:xfrm>
            <a:off x="6839133" y="5675260"/>
            <a:ext cx="5030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T" b="1" dirty="0">
                <a:solidFill>
                  <a:schemeClr val="accent1">
                    <a:lumMod val="75000"/>
                  </a:schemeClr>
                </a:solidFill>
              </a:rPr>
              <a:t>Git/GitHub preserve the analytical recipe.</a:t>
            </a:r>
            <a:endParaRPr lang="en-GB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C1EEAE-77E4-6736-94A7-49FF03201268}"/>
              </a:ext>
            </a:extLst>
          </p:cNvPr>
          <p:cNvSpPr txBox="1"/>
          <p:nvPr/>
        </p:nvSpPr>
        <p:spPr>
          <a:xfrm>
            <a:off x="9770592" y="1752739"/>
            <a:ext cx="23519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100" dirty="0">
                <a:solidFill>
                  <a:srgbClr val="FF0000"/>
                </a:solidFill>
              </a:rPr>
              <a:t>git fetch </a:t>
            </a:r>
            <a:r>
              <a:rPr lang="en-IT" sz="1100" dirty="0"/>
              <a:t>retrieves changes;</a:t>
            </a:r>
            <a:r>
              <a:rPr lang="en-IT" sz="1100" dirty="0">
                <a:solidFill>
                  <a:srgbClr val="FF0000"/>
                </a:solidFill>
              </a:rPr>
              <a:t> </a:t>
            </a:r>
          </a:p>
          <a:p>
            <a:r>
              <a:rPr lang="en-IT" sz="1100" dirty="0">
                <a:solidFill>
                  <a:srgbClr val="FF0000"/>
                </a:solidFill>
              </a:rPr>
              <a:t>git pull </a:t>
            </a:r>
            <a:r>
              <a:rPr lang="en-IT" sz="1100" dirty="0"/>
              <a:t> retrieves and integrates them.</a:t>
            </a:r>
            <a:endParaRPr lang="en-GB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86191D-9DF4-F00B-182B-F0F900443084}"/>
              </a:ext>
            </a:extLst>
          </p:cNvPr>
          <p:cNvSpPr txBox="1"/>
          <p:nvPr/>
        </p:nvSpPr>
        <p:spPr>
          <a:xfrm>
            <a:off x="9777970" y="4835216"/>
            <a:ext cx="20918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100" dirty="0">
                <a:solidFill>
                  <a:srgbClr val="FF0000"/>
                </a:solidFill>
              </a:rPr>
              <a:t>git checkout </a:t>
            </a:r>
            <a:r>
              <a:rPr lang="en-GB" sz="1100" dirty="0"/>
              <a:t>Replace my current copy of this file with the version stored in Git.</a:t>
            </a:r>
          </a:p>
        </p:txBody>
      </p:sp>
    </p:spTree>
    <p:extLst>
      <p:ext uri="{BB962C8B-B14F-4D97-AF65-F5344CB8AC3E}">
        <p14:creationId xmlns:p14="http://schemas.microsoft.com/office/powerpoint/2010/main" val="3026649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4" grpId="0"/>
      <p:bldP spid="15" grpId="0"/>
      <p:bldP spid="16" grpId="0"/>
      <p:bldP spid="17" grpId="0"/>
      <p:bldP spid="20" grpId="0"/>
      <p:bldP spid="9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EF1FF-1FD6-0092-81E1-8FDD74ABC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453" y="1031610"/>
            <a:ext cx="8041148" cy="2635862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>
              <a:lnSpc>
                <a:spcPct val="60000"/>
              </a:lnSpc>
              <a:buNone/>
            </a:pP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-p ~/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workshop_ngs</a:t>
            </a: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cd ~/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workshop_ngs</a:t>
            </a: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#Initialize Git locally: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git status</a:t>
            </a:r>
          </a:p>
          <a:p>
            <a:pPr marL="0" indent="0">
              <a:lnSpc>
                <a:spcPct val="60000"/>
              </a:lnSpc>
              <a:buNone/>
            </a:pP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#Set your Git identity if it has not already been configured on this computer: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git config --global 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user.name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"Your Name"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git config --global 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user.email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"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your.email@example.com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git config --global 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init.defaultBranch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</a:t>
            </a:r>
          </a:p>
          <a:p>
            <a:pPr marL="0" indent="0">
              <a:lnSpc>
                <a:spcPct val="60000"/>
              </a:lnSpc>
              <a:buNone/>
            </a:pP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73244-5BEA-E680-8ACF-F42241FE4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>
                <a:latin typeface="Courier New" panose="02070309020205020404" pitchFamily="49" charset="0"/>
                <a:cs typeface="Courier New" panose="02070309020205020404" pitchFamily="49" charset="0"/>
              </a:rPr>
              <a:t>21/09/26</a:t>
            </a:fld>
            <a:endParaRPr lang="en-GB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E0569-65F5-7ED9-0BEA-6379A53A2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068AB-CA3E-FFD1-0986-A15C2DEC3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fld>
            <a:endParaRPr lang="en-GB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4D5125-25AE-EAD2-E08A-F5D67DB3160E}"/>
              </a:ext>
            </a:extLst>
          </p:cNvPr>
          <p:cNvSpPr txBox="1"/>
          <p:nvPr/>
        </p:nvSpPr>
        <p:spPr>
          <a:xfrm>
            <a:off x="499782" y="3616384"/>
            <a:ext cx="737276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We now have to link the local git folder with our </a:t>
            </a:r>
            <a:r>
              <a:rPr lang="en-GB" sz="1100" dirty="0" err="1"/>
              <a:t>Github</a:t>
            </a:r>
            <a:r>
              <a:rPr lang="en-GB" sz="1100" dirty="0"/>
              <a:t> to generate an online repository: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100" dirty="0"/>
              <a:t>Go to GitHub: https://</a:t>
            </a:r>
            <a:r>
              <a:rPr lang="en-GB" sz="1100" dirty="0" err="1"/>
              <a:t>github.com</a:t>
            </a:r>
            <a:r>
              <a:rPr lang="en-GB" sz="1100" dirty="0"/>
              <a:t>/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100" dirty="0"/>
              <a:t>Log in.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100" dirty="0"/>
              <a:t>Click New repository.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100" dirty="0"/>
              <a:t>Use this repository name: </a:t>
            </a:r>
            <a:r>
              <a:rPr lang="en-GB" sz="1100" dirty="0" err="1"/>
              <a:t>workshop_ngs</a:t>
            </a:r>
            <a:r>
              <a:rPr lang="en-GB" sz="1100" dirty="0"/>
              <a:t> # good practice to use same name as the local folder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100" dirty="0"/>
              <a:t>Choose Public or Private, depending on the course instructions.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100" dirty="0"/>
              <a:t>Do not add a README file.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100" dirty="0"/>
              <a:t>Do not add a .</a:t>
            </a:r>
            <a:r>
              <a:rPr lang="en-GB" sz="1100" dirty="0" err="1"/>
              <a:t>gitignore</a:t>
            </a:r>
            <a:r>
              <a:rPr lang="en-GB" sz="1100" dirty="0"/>
              <a:t> file.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100" dirty="0"/>
              <a:t>Do not add a license.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100" dirty="0"/>
              <a:t>Click Create repository -&gt; you should see: </a:t>
            </a:r>
            <a:r>
              <a:rPr lang="en-GB" sz="1100" dirty="0">
                <a:hlinkClick r:id="rId2"/>
              </a:rPr>
              <a:t>https://github.com/YOUR_USERNAME/workshop_ngs</a:t>
            </a:r>
            <a:endParaRPr lang="en-GB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9FBCB6-E2C8-2A77-CB2B-1F458EDA4911}"/>
              </a:ext>
            </a:extLst>
          </p:cNvPr>
          <p:cNvSpPr txBox="1"/>
          <p:nvPr/>
        </p:nvSpPr>
        <p:spPr>
          <a:xfrm>
            <a:off x="499783" y="136525"/>
            <a:ext cx="811081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100" b="1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Open </a:t>
            </a:r>
            <a:r>
              <a:rPr lang="en-GB" sz="1100" b="1" dirty="0" err="1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VSCode</a:t>
            </a:r>
            <a:r>
              <a:rPr lang="en-GB" sz="1100" b="1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 …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GB" sz="1100" dirty="0">
                <a:latin typeface="+mj-lt"/>
                <a:cs typeface="Courier New" panose="02070309020205020404" pitchFamily="49" charset="0"/>
              </a:rPr>
              <a:t>Windows users should open Visual Studio Code connected to Ubuntu WSL, open a WSL terminal, and run the commands there.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GB" sz="1100" dirty="0">
                <a:latin typeface="+mj-lt"/>
                <a:cs typeface="Courier New" panose="02070309020205020404" pitchFamily="49" charset="0"/>
              </a:rPr>
              <a:t>macOS and Linux users should open the </a:t>
            </a:r>
            <a:r>
              <a:rPr lang="en-GB" sz="1100" dirty="0" err="1">
                <a:latin typeface="+mj-lt"/>
                <a:cs typeface="Courier New" panose="02070309020205020404" pitchFamily="49" charset="0"/>
              </a:rPr>
              <a:t>workshop_ngs</a:t>
            </a:r>
            <a:r>
              <a:rPr lang="en-GB" sz="1100" dirty="0">
                <a:latin typeface="+mj-lt"/>
                <a:cs typeface="Courier New" panose="02070309020205020404" pitchFamily="49" charset="0"/>
              </a:rPr>
              <a:t> folder in Visual Studio Code and use the VS Code terminal.</a:t>
            </a:r>
          </a:p>
          <a:p>
            <a:pPr marL="0" indent="0">
              <a:buNone/>
            </a:pPr>
            <a:r>
              <a:rPr lang="en-GB" sz="1100" dirty="0">
                <a:latin typeface="+mj-lt"/>
                <a:cs typeface="Courier New" panose="02070309020205020404" pitchFamily="49" charset="0"/>
              </a:rPr>
              <a:t>Before running workshop commands, move to the repository root:</a:t>
            </a:r>
          </a:p>
        </p:txBody>
      </p:sp>
      <p:pic>
        <p:nvPicPr>
          <p:cNvPr id="10" name="Picture 9" descr="Github Logo - Free social media icons">
            <a:extLst>
              <a:ext uri="{FF2B5EF4-FFF2-40B4-BE49-F238E27FC236}">
                <a16:creationId xmlns:a16="http://schemas.microsoft.com/office/drawing/2014/main" id="{5D896A21-965D-0B7F-4689-AF4A126CC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703" y="178800"/>
            <a:ext cx="1454331" cy="14543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19DC62-2562-1E3E-243C-35300810E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189" y="2106560"/>
            <a:ext cx="3311611" cy="2781463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872811D-9D66-D3DD-B0DF-152C90D57CA0}"/>
              </a:ext>
            </a:extLst>
          </p:cNvPr>
          <p:cNvSpPr txBox="1"/>
          <p:nvPr/>
        </p:nvSpPr>
        <p:spPr>
          <a:xfrm>
            <a:off x="569450" y="5740042"/>
            <a:ext cx="8041149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git remote add origin https://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github.com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/YOUR_USERNAME/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workshop_ngs.git</a:t>
            </a: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git remote -v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59269D-9C9C-5D06-C801-73C434FBBA17}"/>
              </a:ext>
            </a:extLst>
          </p:cNvPr>
          <p:cNvSpPr txBox="1"/>
          <p:nvPr/>
        </p:nvSpPr>
        <p:spPr>
          <a:xfrm>
            <a:off x="534615" y="5424821"/>
            <a:ext cx="81108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Now connect your local folder to the empty GitHub repository. Replace YOUR_USERNAME with your GitHub username:</a:t>
            </a:r>
          </a:p>
        </p:txBody>
      </p:sp>
    </p:spTree>
    <p:extLst>
      <p:ext uri="{BB962C8B-B14F-4D97-AF65-F5344CB8AC3E}">
        <p14:creationId xmlns:p14="http://schemas.microsoft.com/office/powerpoint/2010/main" val="4104349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7" grpId="0"/>
      <p:bldP spid="14" grpId="0" animBg="1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E1722-B475-0DF1-EF6A-0AB54566F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A031A-E232-F6D5-922C-9F68FA3EB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E5529-288D-6DA7-F52C-7F0E50BA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8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EC7C0C-8D4C-AA44-D717-FB6C2B545473}"/>
              </a:ext>
            </a:extLst>
          </p:cNvPr>
          <p:cNvSpPr txBox="1"/>
          <p:nvPr/>
        </p:nvSpPr>
        <p:spPr>
          <a:xfrm>
            <a:off x="365760" y="374469"/>
            <a:ext cx="976230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dirty="0"/>
              <a:t>The first commit will be made after we create the project folders, the .gitignore, and a README file. </a:t>
            </a:r>
          </a:p>
          <a:p>
            <a:r>
              <a:rPr lang="en-IT" dirty="0"/>
              <a:t>This way Git starts by recording the intended repository structure rather than an empty folder.</a:t>
            </a:r>
          </a:p>
          <a:p>
            <a:endParaRPr lang="en-IT" dirty="0"/>
          </a:p>
          <a:p>
            <a:r>
              <a:rPr lang="en-GB" dirty="0"/>
              <a:t>The .</a:t>
            </a:r>
            <a:r>
              <a:rPr lang="en-GB" dirty="0" err="1"/>
              <a:t>gitignore</a:t>
            </a:r>
            <a:r>
              <a:rPr lang="en-GB" dirty="0"/>
              <a:t> file is a hidden text file that tells Git which files should not be tracked or uploaded to GitHub. In this workshop, GitHub stores the reproducible record of the analysis: scripts, metadata, notes, small tables, figures, logs, and documentation. It is not used as storage for large sequencing or alignment files.</a:t>
            </a:r>
          </a:p>
          <a:p>
            <a:endParaRPr lang="en-GB" dirty="0"/>
          </a:p>
          <a:p>
            <a:r>
              <a:rPr lang="en-GB" dirty="0"/>
              <a:t>Create </a:t>
            </a:r>
            <a:r>
              <a:rPr lang="en-GB" dirty="0">
                <a:solidFill>
                  <a:srgbClr val="A72AA7"/>
                </a:solidFill>
              </a:rPr>
              <a:t>.</a:t>
            </a:r>
            <a:r>
              <a:rPr lang="en-GB" dirty="0" err="1">
                <a:solidFill>
                  <a:srgbClr val="A72AA7"/>
                </a:solidFill>
              </a:rPr>
              <a:t>gitignore</a:t>
            </a:r>
            <a:r>
              <a:rPr lang="en-GB" dirty="0"/>
              <a:t> and </a:t>
            </a:r>
            <a:r>
              <a:rPr lang="en-GB" dirty="0">
                <a:solidFill>
                  <a:srgbClr val="A72AA7"/>
                </a:solidFill>
              </a:rPr>
              <a:t>README</a:t>
            </a:r>
            <a:r>
              <a:rPr lang="en-GB" dirty="0"/>
              <a:t> in VS Code, or open it from the terminal:</a:t>
            </a:r>
          </a:p>
        </p:txBody>
      </p:sp>
      <p:pic>
        <p:nvPicPr>
          <p:cNvPr id="8" name="Picture 7" descr="Github Logo - Free social media icons">
            <a:extLst>
              <a:ext uri="{FF2B5EF4-FFF2-40B4-BE49-F238E27FC236}">
                <a16:creationId xmlns:a16="http://schemas.microsoft.com/office/drawing/2014/main" id="{81A529DC-2C47-4656-845F-F72D601D4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703" y="178800"/>
            <a:ext cx="1454331" cy="14543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E2B25F-C5E0-89F2-7CE3-9E2CC8E380DE}"/>
              </a:ext>
            </a:extLst>
          </p:cNvPr>
          <p:cNvSpPr txBox="1"/>
          <p:nvPr/>
        </p:nvSpPr>
        <p:spPr>
          <a:xfrm>
            <a:off x="365760" y="3059668"/>
            <a:ext cx="227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nano .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53F700-BDA4-D95D-3F42-8D23E2D4C0AB}"/>
              </a:ext>
            </a:extLst>
          </p:cNvPr>
          <p:cNvSpPr txBox="1"/>
          <p:nvPr/>
        </p:nvSpPr>
        <p:spPr>
          <a:xfrm>
            <a:off x="409304" y="3439684"/>
            <a:ext cx="340069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# OS / R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DS_Store</a:t>
            </a: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Rhistory</a:t>
            </a: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RData</a:t>
            </a: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# Raw sequencing data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*.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fastq</a:t>
            </a: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*.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fq</a:t>
            </a: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*.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fastq.gz</a:t>
            </a: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*.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fq.gz</a:t>
            </a: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*.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sra</a:t>
            </a: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# Alignment files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*.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</a:t>
            </a: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*.bam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*.bai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BB1642-DA03-C1B9-8218-58CB4403789F}"/>
              </a:ext>
            </a:extLst>
          </p:cNvPr>
          <p:cNvSpPr/>
          <p:nvPr/>
        </p:nvSpPr>
        <p:spPr>
          <a:xfrm>
            <a:off x="365759" y="3059668"/>
            <a:ext cx="5084081" cy="32966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488822-20E3-98F9-F8F0-57EFA8995CFC}"/>
              </a:ext>
            </a:extLst>
          </p:cNvPr>
          <p:cNvSpPr txBox="1"/>
          <p:nvPr/>
        </p:nvSpPr>
        <p:spPr>
          <a:xfrm>
            <a:off x="7795260" y="3490031"/>
            <a:ext cx="29946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Reproducible NGS workshop</a:t>
            </a: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596D7A-9FFA-99FA-1C8F-0421AAFA8788}"/>
              </a:ext>
            </a:extLst>
          </p:cNvPr>
          <p:cNvSpPr/>
          <p:nvPr/>
        </p:nvSpPr>
        <p:spPr>
          <a:xfrm>
            <a:off x="7606936" y="2959792"/>
            <a:ext cx="3400697" cy="13381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E35BB7-A54D-4561-FFA3-41CFFE6E3B7A}"/>
              </a:ext>
            </a:extLst>
          </p:cNvPr>
          <p:cNvSpPr txBox="1"/>
          <p:nvPr/>
        </p:nvSpPr>
        <p:spPr>
          <a:xfrm>
            <a:off x="7680959" y="2959792"/>
            <a:ext cx="22021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nano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GB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95BE8B-6BB0-A6DD-89E7-9437E22D8E6F}"/>
              </a:ext>
            </a:extLst>
          </p:cNvPr>
          <p:cNvSpPr txBox="1"/>
          <p:nvPr/>
        </p:nvSpPr>
        <p:spPr>
          <a:xfrm>
            <a:off x="6753496" y="4444660"/>
            <a:ext cx="3890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Now we are ready for the first commit: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220D8E-C840-B3A4-391E-B43DA0B0F099}"/>
              </a:ext>
            </a:extLst>
          </p:cNvPr>
          <p:cNvSpPr txBox="1"/>
          <p:nvPr/>
        </p:nvSpPr>
        <p:spPr>
          <a:xfrm>
            <a:off x="6812279" y="4951341"/>
            <a:ext cx="514241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git status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git add .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 -m "Initialize workshop repository"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git branch -M main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git push -u origin main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9C6A9B-047B-12CC-8376-FF40C77B77B4}"/>
              </a:ext>
            </a:extLst>
          </p:cNvPr>
          <p:cNvSpPr/>
          <p:nvPr/>
        </p:nvSpPr>
        <p:spPr>
          <a:xfrm>
            <a:off x="6827519" y="4867037"/>
            <a:ext cx="4998721" cy="13381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B2F3E3-B57F-D439-8B0D-F2E7783AD2B3}"/>
              </a:ext>
            </a:extLst>
          </p:cNvPr>
          <p:cNvSpPr txBox="1"/>
          <p:nvPr/>
        </p:nvSpPr>
        <p:spPr>
          <a:xfrm>
            <a:off x="2316482" y="3394116"/>
            <a:ext cx="313335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# Genome tracks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*.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bw</a:t>
            </a: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*.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bigWig</a:t>
            </a: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# Archives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*.zip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*.tar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*.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tar.gz</a:t>
            </a: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# Reference genome and indexes</a:t>
            </a:r>
          </a:p>
          <a:p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reference_genome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reference_genome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REFERENCE.md</a:t>
            </a: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reference_genome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/.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gitkeep</a:t>
            </a: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# Temporary SRA files</a:t>
            </a:r>
          </a:p>
          <a:p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sra_tmp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9904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1051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3864-7C61-9B76-7844-E1E0A16B6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Docker and Docker Hub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1DDE4-A78F-7009-5E03-3CC614299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928" y="890819"/>
            <a:ext cx="11192435" cy="23190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chemeClr val="accent1">
                    <a:lumMod val="75000"/>
                  </a:schemeClr>
                </a:solidFill>
              </a:rPr>
              <a:t>Docker:</a:t>
            </a:r>
            <a:r>
              <a:rPr lang="en-GB" sz="2000" dirty="0"/>
              <a:t> is a tool to record software environment in an image.</a:t>
            </a:r>
          </a:p>
          <a:p>
            <a:pPr marL="0" indent="0">
              <a:buNone/>
            </a:pPr>
            <a:endParaRPr lang="en-GB" sz="2000" dirty="0"/>
          </a:p>
          <a:p>
            <a:pPr>
              <a:buFont typeface="Wingdings" pitchFamily="2" charset="2"/>
              <a:buChar char="Ø"/>
            </a:pPr>
            <a:r>
              <a:rPr lang="en-IT" sz="2000" dirty="0"/>
              <a:t>Docker image: A packaged computational environment containing software and its dependencies.</a:t>
            </a:r>
          </a:p>
          <a:p>
            <a:pPr>
              <a:buFont typeface="Wingdings" pitchFamily="2" charset="2"/>
              <a:buChar char="Ø"/>
            </a:pPr>
            <a:r>
              <a:rPr lang="en-IT" sz="2000" dirty="0"/>
              <a:t>Container: A running instance of an image.</a:t>
            </a:r>
            <a:endParaRPr lang="en-GB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F5208-F9BB-EC8B-D139-D7EB89BED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F5984-31A9-FB83-6467-8FCC5EA3A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F736E-49A9-62BB-5C35-D4FB0419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10</a:t>
            </a:fld>
            <a:endParaRPr lang="en-GB"/>
          </a:p>
        </p:txBody>
      </p:sp>
      <p:pic>
        <p:nvPicPr>
          <p:cNvPr id="7" name="Picture 6" descr="Docker Logo Icon by Those Icons – download in PNG, SVG">
            <a:extLst>
              <a:ext uri="{FF2B5EF4-FFF2-40B4-BE49-F238E27FC236}">
                <a16:creationId xmlns:a16="http://schemas.microsoft.com/office/drawing/2014/main" id="{5E189863-213C-10C7-01E6-9F2830E0E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616" y="0"/>
            <a:ext cx="861060" cy="8610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00B29E-4C27-FB60-F254-DDFD301560D8}"/>
              </a:ext>
            </a:extLst>
          </p:cNvPr>
          <p:cNvSpPr txBox="1"/>
          <p:nvPr/>
        </p:nvSpPr>
        <p:spPr>
          <a:xfrm>
            <a:off x="398928" y="4772213"/>
            <a:ext cx="111924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T" sz="2000" b="1" dirty="0">
                <a:solidFill>
                  <a:schemeClr val="accent1">
                    <a:lumMod val="75000"/>
                  </a:schemeClr>
                </a:solidFill>
              </a:rPr>
              <a:t>Docker/Docker Hub preserve the computational environment used to execute that recipe.</a:t>
            </a:r>
            <a:endParaRPr lang="en-GB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1E4BEC-D50D-6E9D-5C72-BCE52C7537F2}"/>
              </a:ext>
            </a:extLst>
          </p:cNvPr>
          <p:cNvSpPr txBox="1"/>
          <p:nvPr/>
        </p:nvSpPr>
        <p:spPr>
          <a:xfrm>
            <a:off x="398927" y="3198065"/>
            <a:ext cx="11192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err="1">
                <a:solidFill>
                  <a:schemeClr val="accent1">
                    <a:lumMod val="75000"/>
                  </a:schemeClr>
                </a:solidFill>
              </a:rPr>
              <a:t>DockerHub</a:t>
            </a:r>
            <a:r>
              <a:rPr lang="en-GB" sz="2000" dirty="0"/>
              <a:t>: </a:t>
            </a:r>
            <a:r>
              <a:rPr lang="en-IT" sz="2000" dirty="0"/>
              <a:t>is a registry for distributing container images. Images are identified by repository and tag (</a:t>
            </a:r>
            <a:r>
              <a:rPr lang="en-IT" dirty="0"/>
              <a:t>image:tag</a:t>
            </a:r>
            <a:r>
              <a:rPr lang="en-IT" sz="2000" dirty="0"/>
              <a:t>); tags can be updated, while digests identify immutable image content.</a:t>
            </a:r>
          </a:p>
        </p:txBody>
      </p:sp>
    </p:spTree>
    <p:extLst>
      <p:ext uri="{BB962C8B-B14F-4D97-AF65-F5344CB8AC3E}">
        <p14:creationId xmlns:p14="http://schemas.microsoft.com/office/powerpoint/2010/main" val="1941174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F7E81-DF11-DA31-800F-447314018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Image </a:t>
            </a:r>
            <a:r>
              <a:rPr lang="en-GB" dirty="0" err="1"/>
              <a:t>recipies</a:t>
            </a:r>
            <a:r>
              <a:rPr lang="en-GB" dirty="0"/>
              <a:t>: </a:t>
            </a:r>
            <a:r>
              <a:rPr lang="en-GB" dirty="0" err="1"/>
              <a:t>Dockerfile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BB96B-FCE2-D497-095A-14ABB18B8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929" y="757647"/>
            <a:ext cx="11383768" cy="7383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T" sz="2400" dirty="0"/>
              <a:t>To create a reproducible software environment, Docker needs a </a:t>
            </a:r>
            <a:r>
              <a:rPr lang="en-IT" sz="2400" b="1" dirty="0"/>
              <a:t>recipe</a:t>
            </a:r>
            <a:r>
              <a:rPr lang="en-IT" sz="2400" dirty="0"/>
              <a:t> describing how the image should be built.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8E666-DDAD-DCEC-2E2E-8E4A817A9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07515-EFD7-EB26-A988-3C556BA45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081E2-B591-A5C7-F942-AC9C471ED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11</a:t>
            </a:fld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09FFFE-5641-047D-568B-6D6076053AAE}"/>
              </a:ext>
            </a:extLst>
          </p:cNvPr>
          <p:cNvSpPr txBox="1"/>
          <p:nvPr/>
        </p:nvSpPr>
        <p:spPr>
          <a:xfrm>
            <a:off x="398929" y="1594756"/>
            <a:ext cx="620485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T" b="1" dirty="0"/>
              <a:t>A Dockerfile specifies:</a:t>
            </a:r>
            <a:endParaRPr lang="en-IT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dirty="0"/>
              <a:t>the starting image;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dirty="0"/>
              <a:t>the software to install;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dirty="0"/>
              <a:t>the working directory;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dirty="0"/>
              <a:t>optional default commands or entrypoints.</a:t>
            </a:r>
          </a:p>
          <a:p>
            <a:pPr lvl="0"/>
            <a:endParaRPr lang="en-IT" dirty="0"/>
          </a:p>
          <a:p>
            <a:pPr lvl="0"/>
            <a:r>
              <a:rPr lang="en-GB" sz="1400" dirty="0"/>
              <a:t>FROM		Starting image</a:t>
            </a:r>
          </a:p>
          <a:p>
            <a:pPr lvl="0"/>
            <a:r>
              <a:rPr lang="en-GB" sz="1400" dirty="0"/>
              <a:t>RUN			Commands executed while building the image</a:t>
            </a:r>
          </a:p>
          <a:p>
            <a:pPr lvl="0"/>
            <a:r>
              <a:rPr lang="en-GB" sz="1400" dirty="0"/>
              <a:t>WORKDIR		Default directory inside the container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C20AF1-27D7-61CA-40E1-36FABA102F05}"/>
              </a:ext>
            </a:extLst>
          </p:cNvPr>
          <p:cNvSpPr txBox="1"/>
          <p:nvPr/>
        </p:nvSpPr>
        <p:spPr>
          <a:xfrm>
            <a:off x="398929" y="4252552"/>
            <a:ext cx="620485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600" dirty="0"/>
              <a:t>Why Micromamba?</a:t>
            </a:r>
          </a:p>
          <a:p>
            <a:r>
              <a:rPr lang="en-IT" sz="1600" dirty="0"/>
              <a:t>Conda/Mamba environments are widely used to install bioinformatics software and dependencies.</a:t>
            </a:r>
          </a:p>
          <a:p>
            <a:r>
              <a:rPr lang="en-IT" sz="1600" b="1" dirty="0"/>
              <a:t>Micromamba</a:t>
            </a:r>
            <a:r>
              <a:rPr lang="en-IT" sz="1600" dirty="0"/>
              <a:t> is a lightweight implementation of Mamba, particularly convenient inside containers.</a:t>
            </a:r>
          </a:p>
          <a:p>
            <a:endParaRPr lang="en-IT" sz="1600" dirty="0"/>
          </a:p>
          <a:p>
            <a:r>
              <a:rPr lang="en-IT" sz="1600" dirty="0">
                <a:solidFill>
                  <a:schemeClr val="bg1">
                    <a:lumMod val="50000"/>
                  </a:schemeClr>
                </a:solidFill>
              </a:rPr>
              <a:t>conda-forge → general scientific/software packages </a:t>
            </a:r>
          </a:p>
          <a:p>
            <a:r>
              <a:rPr lang="en-IT" sz="1600" dirty="0">
                <a:solidFill>
                  <a:schemeClr val="bg1">
                    <a:lumMod val="50000"/>
                  </a:schemeClr>
                </a:solidFill>
              </a:rPr>
              <a:t>bioconda → bioinformatics packages</a:t>
            </a:r>
            <a:endParaRPr lang="en-GB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766A24B-AE39-5DE7-3C82-407754D94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914" y="3516287"/>
            <a:ext cx="4989157" cy="16505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A37B8F8-59CA-F455-84FE-DDF4C10CC3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914"/>
          <a:stretch>
            <a:fillRect/>
          </a:stretch>
        </p:blipFill>
        <p:spPr>
          <a:xfrm>
            <a:off x="6803914" y="1147655"/>
            <a:ext cx="3062151" cy="228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56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F06D9-9B20-CFE7-6984-2FA879FA49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B1EDD-795F-2AA6-3FB5-F6174563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62314"/>
            <a:ext cx="4114800" cy="365125"/>
          </a:xfrm>
        </p:spPr>
        <p:txBody>
          <a:bodyPr/>
          <a:lstStyle/>
          <a:p>
            <a:r>
              <a:rPr lang="en-GB" dirty="0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CA054-AC00-D881-F49D-4ADF42EB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12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5B0FE5-1489-2074-2B60-682A67AD5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70" y="122282"/>
            <a:ext cx="12192000" cy="519627"/>
          </a:xfrm>
        </p:spPr>
        <p:txBody>
          <a:bodyPr>
            <a:normAutofit fontScale="90000"/>
          </a:bodyPr>
          <a:lstStyle/>
          <a:p>
            <a:r>
              <a:rPr lang="en-GB" dirty="0"/>
              <a:t>Image </a:t>
            </a:r>
            <a:r>
              <a:rPr lang="en-GB" dirty="0" err="1"/>
              <a:t>recipies</a:t>
            </a:r>
            <a:r>
              <a:rPr lang="en-GB" dirty="0"/>
              <a:t>: </a:t>
            </a:r>
            <a:r>
              <a:rPr lang="en-GB" dirty="0" err="1"/>
              <a:t>Dockerfile</a:t>
            </a:r>
            <a:r>
              <a:rPr lang="en-GB" dirty="0"/>
              <a:t> </a:t>
            </a:r>
            <a:r>
              <a:rPr lang="en-IT" dirty="0"/>
              <a:t>→ Multi-architecture image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769033-462B-50BF-8AD7-B32C80EC61F7}"/>
              </a:ext>
            </a:extLst>
          </p:cNvPr>
          <p:cNvSpPr txBox="1"/>
          <p:nvPr/>
        </p:nvSpPr>
        <p:spPr>
          <a:xfrm>
            <a:off x="304798" y="641909"/>
            <a:ext cx="482379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00B050"/>
                </a:solidFill>
              </a:rPr>
              <a:t>Open </a:t>
            </a:r>
            <a:r>
              <a:rPr lang="en-GB" sz="1200" dirty="0" err="1">
                <a:solidFill>
                  <a:srgbClr val="00B050"/>
                </a:solidFill>
              </a:rPr>
              <a:t>VSCode</a:t>
            </a:r>
            <a:endParaRPr lang="en-GB" sz="1200" dirty="0"/>
          </a:p>
          <a:p>
            <a:r>
              <a:rPr lang="en-GB" sz="1200" dirty="0"/>
              <a:t>Create a folder named </a:t>
            </a:r>
            <a:r>
              <a:rPr lang="en-GB" sz="1200" dirty="0" err="1"/>
              <a:t>Dockerfile</a:t>
            </a:r>
            <a:r>
              <a:rPr lang="en-GB" sz="1200" dirty="0"/>
              <a:t>_</a:t>
            </a:r>
            <a:r>
              <a:rPr lang="en-IT" sz="1200" dirty="0"/>
              <a:t> recipes </a:t>
            </a:r>
          </a:p>
          <a:p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-p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Dockerfile_recipes</a:t>
            </a:r>
            <a:endParaRPr lang="en-GB" sz="1200" dirty="0"/>
          </a:p>
          <a:p>
            <a:r>
              <a:rPr lang="en-GB" sz="1200" dirty="0"/>
              <a:t>Save the 2 examples:</a:t>
            </a:r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nano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Dockerfile_recipes</a:t>
            </a:r>
            <a:r>
              <a:rPr lang="en-GB" sz="1200" dirty="0"/>
              <a:t>/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Dockerfile.curl</a:t>
            </a:r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(or open new in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VSCode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write and save..)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.. Type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nano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Dockerfile_recipes</a:t>
            </a:r>
            <a:r>
              <a:rPr lang="en-GB" sz="1200" dirty="0"/>
              <a:t>/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Dockerfile.fastp</a:t>
            </a:r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(or open new in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VSCode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write and save..)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.. Type</a:t>
            </a:r>
          </a:p>
          <a:p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One-time setup for multi-platform builds: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docker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buildx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create \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--name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multiarch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--driver docker-container \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--use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docker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buildx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inspect --bootstrap</a:t>
            </a:r>
          </a:p>
          <a:p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--builder selects the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Buildx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builder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--platform defines the target CPU architectures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D8DB8A-2915-6976-7FA4-C8D465D506B6}"/>
              </a:ext>
            </a:extLst>
          </p:cNvPr>
          <p:cNvSpPr txBox="1"/>
          <p:nvPr/>
        </p:nvSpPr>
        <p:spPr>
          <a:xfrm>
            <a:off x="304797" y="4466941"/>
            <a:ext cx="4182555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docker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buildx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build --builder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multiarch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--platform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linux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/amd64,linux/arm64 \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-f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Dockerfile_recipes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Dockerfile.curl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-t &lt;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dockerhub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-user&gt;/ngs-curl:1.0 \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--push 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2407DF-98BE-A913-0B53-37D243A11CD2}"/>
              </a:ext>
            </a:extLst>
          </p:cNvPr>
          <p:cNvSpPr txBox="1"/>
          <p:nvPr/>
        </p:nvSpPr>
        <p:spPr>
          <a:xfrm>
            <a:off x="304798" y="5518556"/>
            <a:ext cx="4089581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docker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buildx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build --builder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multiarch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--platform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linux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/amd64,linux/arm64 \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-f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Dockerfile_recipes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Dockerfile.fastp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-t &lt;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dockerhub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-user&gt;/ngs-fastp:0.23.4 \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--push 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A026FE-0265-3AC4-A4C3-DE25F03C5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914" y="3516287"/>
            <a:ext cx="4989157" cy="16505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B6C4213-2DEA-8F69-7CB5-99CB90E51E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914"/>
          <a:stretch>
            <a:fillRect/>
          </a:stretch>
        </p:blipFill>
        <p:spPr>
          <a:xfrm>
            <a:off x="6803914" y="1147655"/>
            <a:ext cx="3062151" cy="228134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A6A79B9-1A9B-7809-1C0E-287472321175}"/>
              </a:ext>
            </a:extLst>
          </p:cNvPr>
          <p:cNvSpPr txBox="1"/>
          <p:nvPr/>
        </p:nvSpPr>
        <p:spPr>
          <a:xfrm>
            <a:off x="6747592" y="5839089"/>
            <a:ext cx="5394425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docker run --rm &lt;</a:t>
            </a:r>
            <a:r>
              <a:rPr lang="en-GB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dockerhub</a:t>
            </a:r>
            <a:r>
              <a:rPr lang="en-GB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-user&gt;/ngs-curl:1.0 curl –version</a:t>
            </a:r>
          </a:p>
          <a:p>
            <a:r>
              <a:rPr lang="en-GB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docker run --rm &lt;</a:t>
            </a:r>
            <a:r>
              <a:rPr lang="en-GB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dockerhub</a:t>
            </a:r>
            <a:r>
              <a:rPr lang="en-GB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-user&gt;/ngs-fastp:0.23.4 </a:t>
            </a:r>
            <a:r>
              <a:rPr lang="en-GB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fastp</a:t>
            </a:r>
            <a:r>
              <a:rPr lang="en-GB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--version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5CE55F-F374-8067-6E5A-585ACCB8622B}"/>
              </a:ext>
            </a:extLst>
          </p:cNvPr>
          <p:cNvSpPr txBox="1"/>
          <p:nvPr/>
        </p:nvSpPr>
        <p:spPr>
          <a:xfrm>
            <a:off x="6653347" y="5545643"/>
            <a:ext cx="836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Test them:</a:t>
            </a:r>
          </a:p>
        </p:txBody>
      </p:sp>
    </p:spTree>
    <p:extLst>
      <p:ext uri="{BB962C8B-B14F-4D97-AF65-F5344CB8AC3E}">
        <p14:creationId xmlns:p14="http://schemas.microsoft.com/office/powerpoint/2010/main" val="4070112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6A693-0DE4-490C-A26D-BAFBB2F21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How to create an image and save it to personal </a:t>
            </a:r>
            <a:r>
              <a:rPr lang="en-GB" sz="3600" dirty="0" err="1"/>
              <a:t>DockerHub</a:t>
            </a:r>
            <a:endParaRPr lang="en-GB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8F394-8BEE-91FC-1795-05C54B0FF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1E61B-EDD8-7E51-4F6D-C012CEA53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8CA43-E6F8-F7F9-F78A-2AB6AE7E8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13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EC44CB-0438-95C5-C0E7-EFCE941DE044}"/>
              </a:ext>
            </a:extLst>
          </p:cNvPr>
          <p:cNvSpPr txBox="1"/>
          <p:nvPr/>
        </p:nvSpPr>
        <p:spPr>
          <a:xfrm>
            <a:off x="171481" y="646101"/>
            <a:ext cx="11447362" cy="58169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Docker Cheat Sheet: 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docs.docker.com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/get-started/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docker_cheatsheet.pdf</a:t>
            </a:r>
            <a:endParaRPr lang="en-IT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IT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T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Basics:</a:t>
            </a:r>
            <a:b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Check Docker: 		docker --version</a:t>
            </a:r>
            <a:b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List local images: 	docker images</a:t>
            </a:r>
            <a:b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Pull an image: 	docker pull &lt;image&gt;:&lt;tag&gt;</a:t>
            </a:r>
          </a:p>
          <a:p>
            <a:endParaRPr lang="en-IT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T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Build images</a:t>
            </a:r>
            <a:b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Build an image: 			docker build -t &lt;image&gt;:&lt;tag&gt; .</a:t>
            </a:r>
            <a:b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Build a cross-platform image: docker buildx build --platform linux/amd64,linux/arm64 -t &lt;username&gt;/&lt;image&gt;:&lt;tag&gt; --push .</a:t>
            </a:r>
          </a:p>
          <a:p>
            <a:endParaRPr lang="en-IT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T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Run containers</a:t>
            </a:r>
            <a:b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Run a command using an image: 		docker run --rm &lt;image&gt;:&lt;tag&gt; &lt;command&gt;</a:t>
            </a:r>
            <a:b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Run code from the current folder: 		docker run --rm -v "$PWD":/work -w /work &lt;image&gt;:&lt;tag&gt; bash script.sh</a:t>
            </a:r>
            <a:b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Open an image interactively: 			docker run --rm -it &lt;image&gt;:&lt;tag&gt; bash</a:t>
            </a:r>
          </a:p>
          <a:p>
            <a:endParaRPr lang="en-IT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T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Containers</a:t>
            </a:r>
            <a:b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List running containers: 			docker ps</a:t>
            </a:r>
            <a:b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List all containers: 				docker ps -a</a:t>
            </a:r>
          </a:p>
          <a:p>
            <a:endParaRPr lang="en-IT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T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Docker Hub</a:t>
            </a:r>
            <a:b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Login: 							docker login</a:t>
            </a:r>
            <a:b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Push an image: 					docker push &lt;username&gt;/&lt;image&gt;:&lt;tag&gt;</a:t>
            </a:r>
          </a:p>
          <a:p>
            <a:endParaRPr lang="en-IT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T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Useful options</a:t>
            </a:r>
            <a:b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Remove container when finished: 		--rm</a:t>
            </a:r>
            <a:b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Interactive terminal: 				-it</a:t>
            </a:r>
            <a:b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Mount local folder: 				-v "$PWD":/work</a:t>
            </a:r>
            <a:b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Set working directory: 				-w /work</a:t>
            </a:r>
            <a:b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Force platform: 					--platform linux/amd64</a:t>
            </a:r>
          </a:p>
        </p:txBody>
      </p:sp>
    </p:spTree>
    <p:extLst>
      <p:ext uri="{BB962C8B-B14F-4D97-AF65-F5344CB8AC3E}">
        <p14:creationId xmlns:p14="http://schemas.microsoft.com/office/powerpoint/2010/main" val="2027097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5516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DC13F-DC26-ABC3-1FE1-A7E7D594D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Two complementary layers of reproducibility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A45C1-6B29-0FC5-CCBA-63FF4DA78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0" y="980817"/>
            <a:ext cx="3115236" cy="519627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REPRODUCIBILITY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15A20-9F76-1139-DAA6-B81BA4245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E4792-2F15-1FEA-E888-072326E1B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74516-8798-7E32-6FAF-E97F79F68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15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841FD-36C7-6042-E6AA-40F26A1506AF}"/>
              </a:ext>
            </a:extLst>
          </p:cNvPr>
          <p:cNvSpPr txBox="1"/>
          <p:nvPr/>
        </p:nvSpPr>
        <p:spPr>
          <a:xfrm>
            <a:off x="3134816" y="2355592"/>
            <a:ext cx="5822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Git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9F686D-DB18-7F8B-E9D0-EEF44322C77A}"/>
              </a:ext>
            </a:extLst>
          </p:cNvPr>
          <p:cNvSpPr txBox="1"/>
          <p:nvPr/>
        </p:nvSpPr>
        <p:spPr>
          <a:xfrm>
            <a:off x="7237432" y="2355591"/>
            <a:ext cx="1127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Docker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DA94A3-A118-D95B-7233-84917A3E625B}"/>
              </a:ext>
            </a:extLst>
          </p:cNvPr>
          <p:cNvSpPr txBox="1"/>
          <p:nvPr/>
        </p:nvSpPr>
        <p:spPr>
          <a:xfrm>
            <a:off x="2100302" y="3445943"/>
            <a:ext cx="2651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What and how did we do?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918BC1-CB41-E015-1E5B-626F4485215F}"/>
              </a:ext>
            </a:extLst>
          </p:cNvPr>
          <p:cNvSpPr txBox="1"/>
          <p:nvPr/>
        </p:nvSpPr>
        <p:spPr>
          <a:xfrm>
            <a:off x="6161047" y="3440369"/>
            <a:ext cx="3280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With what software and version?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EB1112-F3A6-4ADC-11B6-301D89648156}"/>
              </a:ext>
            </a:extLst>
          </p:cNvPr>
          <p:cNvSpPr txBox="1"/>
          <p:nvPr/>
        </p:nvSpPr>
        <p:spPr>
          <a:xfrm>
            <a:off x="2948551" y="4170056"/>
            <a:ext cx="954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dirty="0"/>
              <a:t>GitHub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31FCD8-008D-3BF0-EFF9-E829B59800FE}"/>
              </a:ext>
            </a:extLst>
          </p:cNvPr>
          <p:cNvSpPr txBox="1"/>
          <p:nvPr/>
        </p:nvSpPr>
        <p:spPr>
          <a:xfrm>
            <a:off x="7102025" y="4170056"/>
            <a:ext cx="1398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dirty="0"/>
              <a:t>Docker Hub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121B9C-D8FA-0277-AFC8-7C90B0AE5313}"/>
              </a:ext>
            </a:extLst>
          </p:cNvPr>
          <p:cNvSpPr txBox="1"/>
          <p:nvPr/>
        </p:nvSpPr>
        <p:spPr>
          <a:xfrm>
            <a:off x="2027427" y="4860663"/>
            <a:ext cx="2796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dirty="0"/>
              <a:t>scripts • metadata • history 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1FE82A-A429-BADC-887B-41F7B1B5B545}"/>
              </a:ext>
            </a:extLst>
          </p:cNvPr>
          <p:cNvSpPr txBox="1"/>
          <p:nvPr/>
        </p:nvSpPr>
        <p:spPr>
          <a:xfrm>
            <a:off x="6308649" y="4899743"/>
            <a:ext cx="29852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dirty="0"/>
              <a:t>images • tools • dependencies</a:t>
            </a:r>
            <a:endParaRPr lang="en-GB" dirty="0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4C96E52B-9177-EC0F-5C5A-F53CA836C0EB}"/>
              </a:ext>
            </a:extLst>
          </p:cNvPr>
          <p:cNvSpPr/>
          <p:nvPr/>
        </p:nvSpPr>
        <p:spPr>
          <a:xfrm rot="5400000">
            <a:off x="5353012" y="-349619"/>
            <a:ext cx="580543" cy="4365814"/>
          </a:xfrm>
          <a:prstGeom prst="leftBrace">
            <a:avLst>
              <a:gd name="adj1" fmla="val 0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FAEB58B-AC23-E3B4-EC03-3F89C83A875F}"/>
              </a:ext>
            </a:extLst>
          </p:cNvPr>
          <p:cNvCxnSpPr>
            <a:cxnSpLocks/>
          </p:cNvCxnSpPr>
          <p:nvPr/>
        </p:nvCxnSpPr>
        <p:spPr>
          <a:xfrm>
            <a:off x="3377131" y="4543347"/>
            <a:ext cx="0" cy="3173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D169BBE-A1B5-53CE-CEAD-10D780CE9A4F}"/>
              </a:ext>
            </a:extLst>
          </p:cNvPr>
          <p:cNvCxnSpPr>
            <a:cxnSpLocks/>
          </p:cNvCxnSpPr>
          <p:nvPr/>
        </p:nvCxnSpPr>
        <p:spPr>
          <a:xfrm>
            <a:off x="3370377" y="3852740"/>
            <a:ext cx="0" cy="3173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8A25190-CA0F-155D-1461-104C099CAF38}"/>
              </a:ext>
            </a:extLst>
          </p:cNvPr>
          <p:cNvCxnSpPr>
            <a:cxnSpLocks/>
          </p:cNvCxnSpPr>
          <p:nvPr/>
        </p:nvCxnSpPr>
        <p:spPr>
          <a:xfrm>
            <a:off x="3370377" y="3044099"/>
            <a:ext cx="0" cy="3173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696BECA-B096-290C-1E26-67DA182D2B82}"/>
              </a:ext>
            </a:extLst>
          </p:cNvPr>
          <p:cNvCxnSpPr>
            <a:cxnSpLocks/>
          </p:cNvCxnSpPr>
          <p:nvPr/>
        </p:nvCxnSpPr>
        <p:spPr>
          <a:xfrm>
            <a:off x="7813499" y="4588869"/>
            <a:ext cx="0" cy="3173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1BCC369-ED44-0461-7E64-4D32052F8705}"/>
              </a:ext>
            </a:extLst>
          </p:cNvPr>
          <p:cNvCxnSpPr>
            <a:cxnSpLocks/>
          </p:cNvCxnSpPr>
          <p:nvPr/>
        </p:nvCxnSpPr>
        <p:spPr>
          <a:xfrm>
            <a:off x="7806745" y="3898262"/>
            <a:ext cx="0" cy="3173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98A49CC-651F-6D3A-0F7D-740FD177EF9E}"/>
              </a:ext>
            </a:extLst>
          </p:cNvPr>
          <p:cNvCxnSpPr>
            <a:cxnSpLocks/>
          </p:cNvCxnSpPr>
          <p:nvPr/>
        </p:nvCxnSpPr>
        <p:spPr>
          <a:xfrm>
            <a:off x="7806745" y="3089621"/>
            <a:ext cx="0" cy="3173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C5787D4-B6CA-4C8F-DF55-7710988082B2}"/>
              </a:ext>
            </a:extLst>
          </p:cNvPr>
          <p:cNvSpPr txBox="1"/>
          <p:nvPr/>
        </p:nvSpPr>
        <p:spPr>
          <a:xfrm>
            <a:off x="477625" y="5626663"/>
            <a:ext cx="70449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dirty="0"/>
              <a:t>But neither replaces: data provenance + reference genome + annotation (That will be to be correctly reported and coded in the WF)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7524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D936A-FA2C-81AE-42F1-959D4B973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Reference-based NGS analysis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DA3D5-8E9A-DFA8-1161-49DB7FD69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930" y="1547713"/>
            <a:ext cx="11537965" cy="3238880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IT" sz="2400" dirty="0"/>
              <a:t>RNA-seq and ChIP-seq share a common computational backbone</a:t>
            </a:r>
          </a:p>
          <a:p>
            <a:pPr marL="0" indent="0">
              <a:buNone/>
            </a:pPr>
            <a:endParaRPr lang="en-IT" sz="1800" dirty="0"/>
          </a:p>
          <a:p>
            <a:pPr marL="0" indent="0">
              <a:buNone/>
            </a:pPr>
            <a:r>
              <a:rPr lang="en-IT" sz="18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RNA </a:t>
            </a:r>
            <a:r>
              <a:rPr lang="en-IT" sz="1800" b="1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en-IT" sz="18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library </a:t>
            </a:r>
          </a:p>
          <a:p>
            <a:pPr marL="0" indent="0">
              <a:buNone/>
            </a:pPr>
            <a:r>
              <a:rPr lang="en-IT" sz="1800" dirty="0">
                <a:solidFill>
                  <a:srgbClr val="FF0000"/>
                </a:solidFill>
              </a:rPr>
              <a:t>→</a:t>
            </a:r>
            <a:r>
              <a:rPr lang="en-IT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FASTQ </a:t>
            </a:r>
            <a:r>
              <a:rPr lang="en-IT" sz="1800" dirty="0">
                <a:solidFill>
                  <a:srgbClr val="FF0000"/>
                </a:solidFill>
              </a:rPr>
              <a:t>→</a:t>
            </a:r>
            <a:r>
              <a:rPr lang="en-IT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QC / trimming </a:t>
            </a:r>
            <a:r>
              <a:rPr lang="en-IT" sz="1800" dirty="0">
                <a:solidFill>
                  <a:srgbClr val="FF0000"/>
                </a:solidFill>
              </a:rPr>
              <a:t>→</a:t>
            </a:r>
            <a:r>
              <a:rPr lang="en-IT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alignment (BAM) </a:t>
            </a:r>
          </a:p>
          <a:p>
            <a:pPr marL="0" indent="0">
              <a:buNone/>
            </a:pPr>
            <a:r>
              <a:rPr lang="en-IT" sz="1800" dirty="0">
                <a:solidFill>
                  <a:srgbClr val="FF0000"/>
                </a:solidFill>
              </a:rPr>
              <a:t>→</a:t>
            </a:r>
            <a:r>
              <a:rPr lang="en-IT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reference-based count matrix </a:t>
            </a:r>
            <a:r>
              <a:rPr lang="en-IT" sz="1800" dirty="0">
                <a:solidFill>
                  <a:srgbClr val="FF0000"/>
                </a:solidFill>
              </a:rPr>
              <a:t>→</a:t>
            </a:r>
            <a:r>
              <a:rPr lang="en-IT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normalization + DEG</a:t>
            </a:r>
          </a:p>
          <a:p>
            <a:pPr marL="0" indent="0">
              <a:buNone/>
            </a:pPr>
            <a:endParaRPr lang="en-IT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T" sz="18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protein–DNA interactions / ChIP library </a:t>
            </a:r>
          </a:p>
          <a:p>
            <a:pPr marL="0" indent="0">
              <a:buNone/>
            </a:pPr>
            <a:r>
              <a:rPr lang="en-IT" sz="1800" dirty="0">
                <a:solidFill>
                  <a:srgbClr val="FF0000"/>
                </a:solidFill>
              </a:rPr>
              <a:t>→</a:t>
            </a:r>
            <a:r>
              <a:rPr lang="en-IT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FASTQ </a:t>
            </a:r>
            <a:r>
              <a:rPr lang="en-IT" sz="1800" dirty="0">
                <a:solidFill>
                  <a:srgbClr val="FF0000"/>
                </a:solidFill>
              </a:rPr>
              <a:t>→</a:t>
            </a:r>
            <a:r>
              <a:rPr lang="en-IT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QC / trimming </a:t>
            </a:r>
            <a:r>
              <a:rPr lang="en-IT" sz="1800" dirty="0">
                <a:solidFill>
                  <a:srgbClr val="FF0000"/>
                </a:solidFill>
              </a:rPr>
              <a:t>→</a:t>
            </a:r>
            <a:r>
              <a:rPr lang="en-IT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alignment (BAM) </a:t>
            </a:r>
          </a:p>
          <a:p>
            <a:pPr marL="0" indent="0">
              <a:buNone/>
            </a:pPr>
            <a:r>
              <a:rPr lang="en-IT" sz="1800" dirty="0">
                <a:solidFill>
                  <a:schemeClr val="accent4">
                    <a:lumMod val="75000"/>
                  </a:schemeClr>
                </a:solidFill>
              </a:rPr>
              <a:t>→</a:t>
            </a:r>
            <a:r>
              <a:rPr lang="en-IT" sz="180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peak calling </a:t>
            </a:r>
            <a:r>
              <a:rPr lang="en-IT" sz="1800" dirty="0">
                <a:solidFill>
                  <a:schemeClr val="accent4">
                    <a:lumMod val="75000"/>
                  </a:schemeClr>
                </a:solidFill>
              </a:rPr>
              <a:t>→</a:t>
            </a:r>
            <a:r>
              <a:rPr lang="en-IT" sz="180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consensus peaks definition </a:t>
            </a:r>
          </a:p>
          <a:p>
            <a:pPr marL="0" indent="0">
              <a:buNone/>
            </a:pPr>
            <a:r>
              <a:rPr lang="en-IT" sz="1800" dirty="0">
                <a:solidFill>
                  <a:srgbClr val="FF0000"/>
                </a:solidFill>
              </a:rPr>
              <a:t>→</a:t>
            </a:r>
            <a:r>
              <a:rPr lang="en-IT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reference-based count matrix </a:t>
            </a:r>
            <a:r>
              <a:rPr lang="en-IT" sz="1800" dirty="0">
                <a:solidFill>
                  <a:srgbClr val="FF0000"/>
                </a:solidFill>
              </a:rPr>
              <a:t>→</a:t>
            </a:r>
            <a:r>
              <a:rPr lang="en-IT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differential enrichment </a:t>
            </a:r>
          </a:p>
          <a:p>
            <a:pPr marL="0" indent="0">
              <a:buNone/>
            </a:pPr>
            <a:r>
              <a:rPr lang="en-IT" sz="1800" dirty="0">
                <a:solidFill>
                  <a:schemeClr val="accent4">
                    <a:lumMod val="75000"/>
                  </a:schemeClr>
                </a:solidFill>
              </a:rPr>
              <a:t>→</a:t>
            </a:r>
            <a:r>
              <a:rPr lang="en-IT" sz="180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motif enrichment/discovery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B5B86-97D9-D99D-69D2-956AEE477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ED796-AF84-ACC1-4858-9F82D2AC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DA7DA-C2D0-4DE0-6ED5-732F87AB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16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0133C4-44A3-92D3-F8B3-E1AA5A0A2EDA}"/>
              </a:ext>
            </a:extLst>
          </p:cNvPr>
          <p:cNvSpPr txBox="1"/>
          <p:nvPr/>
        </p:nvSpPr>
        <p:spPr>
          <a:xfrm>
            <a:off x="398930" y="5110232"/>
            <a:ext cx="109548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T" dirty="0"/>
              <a:t>Both workflows begin with the same </a:t>
            </a:r>
            <a:r>
              <a:rPr lang="en-IT" sz="2000" dirty="0"/>
              <a:t>fundamental</a:t>
            </a:r>
            <a:r>
              <a:rPr lang="en-IT" dirty="0"/>
              <a:t> object: </a:t>
            </a:r>
            <a:r>
              <a:rPr lang="en-IT" b="1" dirty="0">
                <a:solidFill>
                  <a:schemeClr val="accent1">
                    <a:lumMod val="75000"/>
                  </a:schemeClr>
                </a:solidFill>
              </a:rPr>
              <a:t>sequencing reads stored in FASTQ files</a:t>
            </a:r>
            <a:r>
              <a:rPr lang="en-IT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9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DB22E-773C-3E64-6E79-F411D6698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70" y="122282"/>
            <a:ext cx="11677316" cy="519627"/>
          </a:xfrm>
        </p:spPr>
        <p:txBody>
          <a:bodyPr>
            <a:normAutofit fontScale="90000"/>
          </a:bodyPr>
          <a:lstStyle/>
          <a:p>
            <a:r>
              <a:rPr lang="en-IT" dirty="0"/>
              <a:t>Reference-based analysis requires... a reference!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C292E-7230-7129-34DB-88499BDF3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365" y="812346"/>
            <a:ext cx="5406663" cy="49225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T" sz="2000" b="1" dirty="0"/>
              <a:t>Sequence tells us where we are</a:t>
            </a:r>
          </a:p>
          <a:p>
            <a:pPr marL="0" indent="0">
              <a:buNone/>
            </a:pPr>
            <a:r>
              <a:rPr lang="en-IT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The </a:t>
            </a:r>
            <a:r>
              <a:rPr lang="en-IT" sz="1400" b="1" dirty="0">
                <a:solidFill>
                  <a:schemeClr val="accent1">
                    <a:lumMod val="7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reference genome FASTA defines the coordinate system</a:t>
            </a:r>
            <a:r>
              <a:rPr lang="en-IT" sz="1400" dirty="0">
                <a:solidFill>
                  <a:schemeClr val="accent1">
                    <a:lumMod val="7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.</a:t>
            </a:r>
            <a:r>
              <a:rPr lang="en-IT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 </a:t>
            </a:r>
          </a:p>
          <a:p>
            <a:pPr marL="0" indent="0">
              <a:buNone/>
            </a:pPr>
            <a:r>
              <a:rPr lang="en-IT" sz="1400" dirty="0">
                <a:cs typeface="Gill Sans Light" panose="020B0302020104020203" pitchFamily="34" charset="-79"/>
              </a:rPr>
              <a:t>References are in the form of </a:t>
            </a:r>
            <a:r>
              <a:rPr lang="en-IT" sz="1400" dirty="0">
                <a:solidFill>
                  <a:srgbClr val="FF0000"/>
                </a:solidFill>
                <a:cs typeface="Gill Sans Light" panose="020B0302020104020203" pitchFamily="34" charset="-79"/>
              </a:rPr>
              <a:t>FASTA</a:t>
            </a:r>
            <a:r>
              <a:rPr lang="en-IT" sz="1400" dirty="0">
                <a:cs typeface="Gill Sans Light" panose="020B0302020104020203" pitchFamily="34" charset="-79"/>
              </a:rPr>
              <a:t> or compressed FASTA files:</a:t>
            </a:r>
          </a:p>
          <a:p>
            <a:pPr marL="0" indent="0">
              <a:buNone/>
            </a:pPr>
            <a:r>
              <a:rPr lang="en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&gt;chr1</a:t>
            </a:r>
          </a:p>
          <a:p>
            <a:pPr marL="0" indent="0">
              <a:buNone/>
            </a:pPr>
            <a:r>
              <a:rPr lang="en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ATGCGTACGTTAGCTAGCTAGCTAACGATCGATCGATCG... </a:t>
            </a:r>
          </a:p>
          <a:p>
            <a:pPr marL="0" indent="0">
              <a:buNone/>
            </a:pPr>
            <a:r>
              <a:rPr lang="en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CGATCGATTTAGCTAGCATCGATCGATCGTACGATCGTA... </a:t>
            </a:r>
          </a:p>
          <a:p>
            <a:pPr marL="0" indent="0">
              <a:buNone/>
            </a:pPr>
            <a:r>
              <a:rPr lang="en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&gt;chr2 </a:t>
            </a:r>
          </a:p>
          <a:p>
            <a:pPr marL="0" indent="0">
              <a:buNone/>
            </a:pPr>
            <a:r>
              <a:rPr lang="en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TTGACGATCGATCGATCGTAGCTAGCTAGCTAACGATCA...</a:t>
            </a:r>
          </a:p>
          <a:p>
            <a:pPr marL="0" indent="0">
              <a:buNone/>
            </a:pPr>
            <a:endParaRPr lang="en-IT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IT" sz="1200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  <a:p>
            <a:pPr marL="0" indent="0">
              <a:buNone/>
            </a:pPr>
            <a:r>
              <a:rPr lang="en-IT" sz="2000" b="1" dirty="0"/>
              <a:t>Annotation tells us what is there</a:t>
            </a:r>
          </a:p>
          <a:p>
            <a:pPr marL="0" indent="0">
              <a:buNone/>
            </a:pPr>
            <a:r>
              <a:rPr lang="en-IT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The </a:t>
            </a:r>
            <a:r>
              <a:rPr lang="en-IT" sz="1600" b="1" dirty="0">
                <a:solidFill>
                  <a:schemeClr val="accent1">
                    <a:lumMod val="7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annotation GFF3/GTF defines gene and feature coordinates</a:t>
            </a:r>
            <a:r>
              <a:rPr lang="en-IT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.</a:t>
            </a:r>
          </a:p>
          <a:p>
            <a:pPr marL="0" indent="0">
              <a:buNone/>
            </a:pPr>
            <a:r>
              <a:rPr lang="en-GB" sz="1600" dirty="0">
                <a:latin typeface="Gill Sans" panose="020B0502020104020203" pitchFamily="34" charset="-79"/>
                <a:cs typeface="Gill Sans" panose="020B0502020104020203" pitchFamily="34" charset="-79"/>
              </a:rPr>
              <a:t>Are plain text files </a:t>
            </a:r>
            <a:r>
              <a:rPr lang="en-IT" sz="1600" dirty="0"/>
              <a:t>tab-separated tables. Each row describes one genomic feature on the FASTA coordinate system</a:t>
            </a:r>
            <a:endParaRPr lang="en-GB" sz="1600" dirty="0"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pPr marL="0" indent="0">
              <a:buNone/>
            </a:pPr>
            <a:endParaRPr lang="en-GB" sz="1200" dirty="0"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E9D3C-7DAB-0231-A0B7-3C2EBDF2D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93E2B-74E3-AFE1-1349-53CCDA7C3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241CD-F915-A8EF-3E3A-99C9A4148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17</a:t>
            </a:fld>
            <a:endParaRPr lang="en-GB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D9F463D-E796-7ABF-B627-788BEE2536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806235"/>
              </p:ext>
            </p:extLst>
          </p:nvPr>
        </p:nvGraphicFramePr>
        <p:xfrm>
          <a:off x="5568028" y="812346"/>
          <a:ext cx="6476356" cy="2679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7522">
                  <a:extLst>
                    <a:ext uri="{9D8B030D-6E8A-4147-A177-3AD203B41FA5}">
                      <a16:colId xmlns:a16="http://schemas.microsoft.com/office/drawing/2014/main" val="851317064"/>
                    </a:ext>
                  </a:extLst>
                </a:gridCol>
                <a:gridCol w="2573518">
                  <a:extLst>
                    <a:ext uri="{9D8B030D-6E8A-4147-A177-3AD203B41FA5}">
                      <a16:colId xmlns:a16="http://schemas.microsoft.com/office/drawing/2014/main" val="1892498481"/>
                    </a:ext>
                  </a:extLst>
                </a:gridCol>
                <a:gridCol w="1668544">
                  <a:extLst>
                    <a:ext uri="{9D8B030D-6E8A-4147-A177-3AD203B41FA5}">
                      <a16:colId xmlns:a16="http://schemas.microsoft.com/office/drawing/2014/main" val="2901817767"/>
                    </a:ext>
                  </a:extLst>
                </a:gridCol>
                <a:gridCol w="1206772">
                  <a:extLst>
                    <a:ext uri="{9D8B030D-6E8A-4147-A177-3AD203B41FA5}">
                      <a16:colId xmlns:a16="http://schemas.microsoft.com/office/drawing/2014/main" val="3552455651"/>
                    </a:ext>
                  </a:extLst>
                </a:gridCol>
              </a:tblGrid>
              <a:tr h="286020">
                <a:tc>
                  <a:txBody>
                    <a:bodyPr/>
                    <a:lstStyle/>
                    <a:p>
                      <a:r>
                        <a:rPr lang="en-IT" sz="1200" dirty="0"/>
                        <a:t>Format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sz="1200" dirty="0"/>
                        <a:t>Information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sz="1200" dirty="0"/>
                        <a:t>Coordinates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sz="1200" dirty="0"/>
                        <a:t>Typical use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075187"/>
                  </a:ext>
                </a:extLst>
              </a:tr>
              <a:tr h="564204">
                <a:tc>
                  <a:txBody>
                    <a:bodyPr/>
                    <a:lstStyle/>
                    <a:p>
                      <a:r>
                        <a:rPr lang="en-GB" sz="1200" dirty="0"/>
                        <a:t>GFF3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sz="1200" dirty="0"/>
                        <a:t>Hierarchical features + attributes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1-base, 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Genome annotation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488920"/>
                  </a:ext>
                </a:extLst>
              </a:tr>
              <a:tr h="286020">
                <a:tc>
                  <a:txBody>
                    <a:bodyPr/>
                    <a:lstStyle/>
                    <a:p>
                      <a:r>
                        <a:rPr lang="en-GB" sz="1200" dirty="0"/>
                        <a:t>GTF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sz="1200" dirty="0"/>
                        <a:t>Gene/transcript feature annotation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1-base, 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sz="1200" dirty="0"/>
                        <a:t>RNA-seq quantification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021890"/>
                  </a:ext>
                </a:extLst>
              </a:tr>
              <a:tr h="286020">
                <a:tc>
                  <a:txBody>
                    <a:bodyPr/>
                    <a:lstStyle/>
                    <a:p>
                      <a:r>
                        <a:rPr lang="en-GB" sz="1200" dirty="0"/>
                        <a:t>BED6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sz="1200" dirty="0"/>
                        <a:t>Genomic intervals + strand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sz="1200" dirty="0"/>
                        <a:t>0-base, half-open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sz="1200" dirty="0"/>
                        <a:t>Interval operations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867512"/>
                  </a:ext>
                </a:extLst>
              </a:tr>
              <a:tr h="286020">
                <a:tc>
                  <a:txBody>
                    <a:bodyPr/>
                    <a:lstStyle/>
                    <a:p>
                      <a:r>
                        <a:rPr lang="en-GB" sz="1200" dirty="0"/>
                        <a:t>BED12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sz="1200" dirty="0"/>
                        <a:t>Intervals + strand + block structure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sz="1200" dirty="0"/>
                        <a:t>0-base, half-open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sz="1200" dirty="0"/>
                        <a:t>Gene/transcript models; RSeQC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971435"/>
                  </a:ext>
                </a:extLst>
              </a:tr>
              <a:tr h="286020">
                <a:tc>
                  <a:txBody>
                    <a:bodyPr/>
                    <a:lstStyle/>
                    <a:p>
                      <a:r>
                        <a:rPr lang="en-GB" sz="1200" dirty="0" err="1"/>
                        <a:t>narrowPeak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sz="1200" dirty="0"/>
                        <a:t>Enriched genomic intervals + peak statistics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sz="1200" dirty="0"/>
                        <a:t>0-base, half-open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sz="1200" dirty="0"/>
                        <a:t>ChIP-seq, later in Day 3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87597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79C18C5-9086-68D6-B288-F7B333BE62DE}"/>
              </a:ext>
            </a:extLst>
          </p:cNvPr>
          <p:cNvSpPr txBox="1"/>
          <p:nvPr/>
        </p:nvSpPr>
        <p:spPr>
          <a:xfrm>
            <a:off x="6435131" y="4181323"/>
            <a:ext cx="4588115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Same genomic interval:</a:t>
            </a:r>
          </a:p>
          <a:p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GFF/GTF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1001 ├────────────────────────┤ 1100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both coordinates included</a:t>
            </a:r>
          </a:p>
          <a:p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BED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1000 ├────────────────────────┤ 1100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start included          end excluded</a:t>
            </a:r>
          </a:p>
        </p:txBody>
      </p:sp>
    </p:spTree>
    <p:extLst>
      <p:ext uri="{BB962C8B-B14F-4D97-AF65-F5344CB8AC3E}">
        <p14:creationId xmlns:p14="http://schemas.microsoft.com/office/powerpoint/2010/main" val="3839831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2A39-6509-B35A-037A-DBFAD4E44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Download reference genome and annotation: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595AD-F8EB-983C-F185-7DCDABF4A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783" y="1338764"/>
            <a:ext cx="11192435" cy="9334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Browse to:</a:t>
            </a:r>
          </a:p>
          <a:p>
            <a:pPr marL="0" indent="0">
              <a:buNone/>
            </a:pPr>
            <a:r>
              <a:rPr lang="en-GB" dirty="0">
                <a:hlinkClick r:id="rId2"/>
              </a:rPr>
              <a:t>https://</a:t>
            </a:r>
            <a:r>
              <a:rPr lang="en-GB" dirty="0" err="1">
                <a:hlinkClick r:id="rId2"/>
              </a:rPr>
              <a:t>www.ncbi.nlm.nih.gov</a:t>
            </a:r>
            <a:r>
              <a:rPr lang="en-GB" dirty="0">
                <a:hlinkClick r:id="rId2"/>
              </a:rPr>
              <a:t>/datasets/genome/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4E92F-ED91-E56A-3E98-5D741BA4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4935E-3F38-B56C-0CE6-49E647562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5FA5C-07B0-FF5D-A851-96A995910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18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C8D96E-FAC6-7292-0ADD-0D58CD9CF5CA}"/>
              </a:ext>
            </a:extLst>
          </p:cNvPr>
          <p:cNvSpPr txBox="1"/>
          <p:nvPr/>
        </p:nvSpPr>
        <p:spPr>
          <a:xfrm>
            <a:off x="417783" y="2828835"/>
            <a:ext cx="92823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0B050"/>
                </a:solidFill>
              </a:rPr>
              <a:t>Open </a:t>
            </a:r>
            <a:r>
              <a:rPr lang="en-GB" sz="2400" dirty="0" err="1">
                <a:solidFill>
                  <a:srgbClr val="00B050"/>
                </a:solidFill>
              </a:rPr>
              <a:t>VSCode</a:t>
            </a:r>
            <a:r>
              <a:rPr lang="en-GB" sz="2400" dirty="0">
                <a:solidFill>
                  <a:srgbClr val="00B050"/>
                </a:solidFill>
              </a:rPr>
              <a:t>:</a:t>
            </a:r>
          </a:p>
          <a:p>
            <a:endParaRPr lang="en-GB" sz="2400" dirty="0"/>
          </a:p>
          <a:p>
            <a:r>
              <a:rPr lang="en-GB" sz="2400" dirty="0"/>
              <a:t>We will write first code which download reference genome, annotations and conversion into useful format</a:t>
            </a:r>
          </a:p>
          <a:p>
            <a:endParaRPr lang="en-GB" sz="2400" dirty="0"/>
          </a:p>
          <a:p>
            <a:r>
              <a:rPr lang="en-GB" sz="2400" dirty="0"/>
              <a:t>In the repo:</a:t>
            </a:r>
          </a:p>
          <a:p>
            <a:pPr marL="342900" indent="-342900">
              <a:buFontTx/>
              <a:buChar char="-"/>
            </a:pPr>
            <a:r>
              <a:rPr lang="en-GB" sz="2400" dirty="0"/>
              <a:t>Create script/day1 folder</a:t>
            </a:r>
          </a:p>
          <a:p>
            <a:pPr marL="342900" indent="-342900">
              <a:buFontTx/>
              <a:buChar char="-"/>
            </a:pPr>
            <a:r>
              <a:rPr lang="en-GB" sz="2400" dirty="0"/>
              <a:t>Assemble first </a:t>
            </a:r>
            <a:r>
              <a:rPr lang="en-IT" sz="2400" dirty="0"/>
              <a:t>scripts</a:t>
            </a:r>
            <a:r>
              <a:rPr lang="en-GB" sz="2400" dirty="0"/>
              <a:t> : </a:t>
            </a:r>
            <a:r>
              <a:rPr lang="en-GB" sz="2400" b="1" dirty="0"/>
              <a:t>01_reference_genome_annotation.sh</a:t>
            </a:r>
          </a:p>
          <a:p>
            <a:pPr marL="342900" indent="-342900">
              <a:buFontTx/>
              <a:buChar char="-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272445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418AF1-5358-87BE-F688-170B9CC54F96}"/>
              </a:ext>
            </a:extLst>
          </p:cNvPr>
          <p:cNvSpPr txBox="1"/>
          <p:nvPr/>
        </p:nvSpPr>
        <p:spPr>
          <a:xfrm>
            <a:off x="243260" y="812923"/>
            <a:ext cx="3787306" cy="11079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docker run --rm </a:t>
            </a:r>
            <a:r>
              <a:rPr lang="en-GB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-it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-v "$PWD:/work" \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-w /work \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docker.io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fgualdr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ngs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-curl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326B7-7EE9-64FF-35B1-DE5815DA8A2D}"/>
              </a:ext>
            </a:extLst>
          </p:cNvPr>
          <p:cNvSpPr txBox="1"/>
          <p:nvPr/>
        </p:nvSpPr>
        <p:spPr>
          <a:xfrm>
            <a:off x="223382" y="335845"/>
            <a:ext cx="10079937" cy="58169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#!/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/bin/env bash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set -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euo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pipefail</a:t>
            </a:r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out_dir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reference_genome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assembly="GCF_025998455.1_ASM2599845v1"</a:t>
            </a:r>
          </a:p>
          <a:p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base_url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="https://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ftp.ncbi.nlm.nih.gov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/genomes/all/GCF/025/998/455/${assembly}"</a:t>
            </a:r>
          </a:p>
          <a:p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-p "${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out_dir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}"</a:t>
            </a:r>
          </a:p>
          <a:p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echo "Downloading genome FASTA"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curl -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"${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base_url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}/${assembly}_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genomic.fna.gz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 -o "${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out_dir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}/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genome.fa.gz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gzip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"${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out_dir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}/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genome.fa.gz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echo "Downloading GFF3 annotation" 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curl -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"${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base_url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}/${assembly}_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genomic.gff.gz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 -o "${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out_dir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}/annotation.gff3.gz"</a:t>
            </a:r>
          </a:p>
          <a:p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gzip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"${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out_dir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}/annotation.gff3.gz"</a:t>
            </a:r>
          </a:p>
          <a:p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echo "Downloading GTF annotation" 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curl -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"${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base_url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}/${assembly}_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genomic.gtf.gz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 -o "${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out_dir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}/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annotation.gtf.gz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gzip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"${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out_dir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}/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annotation.gtf.gz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endParaRPr lang="en-GB" sz="12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awk -F '\t' '</a:t>
            </a:r>
          </a:p>
          <a:p>
            <a:r>
              <a:rPr lang="en-GB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 { OFS = "\t" }</a:t>
            </a:r>
          </a:p>
          <a:p>
            <a:r>
              <a:rPr lang="en-GB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$3 == "gene" {</a:t>
            </a:r>
          </a:p>
          <a:p>
            <a:r>
              <a:rPr lang="en-GB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split($9, attributes, ";")</a:t>
            </a:r>
          </a:p>
          <a:p>
            <a:r>
              <a:rPr lang="en-GB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sub(/^ID=/, "", attributes[1])</a:t>
            </a:r>
          </a:p>
          <a:p>
            <a:r>
              <a:rPr lang="en-GB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bed_start</a:t>
            </a:r>
            <a:r>
              <a:rPr lang="en-GB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$4 - 1</a:t>
            </a:r>
          </a:p>
          <a:p>
            <a:r>
              <a:rPr lang="en-GB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 $1, </a:t>
            </a:r>
            <a:r>
              <a:rPr lang="en-GB" sz="1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bed_start</a:t>
            </a:r>
            <a:r>
              <a:rPr lang="en-GB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$5, attributes[1], 0, $7, </a:t>
            </a:r>
            <a:r>
              <a:rPr lang="en-GB" sz="1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bed_start</a:t>
            </a:r>
            <a:r>
              <a:rPr lang="en-GB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$5, 0, 1, $5 - </a:t>
            </a:r>
            <a:r>
              <a:rPr lang="en-GB" sz="1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bed_start</a:t>
            </a:r>
            <a:r>
              <a:rPr lang="en-GB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0</a:t>
            </a:r>
          </a:p>
          <a:p>
            <a:r>
              <a:rPr lang="en-GB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GB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"${</a:t>
            </a:r>
            <a:r>
              <a:rPr lang="en-GB" sz="1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out_dir</a:t>
            </a:r>
            <a:r>
              <a:rPr lang="en-GB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}/annotation.gff3" &gt; "${</a:t>
            </a:r>
            <a:r>
              <a:rPr lang="en-GB" sz="1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out_dir</a:t>
            </a:r>
            <a:r>
              <a:rPr lang="en-GB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}/</a:t>
            </a:r>
            <a:r>
              <a:rPr lang="en-GB" sz="1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genes.bed</a:t>
            </a:r>
            <a:r>
              <a:rPr lang="en-GB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DDF423-5B2C-5635-F6DD-AA74A3735CF1}"/>
              </a:ext>
            </a:extLst>
          </p:cNvPr>
          <p:cNvSpPr txBox="1"/>
          <p:nvPr/>
        </p:nvSpPr>
        <p:spPr>
          <a:xfrm>
            <a:off x="6330461" y="4031143"/>
            <a:ext cx="5861539" cy="11695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run --rm \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-v "$PWD:/work" \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-w /work \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docker.io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fgualdr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/ngs-curl:1.0 \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bash scripts/day1/01_reference_genome_annotation.sh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9DD333-93B1-0B8B-8D17-B3BB8CFD4A41}"/>
              </a:ext>
            </a:extLst>
          </p:cNvPr>
          <p:cNvSpPr txBox="1"/>
          <p:nvPr/>
        </p:nvSpPr>
        <p:spPr>
          <a:xfrm>
            <a:off x="10221569" y="4151724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Terminal</a:t>
            </a:r>
          </a:p>
        </p:txBody>
      </p:sp>
    </p:spTree>
    <p:extLst>
      <p:ext uri="{BB962C8B-B14F-4D97-AF65-F5344CB8AC3E}">
        <p14:creationId xmlns:p14="http://schemas.microsoft.com/office/powerpoint/2010/main" val="111584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88E62-C83E-E49D-B8C2-09AE6B8AE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CFF29-BD6F-5403-BC96-31253BF89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FE048-4200-27B7-8DAB-76219B7EC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8E47E-A144-F41F-5C0F-E347C02EA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DDBEA-729F-1F2A-E00A-78CBBC29C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061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D85FA-F141-5967-9F6D-F0AC203AB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70" y="245096"/>
            <a:ext cx="12192000" cy="710951"/>
          </a:xfrm>
        </p:spPr>
        <p:txBody>
          <a:bodyPr>
            <a:normAutofit fontScale="90000"/>
          </a:bodyPr>
          <a:lstStyle/>
          <a:p>
            <a:r>
              <a:rPr lang="en-IT" b="1" dirty="0"/>
              <a:t>From biological molecules to sequencing reads</a:t>
            </a:r>
            <a:br>
              <a:rPr lang="en-IT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FF97C-B457-3FAB-1DB3-4B90AFA2D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043" y="956047"/>
            <a:ext cx="4489773" cy="520908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T" sz="2400" dirty="0">
                <a:solidFill>
                  <a:schemeClr val="accent1">
                    <a:lumMod val="75000"/>
                  </a:schemeClr>
                </a:solidFill>
              </a:rPr>
              <a:t>Illumina sequencing by synthesis</a:t>
            </a:r>
          </a:p>
          <a:p>
            <a:pPr marL="0" indent="0">
              <a:buNone/>
            </a:pPr>
            <a:endParaRPr lang="en-IT" sz="18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T" sz="1800" dirty="0">
                <a:solidFill>
                  <a:schemeClr val="accent1">
                    <a:lumMod val="75000"/>
                  </a:schemeClr>
                </a:solidFill>
              </a:rPr>
              <a:t>Library prep:</a:t>
            </a:r>
          </a:p>
          <a:p>
            <a:pPr marL="0" indent="0">
              <a:buNone/>
            </a:pPr>
            <a:r>
              <a:rPr lang="en-IT" sz="1800" dirty="0"/>
              <a:t>Library preparation converts DNA, or cDNA in RNA-seq, into adapter-flanked molecules compatible with sequencing </a:t>
            </a:r>
            <a:r>
              <a:rPr lang="en-GB" sz="1800" dirty="0"/>
              <a:t>termed P5 and P7, at their 5’ and 3’ end.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>
                <a:solidFill>
                  <a:schemeClr val="accent1">
                    <a:lumMod val="75000"/>
                  </a:schemeClr>
                </a:solidFill>
              </a:rPr>
              <a:t>Cluster Generation &amp; 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accent1">
                    <a:lumMod val="75000"/>
                  </a:schemeClr>
                </a:solidFill>
              </a:rPr>
              <a:t>Sequencing by Synthesis</a:t>
            </a:r>
            <a:r>
              <a:rPr lang="en-IT" sz="180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marL="0" indent="0">
              <a:buNone/>
            </a:pPr>
            <a:r>
              <a:rPr lang="en-GB" sz="1800" dirty="0"/>
              <a:t>Libraries bind complementary oligos on the flow cell. Bridge amplification clonally amplifies each molecule into a cluster, generating enough signal for detection.</a:t>
            </a:r>
          </a:p>
          <a:p>
            <a:pPr marL="0" indent="0">
              <a:buNone/>
            </a:pPr>
            <a:r>
              <a:rPr lang="en-IT" sz="1800" dirty="0"/>
              <a:t>Fluorescent reversible-terminator nucleotides are incorporated </a:t>
            </a:r>
            <a:r>
              <a:rPr lang="en-IT" sz="1800" b="1" dirty="0"/>
              <a:t>one base per cycle</a:t>
            </a:r>
            <a:r>
              <a:rPr lang="en-IT" sz="1800" dirty="0"/>
              <a:t>, imaged, deblocked and extended again. Repeated cycles generate the read; fluorescence signals are converted into sequence by </a:t>
            </a:r>
            <a:r>
              <a:rPr lang="en-IT" sz="1800" b="1" dirty="0"/>
              <a:t>base calling</a:t>
            </a:r>
            <a:r>
              <a:rPr lang="en-IT" sz="1800" dirty="0"/>
              <a:t>.</a:t>
            </a:r>
          </a:p>
          <a:p>
            <a:pPr marL="0" indent="0">
              <a:buNone/>
            </a:pPr>
            <a:r>
              <a:rPr lang="en-IT" sz="1800" dirty="0"/>
              <a:t>Read 1 is sequenced first, followed by index read(s), then the opposite strand is sequenced as </a:t>
            </a:r>
            <a:r>
              <a:rPr lang="en-IT" sz="1800" b="1" dirty="0"/>
              <a:t>Read 2 (for PE library)</a:t>
            </a:r>
            <a:endParaRPr lang="en-IT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ACD16-6B6F-AC7E-B170-0626EFFCF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4FAEE-AC0D-ACDE-A463-417F022F9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6F59E-8150-7320-A025-994036996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21</a:t>
            </a:fld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1FC916-3797-160D-410C-E58546BFA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527" y="1431623"/>
            <a:ext cx="6564715" cy="1592969"/>
          </a:xfrm>
          <a:prstGeom prst="rect">
            <a:avLst/>
          </a:prstGeom>
        </p:spPr>
      </p:pic>
      <p:pic>
        <p:nvPicPr>
          <p:cNvPr id="13" name="Picture 12" descr="hires-sbs-sequencing">
            <a:extLst>
              <a:ext uri="{FF2B5EF4-FFF2-40B4-BE49-F238E27FC236}">
                <a16:creationId xmlns:a16="http://schemas.microsoft.com/office/drawing/2014/main" id="{865A540E-CD9B-E21B-4BF6-7B91DB060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0396" y="3708968"/>
            <a:ext cx="3262561" cy="18434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FC8F716-FD9B-B5D5-6B10-1AC7D96D0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830" y="3780603"/>
            <a:ext cx="4557226" cy="19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8686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2C00E-EBC4-381E-7266-5D389AB30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Sequencing layout: single-end, paired-end and indexes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90FAE-C801-9204-DC61-E0439BCA9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929" y="956047"/>
            <a:ext cx="11192435" cy="530335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T" b="1" dirty="0"/>
              <a:t>Paired-end sequencing</a:t>
            </a:r>
            <a:endParaRPr lang="en-IT" dirty="0"/>
          </a:p>
          <a:p>
            <a:pPr lvl="0"/>
            <a:r>
              <a:rPr lang="en-IT" dirty="0"/>
              <a:t>R1 and R2 originate from opposite ends of the </a:t>
            </a:r>
            <a:r>
              <a:rPr lang="en-IT" b="1" dirty="0"/>
              <a:t>same library fragment</a:t>
            </a:r>
            <a:r>
              <a:rPr lang="en-IT" dirty="0"/>
              <a:t>. </a:t>
            </a:r>
          </a:p>
          <a:p>
            <a:pPr lvl="0"/>
            <a:r>
              <a:rPr lang="en-IT" dirty="0"/>
              <a:t>Their records remain synchronized throughout preprocessing and alignment. </a:t>
            </a:r>
          </a:p>
          <a:p>
            <a:pPr marL="0" indent="0">
              <a:buNone/>
            </a:pPr>
            <a:endParaRPr lang="en-IT" b="1" dirty="0"/>
          </a:p>
          <a:p>
            <a:pPr marL="0" indent="0">
              <a:buNone/>
            </a:pPr>
            <a:r>
              <a:rPr lang="en-IT" b="1" dirty="0"/>
              <a:t>Indexes</a:t>
            </a:r>
            <a:endParaRPr lang="en-IT" dirty="0"/>
          </a:p>
          <a:p>
            <a:pPr lvl="0"/>
            <a:r>
              <a:rPr lang="en-IT" dirty="0"/>
              <a:t>i7/i5 sequences identify libraries multiplexed in the same sequencing run. </a:t>
            </a:r>
          </a:p>
          <a:p>
            <a:pPr lvl="0"/>
            <a:r>
              <a:rPr lang="en-IT" dirty="0"/>
              <a:t>Demultiplexing uses these indexes to generate sample-specific FASTQ files. </a:t>
            </a:r>
          </a:p>
          <a:p>
            <a:pPr lvl="0"/>
            <a:endParaRPr lang="en-IT" dirty="0"/>
          </a:p>
          <a:p>
            <a:pPr marL="0" lvl="0" indent="0">
              <a:buNone/>
            </a:pPr>
            <a:r>
              <a:rPr lang="en-GB" dirty="0">
                <a:hlinkClick r:id="rId2"/>
              </a:rPr>
              <a:t>https://knowledge.illumina.com</a:t>
            </a:r>
            <a:endParaRPr lang="en-GB" dirty="0"/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lang="en-GB" dirty="0"/>
              <a:t>At the end of the run, the instrument stores the sequencing output as BCL files, organized by cycle and containing the base calls and quality information for each cluster.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lang="en-GB" dirty="0"/>
              <a:t>Tools such as bcl2fastq (or the newer BCL Convert) use the sample sheet and index sequences to demultiplex the run and convert BCL data into sample-specific FASTQ files.</a:t>
            </a:r>
            <a:endParaRPr lang="en-I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874D2-360B-4C3E-45D4-0B6AD8994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A4E06-C2B4-A352-D977-2DF673A43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A56B6-4F58-E3C2-2344-E5B90E2E7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2187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DF823-CE91-EB86-D421-F67DF66A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FASTQ structure: sequence + uncertainty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C7A0C-4673-1C73-2D04-BE09CB9F7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846" y="857838"/>
            <a:ext cx="11219538" cy="1401477"/>
          </a:xfrm>
          <a:ln>
            <a:solidFill>
              <a:schemeClr val="tx1"/>
            </a:solidFill>
          </a:ln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@SEQ_ID</a:t>
            </a:r>
          </a:p>
          <a:p>
            <a:pPr marL="0" indent="0">
              <a:buNone/>
            </a:pP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GATTTGGGGTTCAAAGCAGTATCGATCAAATAGTAAATCCATTTGTTCAACTCACAGTTT</a:t>
            </a:r>
          </a:p>
          <a:p>
            <a:pPr marL="0" indent="0">
              <a:buNone/>
            </a:pP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  <a:p>
            <a:pPr marL="0" indent="0">
              <a:buNone/>
            </a:pP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!''*((((***+))%%%++)(%%%%).1***-+*''))**55CCF&gt;&gt;&gt;&gt;&gt;&gt;CCCCCCC65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0CD00-9934-DCF5-2E54-72D7A25F3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304D0-AC64-AB88-EA98-BC7F7148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30B29-3EE4-720D-0333-35CFFF97A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23</a:t>
            </a:fld>
            <a:endParaRPr lang="en-GB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C7EF140-3B6F-EA9D-7D79-79D74C93B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456400"/>
              </p:ext>
            </p:extLst>
          </p:nvPr>
        </p:nvGraphicFramePr>
        <p:xfrm>
          <a:off x="450846" y="2390746"/>
          <a:ext cx="11290308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3883">
                  <a:extLst>
                    <a:ext uri="{9D8B030D-6E8A-4147-A177-3AD203B41FA5}">
                      <a16:colId xmlns:a16="http://schemas.microsoft.com/office/drawing/2014/main" val="2408348085"/>
                    </a:ext>
                  </a:extLst>
                </a:gridCol>
                <a:gridCol w="9926425">
                  <a:extLst>
                    <a:ext uri="{9D8B030D-6E8A-4147-A177-3AD203B41FA5}">
                      <a16:colId xmlns:a16="http://schemas.microsoft.com/office/drawing/2014/main" val="20091481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T" dirty="0">
                          <a:effectLst/>
                        </a:rPr>
                        <a:t>FASTQ line</a:t>
                      </a:r>
                      <a:endParaRPr lang="en-IT" b="0" i="0" dirty="0">
                        <a:solidFill>
                          <a:srgbClr val="343A40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T">
                          <a:effectLst/>
                        </a:rPr>
                        <a:t>Meaning</a:t>
                      </a:r>
                      <a:endParaRPr lang="en-IT" b="0" i="0">
                        <a:solidFill>
                          <a:srgbClr val="343A40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835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T" dirty="0">
                          <a:effectLst/>
                        </a:rPr>
                        <a:t>1</a:t>
                      </a:r>
                      <a:endParaRPr lang="en-IT" b="0" i="0" dirty="0">
                        <a:solidFill>
                          <a:srgbClr val="343A40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T" dirty="0">
                          <a:effectLst/>
                        </a:rPr>
                        <a:t>Read identifier: instrument/run/lane/tile/coordinate and sometimes read/index information</a:t>
                      </a:r>
                      <a:endParaRPr lang="en-IT" b="0" i="0" dirty="0">
                        <a:solidFill>
                          <a:srgbClr val="343A40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230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T">
                          <a:effectLst/>
                        </a:rPr>
                        <a:t>2</a:t>
                      </a:r>
                      <a:endParaRPr lang="en-IT" b="0" i="0">
                        <a:solidFill>
                          <a:srgbClr val="343A40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T">
                          <a:effectLst/>
                        </a:rPr>
                        <a:t>Called DNA sequence</a:t>
                      </a:r>
                      <a:endParaRPr lang="en-IT" b="0" i="0">
                        <a:solidFill>
                          <a:srgbClr val="343A40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101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T">
                          <a:effectLst/>
                        </a:rPr>
                        <a:t>3</a:t>
                      </a:r>
                      <a:endParaRPr lang="en-IT" b="0" i="0">
                        <a:solidFill>
                          <a:srgbClr val="343A40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T" dirty="0">
                          <a:effectLst/>
                        </a:rPr>
                        <a:t>Separator, often just +</a:t>
                      </a:r>
                      <a:endParaRPr lang="en-IT" b="0" i="0" dirty="0">
                        <a:solidFill>
                          <a:srgbClr val="343A40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778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T" dirty="0">
                          <a:effectLst/>
                        </a:rPr>
                        <a:t>4</a:t>
                      </a:r>
                      <a:endParaRPr lang="en-IT" b="0" i="0" dirty="0">
                        <a:solidFill>
                          <a:srgbClr val="343A40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T" dirty="0">
                          <a:effectLst/>
                        </a:rPr>
                        <a:t>Per-base quality string encoded as Phred quality scores</a:t>
                      </a:r>
                      <a:endParaRPr lang="en-IT" b="0" i="0" dirty="0">
                        <a:solidFill>
                          <a:srgbClr val="343A40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2426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3EBF38F-64F0-50B8-5FDB-1A27CE618ACE}"/>
              </a:ext>
            </a:extLst>
          </p:cNvPr>
          <p:cNvSpPr txBox="1"/>
          <p:nvPr/>
        </p:nvSpPr>
        <p:spPr>
          <a:xfrm>
            <a:off x="2171168" y="4888859"/>
            <a:ext cx="9301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800" b="0" i="0" dirty="0">
                <a:solidFill>
                  <a:srgbClr val="FF0000"/>
                </a:solidFill>
                <a:effectLst/>
                <a:latin typeface="+mn-lt"/>
              </a:rPr>
              <a:t>@A00488:92:H2JWNDSX3:2:1101:1234:5678 1:N:0:ATTACTCG+GTCGATTA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73B894-662A-A542-E08D-B16DE01173BA}"/>
              </a:ext>
            </a:extLst>
          </p:cNvPr>
          <p:cNvSpPr txBox="1"/>
          <p:nvPr/>
        </p:nvSpPr>
        <p:spPr>
          <a:xfrm>
            <a:off x="1161067" y="4431205"/>
            <a:ext cx="1854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800" b="0" i="0" dirty="0">
                <a:solidFill>
                  <a:schemeClr val="tx1"/>
                </a:solidFill>
                <a:effectLst/>
                <a:latin typeface="+mn-lt"/>
              </a:rPr>
              <a:t>instrument name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3828D0-B828-B213-5145-618AC0B2E9DD}"/>
              </a:ext>
            </a:extLst>
          </p:cNvPr>
          <p:cNvSpPr txBox="1"/>
          <p:nvPr/>
        </p:nvSpPr>
        <p:spPr>
          <a:xfrm>
            <a:off x="2738805" y="5336191"/>
            <a:ext cx="135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800" b="0" i="0" dirty="0">
                <a:solidFill>
                  <a:schemeClr val="tx1"/>
                </a:solidFill>
                <a:effectLst/>
                <a:latin typeface="+mn-lt"/>
              </a:rPr>
              <a:t>run number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AD57D8-A357-F974-84CE-22B1B6049607}"/>
              </a:ext>
            </a:extLst>
          </p:cNvPr>
          <p:cNvSpPr txBox="1"/>
          <p:nvPr/>
        </p:nvSpPr>
        <p:spPr>
          <a:xfrm>
            <a:off x="3693730" y="4431205"/>
            <a:ext cx="1241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800" b="0" i="0" dirty="0">
                <a:solidFill>
                  <a:schemeClr val="tx1"/>
                </a:solidFill>
                <a:effectLst/>
                <a:latin typeface="+mn-lt"/>
              </a:rPr>
              <a:t>flowcell ID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699025-0916-9502-9E80-5F6269AC9CAF}"/>
              </a:ext>
            </a:extLst>
          </p:cNvPr>
          <p:cNvSpPr txBox="1"/>
          <p:nvPr/>
        </p:nvSpPr>
        <p:spPr>
          <a:xfrm>
            <a:off x="4533277" y="5327627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101296-466C-0CB1-293F-D09FE051914A}"/>
              </a:ext>
            </a:extLst>
          </p:cNvPr>
          <p:cNvSpPr txBox="1"/>
          <p:nvPr/>
        </p:nvSpPr>
        <p:spPr>
          <a:xfrm>
            <a:off x="4838993" y="4122294"/>
            <a:ext cx="16320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Tile</a:t>
            </a:r>
          </a:p>
          <a:p>
            <a:r>
              <a:rPr lang="en-IT" dirty="0"/>
              <a:t>physical section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475544-56FF-296D-10C6-600DFD250F64}"/>
              </a:ext>
            </a:extLst>
          </p:cNvPr>
          <p:cNvSpPr txBox="1"/>
          <p:nvPr/>
        </p:nvSpPr>
        <p:spPr>
          <a:xfrm>
            <a:off x="9691957" y="4857061"/>
            <a:ext cx="2500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sample index or barcode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8570AC-4547-4F7C-C75D-7AA52C18DF9B}"/>
              </a:ext>
            </a:extLst>
          </p:cNvPr>
          <p:cNvSpPr txBox="1"/>
          <p:nvPr/>
        </p:nvSpPr>
        <p:spPr>
          <a:xfrm>
            <a:off x="7161218" y="5366292"/>
            <a:ext cx="2365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Additional filtering flags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3DF79B-4FD0-A13B-7391-D6BA85E883B8}"/>
              </a:ext>
            </a:extLst>
          </p:cNvPr>
          <p:cNvCxnSpPr/>
          <p:nvPr/>
        </p:nvCxnSpPr>
        <p:spPr>
          <a:xfrm>
            <a:off x="2356701" y="4800537"/>
            <a:ext cx="292231" cy="9634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B7A9B1E-0CE6-EE60-4ADC-4C981C1C9D10}"/>
              </a:ext>
            </a:extLst>
          </p:cNvPr>
          <p:cNvCxnSpPr/>
          <p:nvPr/>
        </p:nvCxnSpPr>
        <p:spPr>
          <a:xfrm flipV="1">
            <a:off x="3214540" y="5222233"/>
            <a:ext cx="122549" cy="18466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736729E-EAB9-ED2C-BFD5-69A81E13FE37}"/>
              </a:ext>
            </a:extLst>
          </p:cNvPr>
          <p:cNvCxnSpPr/>
          <p:nvPr/>
        </p:nvCxnSpPr>
        <p:spPr>
          <a:xfrm flipV="1">
            <a:off x="4117667" y="4733761"/>
            <a:ext cx="122549" cy="18466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CFFFA8B-413E-A7B1-EE1C-82F63EBFDA19}"/>
              </a:ext>
            </a:extLst>
          </p:cNvPr>
          <p:cNvCxnSpPr/>
          <p:nvPr/>
        </p:nvCxnSpPr>
        <p:spPr>
          <a:xfrm flipV="1">
            <a:off x="4813162" y="5178845"/>
            <a:ext cx="122549" cy="18466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FD3E920-DBC2-F434-65FA-9D834F6BEAE5}"/>
              </a:ext>
            </a:extLst>
          </p:cNvPr>
          <p:cNvCxnSpPr/>
          <p:nvPr/>
        </p:nvCxnSpPr>
        <p:spPr>
          <a:xfrm flipV="1">
            <a:off x="5327091" y="4733761"/>
            <a:ext cx="122549" cy="18466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E9557C7-CA38-E687-7FF0-32F28B2593C7}"/>
              </a:ext>
            </a:extLst>
          </p:cNvPr>
          <p:cNvCxnSpPr/>
          <p:nvPr/>
        </p:nvCxnSpPr>
        <p:spPr>
          <a:xfrm flipV="1">
            <a:off x="6161961" y="5202870"/>
            <a:ext cx="122549" cy="18466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BF1984B-86C7-DE20-553F-40F667E85E8D}"/>
              </a:ext>
            </a:extLst>
          </p:cNvPr>
          <p:cNvCxnSpPr>
            <a:cxnSpLocks/>
          </p:cNvCxnSpPr>
          <p:nvPr/>
        </p:nvCxnSpPr>
        <p:spPr>
          <a:xfrm>
            <a:off x="5755025" y="5212382"/>
            <a:ext cx="214460" cy="15563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95D4F32-5B89-E5AE-2B17-B49035E49126}"/>
              </a:ext>
            </a:extLst>
          </p:cNvPr>
          <p:cNvSpPr txBox="1"/>
          <p:nvPr/>
        </p:nvSpPr>
        <p:spPr>
          <a:xfrm>
            <a:off x="5340026" y="5349838"/>
            <a:ext cx="1628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x/y coordinates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E983B1-CADE-7EF5-7E9F-33BB063D9140}"/>
              </a:ext>
            </a:extLst>
          </p:cNvPr>
          <p:cNvSpPr txBox="1"/>
          <p:nvPr/>
        </p:nvSpPr>
        <p:spPr>
          <a:xfrm>
            <a:off x="6535272" y="4441527"/>
            <a:ext cx="2876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the member of a pair, 1 or 2 </a:t>
            </a:r>
            <a:endParaRPr lang="en-GB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6D7DAA4-69F4-5C6D-4446-68DD5C88DDBB}"/>
              </a:ext>
            </a:extLst>
          </p:cNvPr>
          <p:cNvCxnSpPr/>
          <p:nvPr/>
        </p:nvCxnSpPr>
        <p:spPr>
          <a:xfrm flipV="1">
            <a:off x="6647157" y="4736837"/>
            <a:ext cx="122549" cy="18466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E29A85-63D7-2797-615F-84429257E7DC}"/>
              </a:ext>
            </a:extLst>
          </p:cNvPr>
          <p:cNvCxnSpPr>
            <a:cxnSpLocks/>
          </p:cNvCxnSpPr>
          <p:nvPr/>
        </p:nvCxnSpPr>
        <p:spPr>
          <a:xfrm>
            <a:off x="6968742" y="5225144"/>
            <a:ext cx="214460" cy="15563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462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6" grpId="0"/>
      <p:bldP spid="17" grpId="0"/>
      <p:bldP spid="18" grpId="0"/>
      <p:bldP spid="19" grpId="0"/>
      <p:bldP spid="20" grpId="0"/>
      <p:bldP spid="31" grpId="0"/>
      <p:bldP spid="3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97656-A7DC-F940-4DE9-A7CDBC56A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FASTQ structure: sequence + uncertainty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3658A-0F4B-D0CC-8C3E-3C1542642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990" y="747326"/>
            <a:ext cx="11192435" cy="511676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T" dirty="0"/>
              <a:t>The </a:t>
            </a:r>
            <a:r>
              <a:rPr lang="en-IT" dirty="0">
                <a:solidFill>
                  <a:srgbClr val="FF0000"/>
                </a:solidFill>
              </a:rPr>
              <a:t>quality string </a:t>
            </a:r>
            <a:r>
              <a:rPr lang="en-IT" dirty="0"/>
              <a:t>encodes Phred quality scores:</a:t>
            </a:r>
          </a:p>
          <a:p>
            <a:pPr marL="0" indent="0">
              <a:buNone/>
            </a:pPr>
            <a:endParaRPr lang="en-IT" dirty="0"/>
          </a:p>
          <a:p>
            <a:pPr marL="0" indent="0">
              <a:buNone/>
            </a:pPr>
            <a:r>
              <a:rPr lang="en-IT" dirty="0"/>
              <a:t>Why characters?</a:t>
            </a:r>
          </a:p>
          <a:p>
            <a:pPr marL="0" indent="0">
              <a:buNone/>
            </a:pPr>
            <a:endParaRPr lang="en-IT" dirty="0"/>
          </a:p>
          <a:p>
            <a:pPr marL="0" indent="0">
              <a:buNone/>
            </a:pPr>
            <a:r>
              <a:rPr lang="en-IT" dirty="0"/>
              <a:t>FASTQ normally uses </a:t>
            </a:r>
            <a:r>
              <a:rPr lang="en-IT" b="1" dirty="0"/>
              <a:t>Phred+33 ASCII encoding</a:t>
            </a:r>
            <a:r>
              <a:rPr lang="en-IT" dirty="0"/>
              <a:t>:</a:t>
            </a:r>
          </a:p>
          <a:p>
            <a:pPr marL="0" indent="0">
              <a:buNone/>
            </a:pPr>
            <a:r>
              <a:rPr lang="en-IT" dirty="0"/>
              <a:t>Q=-10 * log</a:t>
            </a:r>
            <a:r>
              <a:rPr lang="en-IT" baseline="-25000" dirty="0"/>
              <a:t>10</a:t>
            </a:r>
            <a:r>
              <a:rPr lang="en-IT" dirty="0"/>
              <a:t>(Perr) 	i.e. the probability that the base call is wrong at that position</a:t>
            </a:r>
          </a:p>
          <a:p>
            <a:pPr marL="0" indent="0">
              <a:buNone/>
            </a:pPr>
            <a:endParaRPr lang="en-IT" dirty="0"/>
          </a:p>
          <a:p>
            <a:pPr marL="0" indent="0">
              <a:buNone/>
            </a:pPr>
            <a:r>
              <a:rPr lang="en-IT" dirty="0"/>
              <a:t>Q = ASCII(character) − 33:</a:t>
            </a:r>
          </a:p>
          <a:p>
            <a:pPr marL="0" indent="0">
              <a:buNone/>
            </a:pPr>
            <a:r>
              <a:rPr lang="en-IT" dirty="0"/>
              <a:t>5 → Q20 = 0.01</a:t>
            </a:r>
          </a:p>
          <a:p>
            <a:pPr marL="0" indent="0">
              <a:buNone/>
            </a:pPr>
            <a:r>
              <a:rPr lang="en-IT" dirty="0"/>
              <a:t>? → Q30 = 0.001</a:t>
            </a:r>
          </a:p>
          <a:p>
            <a:pPr marL="0" indent="0">
              <a:buNone/>
            </a:pPr>
            <a:r>
              <a:rPr lang="en-IT" dirty="0"/>
              <a:t>I → Q40 = 0.0001</a:t>
            </a:r>
          </a:p>
          <a:p>
            <a:pPr marL="0" indent="0">
              <a:buNone/>
            </a:pPr>
            <a:endParaRPr lang="en-IT" dirty="0"/>
          </a:p>
          <a:p>
            <a:pPr marL="0" indent="0">
              <a:buNone/>
            </a:pPr>
            <a:r>
              <a:rPr lang="en-IT" dirty="0"/>
              <a:t>One sequence character &lt;/&gt; one quality character.</a:t>
            </a:r>
            <a:br>
              <a:rPr lang="en-IT" dirty="0"/>
            </a:br>
            <a:r>
              <a:rPr lang="en-IT" dirty="0"/>
              <a:t>Base quality estimates uncertainty in the </a:t>
            </a:r>
            <a:r>
              <a:rPr lang="en-IT" b="1" dirty="0"/>
              <a:t>base call</a:t>
            </a:r>
            <a:r>
              <a:rPr lang="en-IT" dirty="0"/>
              <a:t>, not uncertainty in genomic alignment.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22AFF-006A-33E5-7AA0-C5C9A8668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20469-C718-CE6F-0D4E-94DAE07B7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05E98-7D38-C390-BA98-BA2EEA3B1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4117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C8F73-26E8-5877-EA0C-B515E7C94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70" y="122282"/>
            <a:ext cx="9386602" cy="1112629"/>
          </a:xfrm>
        </p:spPr>
        <p:txBody>
          <a:bodyPr>
            <a:normAutofit fontScale="90000"/>
          </a:bodyPr>
          <a:lstStyle/>
          <a:p>
            <a:r>
              <a:rPr lang="en-IT" dirty="0"/>
              <a:t>Library preparation determines what the FASTQ represents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B313C-AD3D-9652-C9F5-8D41BF761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90CE5-7AE9-6E0F-7986-CDEA9780E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04E8C-0D0A-17CC-C38D-ADDC7114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25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53F9F0-AAF7-64A2-5FB7-897C81E7CD25}"/>
              </a:ext>
            </a:extLst>
          </p:cNvPr>
          <p:cNvSpPr txBox="1"/>
          <p:nvPr/>
        </p:nvSpPr>
        <p:spPr>
          <a:xfrm>
            <a:off x="134470" y="1291847"/>
            <a:ext cx="117433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2400" dirty="0">
                <a:solidFill>
                  <a:schemeClr val="accent1">
                    <a:lumMod val="75000"/>
                  </a:schemeClr>
                </a:solidFill>
              </a:rPr>
              <a:t>The same FASTQ format can represent fundamentally different libraries.</a:t>
            </a:r>
            <a:endParaRPr lang="en-GB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298C5FC-A539-E7CF-D901-EB6A45410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080481"/>
              </p:ext>
            </p:extLst>
          </p:nvPr>
        </p:nvGraphicFramePr>
        <p:xfrm>
          <a:off x="1324990" y="1909465"/>
          <a:ext cx="9101055" cy="3039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0196">
                  <a:extLst>
                    <a:ext uri="{9D8B030D-6E8A-4147-A177-3AD203B41FA5}">
                      <a16:colId xmlns:a16="http://schemas.microsoft.com/office/drawing/2014/main" val="1144297148"/>
                    </a:ext>
                  </a:extLst>
                </a:gridCol>
                <a:gridCol w="6520859">
                  <a:extLst>
                    <a:ext uri="{9D8B030D-6E8A-4147-A177-3AD203B41FA5}">
                      <a16:colId xmlns:a16="http://schemas.microsoft.com/office/drawing/2014/main" val="2673609667"/>
                    </a:ext>
                  </a:extLst>
                </a:gridCol>
              </a:tblGrid>
              <a:tr h="3155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u="none" strike="noStrike" dirty="0">
                          <a:effectLst/>
                        </a:rPr>
                        <a:t>Library property</a:t>
                      </a:r>
                      <a:endParaRPr lang="en-I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21" marR="7721" marT="77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u="none" strike="noStrike" dirty="0">
                          <a:effectLst/>
                        </a:rPr>
                        <a:t>Consequence for analysis</a:t>
                      </a:r>
                      <a:endParaRPr lang="en-I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21" marR="7721" marT="7721" marB="0" anchor="b"/>
                </a:tc>
                <a:extLst>
                  <a:ext uri="{0D108BD9-81ED-4DB2-BD59-A6C34878D82A}">
                    <a16:rowId xmlns:a16="http://schemas.microsoft.com/office/drawing/2014/main" val="3735714074"/>
                  </a:ext>
                </a:extLst>
              </a:tr>
              <a:tr h="544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u="none" strike="noStrike">
                          <a:effectLst/>
                        </a:rPr>
                        <a:t>poly(A)-selected RNA-seq</a:t>
                      </a:r>
                      <a:endParaRPr lang="en-IT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21" marR="7721" marT="77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u="none" strike="noStrike">
                          <a:effectLst/>
                        </a:rPr>
                        <a:t>Enrichment for polyadenylated transcripts</a:t>
                      </a:r>
                      <a:endParaRPr lang="en-IT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21" marR="7721" marT="7721" marB="0" anchor="b"/>
                </a:tc>
                <a:extLst>
                  <a:ext uri="{0D108BD9-81ED-4DB2-BD59-A6C34878D82A}">
                    <a16:rowId xmlns:a16="http://schemas.microsoft.com/office/drawing/2014/main" val="2284374373"/>
                  </a:ext>
                </a:extLst>
              </a:tr>
              <a:tr h="544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u="none" strike="noStrike">
                          <a:effectLst/>
                        </a:rPr>
                        <a:t>rRNA-depleted total RNA-seq</a:t>
                      </a:r>
                      <a:endParaRPr lang="en-IT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21" marR="7721" marT="77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u="none" strike="noStrike" dirty="0">
                          <a:effectLst/>
                        </a:rPr>
                        <a:t>Broader RNA representation; appropriate for bacterial transcriptomics</a:t>
                      </a:r>
                      <a:endParaRPr lang="en-IT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21" marR="7721" marT="7721" marB="0" anchor="b"/>
                </a:tc>
                <a:extLst>
                  <a:ext uri="{0D108BD9-81ED-4DB2-BD59-A6C34878D82A}">
                    <a16:rowId xmlns:a16="http://schemas.microsoft.com/office/drawing/2014/main" val="1604314288"/>
                  </a:ext>
                </a:extLst>
              </a:tr>
              <a:tr h="544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u="none" strike="noStrike">
                          <a:effectLst/>
                        </a:rPr>
                        <a:t>Unstranded RNA-seq</a:t>
                      </a:r>
                      <a:endParaRPr lang="en-IT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21" marR="7721" marT="77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u="none" strike="noStrike">
                          <a:effectLst/>
                        </a:rPr>
                        <a:t>Read orientation does not retain transcript-of-origin information</a:t>
                      </a:r>
                      <a:endParaRPr lang="en-IT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21" marR="7721" marT="7721" marB="0" anchor="b"/>
                </a:tc>
                <a:extLst>
                  <a:ext uri="{0D108BD9-81ED-4DB2-BD59-A6C34878D82A}">
                    <a16:rowId xmlns:a16="http://schemas.microsoft.com/office/drawing/2014/main" val="3024090341"/>
                  </a:ext>
                </a:extLst>
              </a:tr>
              <a:tr h="544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u="none" strike="noStrike" dirty="0">
                          <a:effectLst/>
                        </a:rPr>
                        <a:t>Stranded RNA-seq</a:t>
                      </a:r>
                      <a:endParaRPr lang="en-I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21" marR="7721" marT="77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u="none" strike="noStrike">
                          <a:effectLst/>
                        </a:rPr>
                        <a:t>Read orientation carries transcript-strand information</a:t>
                      </a:r>
                      <a:endParaRPr lang="en-IT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21" marR="7721" marT="7721" marB="0" anchor="b"/>
                </a:tc>
                <a:extLst>
                  <a:ext uri="{0D108BD9-81ED-4DB2-BD59-A6C34878D82A}">
                    <a16:rowId xmlns:a16="http://schemas.microsoft.com/office/drawing/2014/main" val="4102747659"/>
                  </a:ext>
                </a:extLst>
              </a:tr>
              <a:tr h="544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u="none" strike="noStrike">
                          <a:effectLst/>
                        </a:rPr>
                        <a:t>Single-end / paired-end</a:t>
                      </a:r>
                      <a:endParaRPr lang="en-IT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21" marR="7721" marT="77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u="none" strike="noStrike" dirty="0">
                          <a:effectLst/>
                        </a:rPr>
                        <a:t>Changes available fragment information and mapping strategy</a:t>
                      </a:r>
                      <a:endParaRPr lang="en-IT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21" marR="7721" marT="7721" marB="0" anchor="b"/>
                </a:tc>
                <a:extLst>
                  <a:ext uri="{0D108BD9-81ED-4DB2-BD59-A6C34878D82A}">
                    <a16:rowId xmlns:a16="http://schemas.microsoft.com/office/drawing/2014/main" val="244694396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2594714-E693-9D62-DA46-810A4B323DA1}"/>
              </a:ext>
            </a:extLst>
          </p:cNvPr>
          <p:cNvSpPr txBox="1"/>
          <p:nvPr/>
        </p:nvSpPr>
        <p:spPr>
          <a:xfrm>
            <a:off x="838200" y="5104488"/>
            <a:ext cx="103576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dirty="0"/>
              <a:t>Library strategy, strandedness, assay, biological condition and replicate identity therefore belong to the </a:t>
            </a:r>
            <a:r>
              <a:rPr lang="en-IT" b="1" dirty="0"/>
              <a:t>metadata</a:t>
            </a:r>
            <a:r>
              <a:rPr lang="en-IT" dirty="0"/>
              <a:t>, not to the FASTQ format itself.</a:t>
            </a:r>
          </a:p>
          <a:p>
            <a:endParaRPr lang="en-IT" dirty="0"/>
          </a:p>
          <a:p>
            <a:r>
              <a:rPr lang="en-IT" dirty="0"/>
              <a:t>On Day 2 we will infer/validate RNA-seq strandedness before gene counting.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107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B1014-956E-0C3F-6A38-7E34A796C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Public sequencing archives: metadata + reads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22DA1-52DB-29B0-5AF5-0EA5D7843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T" dirty="0"/>
              <a:t>There are several routes from a paper or accession to FASTQ files. We will look at these together in the browser:</a:t>
            </a:r>
          </a:p>
          <a:p>
            <a:pPr marL="0" indent="0">
              <a:buNone/>
            </a:pPr>
            <a:endParaRPr lang="en-IT" dirty="0"/>
          </a:p>
          <a:p>
            <a:pPr lvl="0"/>
            <a:r>
              <a:rPr lang="en-IT" dirty="0"/>
              <a:t>NCBI GEO metadata and processed data, linked to raw high-throughput sequencing reads in SRA: </a:t>
            </a:r>
            <a:r>
              <a:rPr lang="en-IT" u="sng" dirty="0">
                <a:hlinkClick r:id="rId2"/>
              </a:rPr>
              <a:t>https://www.ncbi.nlm.nih.gov/geo/</a:t>
            </a:r>
            <a:endParaRPr lang="en-IT" u="sng" dirty="0"/>
          </a:p>
          <a:p>
            <a:pPr lvl="0"/>
            <a:endParaRPr lang="en-IT" dirty="0"/>
          </a:p>
          <a:p>
            <a:pPr lvl="0"/>
            <a:r>
              <a:rPr lang="en-IT" dirty="0"/>
              <a:t>ENA Browser: </a:t>
            </a:r>
            <a:r>
              <a:rPr lang="en-IT" u="sng" dirty="0">
                <a:hlinkClick r:id="rId3"/>
              </a:rPr>
              <a:t>https://www.ebi.ac.uk/ena/browser/home</a:t>
            </a:r>
            <a:endParaRPr lang="en-IT" u="sng" dirty="0"/>
          </a:p>
          <a:p>
            <a:pPr lvl="0"/>
            <a:endParaRPr lang="en-IT" dirty="0"/>
          </a:p>
          <a:p>
            <a:pPr lvl="0"/>
            <a:r>
              <a:rPr lang="en-IT" dirty="0"/>
              <a:t>ArrayExpress collection in BioStudies</a:t>
            </a:r>
            <a:r>
              <a:rPr lang="en-IT" b="1" dirty="0"/>
              <a:t>:</a:t>
            </a:r>
            <a:r>
              <a:rPr lang="en-IT" dirty="0"/>
              <a:t> </a:t>
            </a:r>
          </a:p>
          <a:p>
            <a:pPr marL="0" lvl="0" indent="0">
              <a:buNone/>
            </a:pPr>
            <a:r>
              <a:rPr lang="en-IT" dirty="0"/>
              <a:t>RNA-seq study </a:t>
            </a:r>
            <a:r>
              <a:rPr lang="en-IT" u="sng" dirty="0">
                <a:hlinkClick r:id="rId4"/>
              </a:rPr>
              <a:t>E-MTAB-13025</a:t>
            </a:r>
            <a:r>
              <a:rPr lang="en-IT" dirty="0"/>
              <a:t> and ChIP-seq study </a:t>
            </a:r>
            <a:r>
              <a:rPr lang="en-IT" u="sng" dirty="0">
                <a:hlinkClick r:id="rId5"/>
              </a:rPr>
              <a:t>E-MTAB-13026</a:t>
            </a:r>
            <a:endParaRPr lang="en-IT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DBE6E-B9FD-C566-F0C5-5FCB41A1A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D595E-8B35-71BD-9D3C-11C3EBB83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98A84-251D-201A-C002-AA37CE0C6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10441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E622-8D9D-6F38-315C-273AFD4B1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70" y="122281"/>
            <a:ext cx="12192000" cy="2347542"/>
          </a:xfrm>
        </p:spPr>
        <p:txBody>
          <a:bodyPr>
            <a:normAutofit fontScale="90000"/>
          </a:bodyPr>
          <a:lstStyle/>
          <a:p>
            <a:r>
              <a:rPr lang="en-IT" dirty="0"/>
              <a:t>ArrayExpress collection in BioStudies + ENA route</a:t>
            </a:r>
            <a:br>
              <a:rPr lang="en-IT" dirty="0"/>
            </a:br>
            <a:br>
              <a:rPr lang="en-IT" dirty="0"/>
            </a:br>
            <a:r>
              <a:rPr lang="en-IT" dirty="0"/>
              <a:t>GEO/SRA route</a:t>
            </a:r>
            <a:br>
              <a:rPr lang="en-IT" dirty="0"/>
            </a:b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4B27A-0C7A-894C-5A00-7A78B6662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2CC7A-1C36-90FB-78C0-A7FE761C4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28D3A-1CB4-465B-AD84-C53F41F5B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27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92A45-1C64-AFAC-FC41-61545BD28DE6}"/>
              </a:ext>
            </a:extLst>
          </p:cNvPr>
          <p:cNvSpPr txBox="1"/>
          <p:nvPr/>
        </p:nvSpPr>
        <p:spPr>
          <a:xfrm>
            <a:off x="477624" y="5273761"/>
            <a:ext cx="3798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accent1">
                    <a:lumMod val="75000"/>
                  </a:schemeClr>
                </a:solidFill>
              </a:rPr>
              <a:t>Coding time… open </a:t>
            </a:r>
            <a:r>
              <a:rPr lang="en-GB" sz="2400" dirty="0" err="1">
                <a:solidFill>
                  <a:schemeClr val="accent1">
                    <a:lumMod val="75000"/>
                  </a:schemeClr>
                </a:solidFill>
              </a:rPr>
              <a:t>VSCode</a:t>
            </a:r>
            <a:endParaRPr lang="en-GB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E5C96A-8EB0-212F-12CB-5AE62A2615A5}"/>
              </a:ext>
            </a:extLst>
          </p:cNvPr>
          <p:cNvSpPr txBox="1"/>
          <p:nvPr/>
        </p:nvSpPr>
        <p:spPr>
          <a:xfrm>
            <a:off x="367645" y="2337847"/>
            <a:ext cx="10428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SRA and ENA are the major archival resources for raw sequencing data. </a:t>
            </a:r>
          </a:p>
          <a:p>
            <a:r>
              <a:rPr lang="en-IT" dirty="0"/>
              <a:t>Depending on the repository, FASTQ files may be downloaded directly or reconstructed from run accessions.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2D8CCF-3977-51D8-4AE2-507C57ACF2E6}"/>
              </a:ext>
            </a:extLst>
          </p:cNvPr>
          <p:cNvSpPr txBox="1"/>
          <p:nvPr/>
        </p:nvSpPr>
        <p:spPr>
          <a:xfrm>
            <a:off x="477625" y="3281936"/>
            <a:ext cx="80536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curl -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"$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" -o sample_R1.fastq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gzip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sample_R1.fastq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13E11F-C39B-FA49-FB3A-66875D74EB1A}"/>
              </a:ext>
            </a:extLst>
          </p:cNvPr>
          <p:cNvSpPr txBox="1"/>
          <p:nvPr/>
        </p:nvSpPr>
        <p:spPr>
          <a:xfrm>
            <a:off x="477624" y="4316968"/>
            <a:ext cx="805363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fasterq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-dump SRR11192680 --split-files --threads 2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gzip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SRR11192680*.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fastq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E5467B-C677-9A43-EB50-659649D05991}"/>
              </a:ext>
            </a:extLst>
          </p:cNvPr>
          <p:cNvSpPr txBox="1"/>
          <p:nvPr/>
        </p:nvSpPr>
        <p:spPr>
          <a:xfrm>
            <a:off x="4968266" y="5290492"/>
            <a:ext cx="5013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scripts/day1/01_download_fastq.sh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8139781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F0A58-9D0F-BF9D-D77C-247C9F188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D2DD3-4DAD-5173-A7C2-AD42F3D41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B0019-06D8-EC3F-B4E1-17BE00E69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28</a:t>
            </a:fld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95214B-B802-D7A4-9495-EFED77F16460}"/>
              </a:ext>
            </a:extLst>
          </p:cNvPr>
          <p:cNvSpPr txBox="1"/>
          <p:nvPr/>
        </p:nvSpPr>
        <p:spPr>
          <a:xfrm>
            <a:off x="691388" y="327975"/>
            <a:ext cx="9975199" cy="5755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#!/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/bin/env bash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set -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euo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pipefail</a:t>
            </a: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="ERR11479311"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sample="WT_2"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outdir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raw_data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fastq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rnaseq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tmpdir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sra_tmp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-p "${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outdir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}" "${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tmpdir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}"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fasterq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-dump "${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}" \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--split-files \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--threads 2 \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--progress \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--details \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outdir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"${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outdir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}" \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--temp "${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tmpdir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}"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mv "${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outdir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}/${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}_1.fastq" "${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outdir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}/${sample}_R1.fastq"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mv "${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outdir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}/${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}_2.fastq" "${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outdir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}/${sample}_R2.fastq"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gzip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"${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outdir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}/${sample}_R1.fastq" "${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outdir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}/${sample}_R2.fastq"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43655D-3441-E2B9-A2EE-859D523F1963}"/>
              </a:ext>
            </a:extLst>
          </p:cNvPr>
          <p:cNvSpPr txBox="1"/>
          <p:nvPr/>
        </p:nvSpPr>
        <p:spPr>
          <a:xfrm>
            <a:off x="5280616" y="1824660"/>
            <a:ext cx="6390861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docker run --rm \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-v "$PWD:/work" \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-w /work \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docker.io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fgualdr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ngs-sra-tools:latest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bash scripts/day1/01_download_fastq.sh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10DB7B-E377-2319-504E-648AF8223011}"/>
              </a:ext>
            </a:extLst>
          </p:cNvPr>
          <p:cNvSpPr txBox="1"/>
          <p:nvPr/>
        </p:nvSpPr>
        <p:spPr>
          <a:xfrm>
            <a:off x="10477881" y="1824660"/>
            <a:ext cx="1193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 Terminal</a:t>
            </a:r>
          </a:p>
        </p:txBody>
      </p:sp>
    </p:spTree>
    <p:extLst>
      <p:ext uri="{BB962C8B-B14F-4D97-AF65-F5344CB8AC3E}">
        <p14:creationId xmlns:p14="http://schemas.microsoft.com/office/powerpoint/2010/main" val="22209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766E2-0546-7F2D-1773-D306B4F49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1B8BD-DD3C-E6C2-14BA-CA1A243B9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E506C-3D2C-FC9B-2370-B97995B38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29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F612A4-60E1-735E-D83C-115AD5FA453E}"/>
              </a:ext>
            </a:extLst>
          </p:cNvPr>
          <p:cNvSpPr txBox="1"/>
          <p:nvPr/>
        </p:nvSpPr>
        <p:spPr>
          <a:xfrm>
            <a:off x="252883" y="1426866"/>
            <a:ext cx="57359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above run should produce something like this:</a:t>
            </a:r>
          </a:p>
          <a:p>
            <a:r>
              <a:rPr lang="en-GB" dirty="0"/>
              <a:t>Which is structured in various parts:</a:t>
            </a:r>
          </a:p>
          <a:p>
            <a:pPr marL="285750" indent="-285750">
              <a:buFontTx/>
              <a:buChar char="-"/>
            </a:pPr>
            <a:r>
              <a:rPr lang="en-GB" dirty="0"/>
              <a:t>Docker download the image if not already present</a:t>
            </a:r>
          </a:p>
          <a:p>
            <a:pPr marL="285750" indent="-285750">
              <a:buFontTx/>
              <a:buChar char="-"/>
            </a:pPr>
            <a:r>
              <a:rPr lang="en-IT" dirty="0"/>
              <a:t>fasterq-dump check path to temporary folder and provenence of the data to be downloaded.</a:t>
            </a:r>
          </a:p>
          <a:p>
            <a:pPr marL="285750" indent="-285750">
              <a:buFontTx/>
              <a:buChar char="-"/>
            </a:pPr>
            <a:r>
              <a:rPr lang="en-IT" dirty="0"/>
              <a:t>Then the download proceed.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980780-F05F-8C23-DC7A-268132E19645}"/>
              </a:ext>
            </a:extLst>
          </p:cNvPr>
          <p:cNvSpPr txBox="1"/>
          <p:nvPr/>
        </p:nvSpPr>
        <p:spPr>
          <a:xfrm>
            <a:off x="6096000" y="447040"/>
            <a:ext cx="4846655" cy="589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Unable to find image '</a:t>
            </a:r>
            <a:r>
              <a:rPr lang="en-GB" sz="6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fgualdr</a:t>
            </a:r>
            <a:r>
              <a:rPr lang="en-GB" sz="6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6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ngs-sra-tools:latest</a:t>
            </a:r>
            <a:r>
              <a:rPr lang="en-GB" sz="6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locally</a:t>
            </a:r>
          </a:p>
          <a:p>
            <a:r>
              <a:rPr lang="en-GB" sz="6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latest: Pulling from </a:t>
            </a:r>
            <a:r>
              <a:rPr lang="en-GB" sz="6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fgualdr</a:t>
            </a:r>
            <a:r>
              <a:rPr lang="en-GB" sz="6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6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ngs</a:t>
            </a:r>
            <a:r>
              <a:rPr lang="en-GB" sz="6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GB" sz="6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sra</a:t>
            </a:r>
            <a:r>
              <a:rPr lang="en-GB" sz="6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-tools</a:t>
            </a:r>
          </a:p>
          <a:p>
            <a:r>
              <a:rPr lang="en-GB" sz="6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a51c11bda596: Pull complete </a:t>
            </a:r>
          </a:p>
          <a:p>
            <a:r>
              <a:rPr lang="en-GB" sz="6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db035acc8c2c: Pull complete </a:t>
            </a:r>
          </a:p>
          <a:p>
            <a:r>
              <a:rPr lang="en-GB" sz="6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44136fa355b3: Already exists </a:t>
            </a:r>
          </a:p>
          <a:p>
            <a:r>
              <a:rPr lang="en-GB" sz="6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23acc7d0f59a: Download complete </a:t>
            </a:r>
          </a:p>
          <a:p>
            <a:r>
              <a:rPr lang="en-GB" sz="6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Digest: sha256:4f5c87b31c35d6ef2878c474592fa200a4ae290a415ad5e647c746c12bea6a45</a:t>
            </a:r>
          </a:p>
          <a:p>
            <a:r>
              <a:rPr lang="en-GB" sz="6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Status: Downloaded newer image for </a:t>
            </a:r>
            <a:r>
              <a:rPr lang="en-GB" sz="6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fgualdr</a:t>
            </a:r>
            <a:r>
              <a:rPr lang="en-GB" sz="65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650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ngs-sra-tools:latest</a:t>
            </a:r>
            <a:endParaRPr lang="en-GB" sz="650" dirty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cursor-cache : 5,242,880 bytes</a:t>
            </a:r>
          </a:p>
          <a:p>
            <a:r>
              <a:rPr lang="en-GB" sz="650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-size     : 1,048,576 bytes</a:t>
            </a:r>
          </a:p>
          <a:p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mem-limit    : 52,428,800 bytes</a:t>
            </a:r>
          </a:p>
          <a:p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threads      : 2</a:t>
            </a:r>
          </a:p>
          <a:p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scratch-path : '/work/</a:t>
            </a:r>
            <a:r>
              <a:rPr lang="en-GB" sz="650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sra_tmp</a:t>
            </a:r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/fasterq.tmp.bf03403e5f9d.20/'</a:t>
            </a:r>
          </a:p>
          <a:p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 ram    : 8,319,504,384 bytes</a:t>
            </a:r>
          </a:p>
          <a:p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output-format: FASTQ split file</a:t>
            </a:r>
          </a:p>
          <a:p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check-mode   : on</a:t>
            </a:r>
          </a:p>
          <a:p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output-file  : '/work/</a:t>
            </a:r>
            <a:r>
              <a:rPr lang="en-GB" sz="650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raw_data</a:t>
            </a:r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650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fastq</a:t>
            </a:r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650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rnaseq_test</a:t>
            </a:r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/ERR11479311.fastq'</a:t>
            </a:r>
          </a:p>
          <a:p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output-</a:t>
            </a:r>
            <a:r>
              <a:rPr lang="en-GB" sz="650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: '</a:t>
            </a:r>
            <a:r>
              <a:rPr lang="en-GB" sz="650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raw_data</a:t>
            </a:r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650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fastq</a:t>
            </a:r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650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rnaseq_test</a:t>
            </a:r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       : '/work/</a:t>
            </a:r>
            <a:r>
              <a:rPr lang="en-GB" sz="650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raw_data</a:t>
            </a:r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650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fastq</a:t>
            </a:r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650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rnaseq_test</a:t>
            </a:r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/ERR11479311.fastq'</a:t>
            </a:r>
          </a:p>
          <a:p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append-mode  : 'NO'</a:t>
            </a:r>
          </a:p>
          <a:p>
            <a:r>
              <a:rPr lang="en-GB" sz="650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stdout</a:t>
            </a:r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-mode  : 'NO'</a:t>
            </a:r>
          </a:p>
          <a:p>
            <a:r>
              <a:rPr lang="en-GB" sz="650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seq-defline</a:t>
            </a:r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: '@$ac.$</a:t>
            </a:r>
            <a:r>
              <a:rPr lang="en-GB" sz="650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</a:t>
            </a:r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GB" sz="650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sn</a:t>
            </a:r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length=$</a:t>
            </a:r>
            <a:r>
              <a:rPr lang="en-GB" sz="650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rl</a:t>
            </a:r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qual-</a:t>
            </a:r>
            <a:r>
              <a:rPr lang="en-GB" sz="650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defline</a:t>
            </a:r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: '+$ac.$</a:t>
            </a:r>
            <a:r>
              <a:rPr lang="en-GB" sz="650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</a:t>
            </a:r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GB" sz="650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sn</a:t>
            </a:r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length=$</a:t>
            </a:r>
            <a:r>
              <a:rPr lang="en-GB" sz="650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rl</a:t>
            </a:r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only-unaligned : 'NO'</a:t>
            </a:r>
          </a:p>
          <a:p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only-aligned   : 'NO'</a:t>
            </a:r>
          </a:p>
          <a:p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accession     : 'ERR11479311'</a:t>
            </a:r>
          </a:p>
          <a:p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accession-path: 'ERR11479311'</a:t>
            </a:r>
          </a:p>
          <a:p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est. output          : 9,441,782,544 bytes</a:t>
            </a:r>
          </a:p>
          <a:p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disk-limit (OS)      : 560,381,894,656 bytes</a:t>
            </a:r>
          </a:p>
          <a:p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disk-limit-</a:t>
            </a:r>
            <a:r>
              <a:rPr lang="en-GB" sz="650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(OS)  : 560,381,894,656 bytes</a:t>
            </a:r>
          </a:p>
          <a:p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out/</a:t>
            </a:r>
            <a:r>
              <a:rPr lang="en-GB" sz="650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GB" sz="650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on same fs   : 'YES'</a:t>
            </a:r>
          </a:p>
          <a:p>
            <a:endParaRPr lang="en-GB" sz="6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650" dirty="0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ERR11479311 is remote</a:t>
            </a:r>
          </a:p>
          <a:p>
            <a:r>
              <a:rPr lang="en-GB" sz="650" dirty="0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 has a size of 1,077,348,139 bytes</a:t>
            </a:r>
          </a:p>
          <a:p>
            <a:r>
              <a:rPr lang="en-GB" sz="650" dirty="0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 is SRA-</a:t>
            </a:r>
            <a:r>
              <a:rPr lang="en-GB" sz="650" dirty="0" err="1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endParaRPr lang="en-GB" sz="650" dirty="0">
              <a:solidFill>
                <a:srgbClr val="A72AA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650" dirty="0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 SEQ has NAME column = YES</a:t>
            </a:r>
          </a:p>
          <a:p>
            <a:r>
              <a:rPr lang="en-GB" sz="650" dirty="0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 SEQ has SPOT_GROUP column = YES</a:t>
            </a:r>
          </a:p>
          <a:p>
            <a:r>
              <a:rPr lang="en-GB" sz="650" dirty="0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 SEQ has READ_TYPE column = YES</a:t>
            </a:r>
          </a:p>
          <a:p>
            <a:r>
              <a:rPr lang="en-GB" sz="650" dirty="0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 SEQ has QUALITY column = YES</a:t>
            </a:r>
          </a:p>
          <a:p>
            <a:r>
              <a:rPr lang="en-GB" sz="650" dirty="0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 SEQ has READ column = YES</a:t>
            </a:r>
          </a:p>
          <a:p>
            <a:r>
              <a:rPr lang="en-GB" sz="650" dirty="0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 uses 'SEQUENCE' as sequence-table</a:t>
            </a:r>
          </a:p>
          <a:p>
            <a:r>
              <a:rPr lang="en-GB" sz="650" dirty="0" err="1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SEQ.first_row</a:t>
            </a:r>
            <a:r>
              <a:rPr lang="en-GB" sz="650" dirty="0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</a:t>
            </a:r>
          </a:p>
          <a:p>
            <a:r>
              <a:rPr lang="en-GB" sz="650" dirty="0" err="1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SEQ.row_count</a:t>
            </a:r>
            <a:r>
              <a:rPr lang="en-GB" sz="650" dirty="0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10,632,638</a:t>
            </a:r>
          </a:p>
          <a:p>
            <a:r>
              <a:rPr lang="en-GB" sz="650" dirty="0" err="1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SEQ.spot_count</a:t>
            </a:r>
            <a:r>
              <a:rPr lang="en-GB" sz="650" dirty="0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10,632,638</a:t>
            </a:r>
          </a:p>
          <a:p>
            <a:r>
              <a:rPr lang="en-GB" sz="650" dirty="0" err="1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SEQ.total_base_count</a:t>
            </a:r>
            <a:r>
              <a:rPr lang="en-GB" sz="650" dirty="0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3,189,791,400</a:t>
            </a:r>
          </a:p>
          <a:p>
            <a:r>
              <a:rPr lang="en-GB" sz="650" dirty="0" err="1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SEQ.bio_base_count</a:t>
            </a:r>
            <a:r>
              <a:rPr lang="en-GB" sz="650" dirty="0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3,189,791,400</a:t>
            </a:r>
          </a:p>
          <a:p>
            <a:r>
              <a:rPr lang="en-GB" sz="650" dirty="0" err="1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SEQ.avg_name_len</a:t>
            </a:r>
            <a:r>
              <a:rPr lang="en-GB" sz="650" dirty="0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37</a:t>
            </a:r>
          </a:p>
          <a:p>
            <a:r>
              <a:rPr lang="en-GB" sz="650" dirty="0" err="1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SEQ.avg_spot_group_len</a:t>
            </a:r>
            <a:r>
              <a:rPr lang="en-GB" sz="650" dirty="0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17</a:t>
            </a:r>
          </a:p>
          <a:p>
            <a:r>
              <a:rPr lang="en-GB" sz="650" dirty="0" err="1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SEQ.avg_bio_reads_per_spot</a:t>
            </a:r>
            <a:r>
              <a:rPr lang="en-GB" sz="650" dirty="0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2</a:t>
            </a:r>
          </a:p>
          <a:p>
            <a:r>
              <a:rPr lang="en-GB" sz="650" dirty="0" err="1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SEQ.avg_tech_reads_per_spot</a:t>
            </a:r>
            <a:r>
              <a:rPr lang="en-GB" sz="650" dirty="0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GB" sz="650" dirty="0" err="1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ALIGN.first_row</a:t>
            </a:r>
            <a:r>
              <a:rPr lang="en-GB" sz="650" dirty="0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GB" sz="650" dirty="0" err="1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ALIGN.row_count</a:t>
            </a:r>
            <a:r>
              <a:rPr lang="en-GB" sz="650" dirty="0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GB" sz="650" dirty="0" err="1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ALIGN.spot_count</a:t>
            </a:r>
            <a:r>
              <a:rPr lang="en-GB" sz="650" dirty="0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GB" sz="650" dirty="0" err="1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ALIGN.total_base_count</a:t>
            </a:r>
            <a:r>
              <a:rPr lang="en-GB" sz="650" dirty="0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GB" sz="650" dirty="0" err="1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ALIGN.bio_base_count</a:t>
            </a:r>
            <a:r>
              <a:rPr lang="en-GB" sz="650" dirty="0">
                <a:solidFill>
                  <a:srgbClr val="A72AA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endParaRPr lang="en-GB" sz="6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65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disk-limit(s) not </a:t>
            </a:r>
            <a:r>
              <a:rPr lang="en-GB" sz="65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exeeded</a:t>
            </a:r>
            <a:r>
              <a:rPr lang="en-GB" sz="65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r>
              <a:rPr lang="en-GB" sz="65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   :|----- 10.71%</a:t>
            </a:r>
          </a:p>
        </p:txBody>
      </p:sp>
    </p:spTree>
    <p:extLst>
      <p:ext uri="{BB962C8B-B14F-4D97-AF65-F5344CB8AC3E}">
        <p14:creationId xmlns:p14="http://schemas.microsoft.com/office/powerpoint/2010/main" val="40402855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BBC5F-DBAB-E5FB-6643-3AF879D05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BC83A-61C8-E3E6-ADD3-8D25E4F66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9A7A0-2BFF-5CEA-363B-8BFC4E699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CC0AA-17BB-73B1-FBB3-8D407418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26FE7-F7B1-A11F-B507-656150232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5541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AA667-07B1-285F-4787-11EC68B87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70" y="122282"/>
            <a:ext cx="12192000" cy="1112629"/>
          </a:xfrm>
        </p:spPr>
        <p:txBody>
          <a:bodyPr>
            <a:normAutofit fontScale="90000"/>
          </a:bodyPr>
          <a:lstStyle/>
          <a:p>
            <a:r>
              <a:rPr lang="en-IT" b="1" dirty="0"/>
              <a:t>FASTQ preprocessing and quality assessment</a:t>
            </a:r>
            <a:br>
              <a:rPr lang="en-IT" b="1" dirty="0"/>
            </a:b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2B4A3-9C5E-BE43-1612-DDD788515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A7266-F946-654A-7849-038232498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FE67C-2302-D42D-C94D-B15923FD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31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7BCC01-6792-0811-14E2-89B24EADB05C}"/>
              </a:ext>
            </a:extLst>
          </p:cNvPr>
          <p:cNvSpPr txBox="1"/>
          <p:nvPr/>
        </p:nvSpPr>
        <p:spPr>
          <a:xfrm>
            <a:off x="167787" y="678596"/>
            <a:ext cx="118564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2000" dirty="0"/>
              <a:t>Quality control interrogates sequencing quality and library composition: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036CD6D-0EE7-F18D-0BFB-BFC278690B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353778"/>
              </p:ext>
            </p:extLst>
          </p:nvPr>
        </p:nvGraphicFramePr>
        <p:xfrm>
          <a:off x="1248527" y="1155627"/>
          <a:ext cx="9485733" cy="4416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1911">
                  <a:extLst>
                    <a:ext uri="{9D8B030D-6E8A-4147-A177-3AD203B41FA5}">
                      <a16:colId xmlns:a16="http://schemas.microsoft.com/office/drawing/2014/main" val="3203335850"/>
                    </a:ext>
                  </a:extLst>
                </a:gridCol>
                <a:gridCol w="3161911">
                  <a:extLst>
                    <a:ext uri="{9D8B030D-6E8A-4147-A177-3AD203B41FA5}">
                      <a16:colId xmlns:a16="http://schemas.microsoft.com/office/drawing/2014/main" val="300671029"/>
                    </a:ext>
                  </a:extLst>
                </a:gridCol>
                <a:gridCol w="3161911">
                  <a:extLst>
                    <a:ext uri="{9D8B030D-6E8A-4147-A177-3AD203B41FA5}">
                      <a16:colId xmlns:a16="http://schemas.microsoft.com/office/drawing/2014/main" val="2070417606"/>
                    </a:ext>
                  </a:extLst>
                </a:gridCol>
              </a:tblGrid>
              <a:tr h="485896">
                <a:tc>
                  <a:txBody>
                    <a:bodyPr/>
                    <a:lstStyle/>
                    <a:p>
                      <a:r>
                        <a:rPr lang="en-GB" sz="1600" dirty="0"/>
                        <a:t>Signal</a:t>
                      </a:r>
                    </a:p>
                  </a:txBody>
                  <a:tcPr marL="86432" marR="86432" marT="43216" marB="43216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Potential concern</a:t>
                      </a:r>
                    </a:p>
                  </a:txBody>
                  <a:tcPr marL="86432" marR="86432" marT="43216" marB="43216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Interpretation</a:t>
                      </a:r>
                    </a:p>
                  </a:txBody>
                  <a:tcPr marL="86432" marR="86432" marT="43216" marB="43216"/>
                </a:tc>
                <a:extLst>
                  <a:ext uri="{0D108BD9-81ED-4DB2-BD59-A6C34878D82A}">
                    <a16:rowId xmlns:a16="http://schemas.microsoft.com/office/drawing/2014/main" val="3623071620"/>
                  </a:ext>
                </a:extLst>
              </a:tr>
              <a:tr h="4858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Per-cycle quality</a:t>
                      </a:r>
                    </a:p>
                  </a:txBody>
                  <a:tcPr marL="9003" marR="9003" marT="90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Severe or sample-specific 3′ deterioration</a:t>
                      </a:r>
                    </a:p>
                  </a:txBody>
                  <a:tcPr marL="9003" marR="9003" marT="90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Increased base-call uncertainty</a:t>
                      </a:r>
                    </a:p>
                  </a:txBody>
                  <a:tcPr marL="9003" marR="9003" marT="9003" marB="0" anchor="b"/>
                </a:tc>
                <a:extLst>
                  <a:ext uri="{0D108BD9-81ED-4DB2-BD59-A6C34878D82A}">
                    <a16:rowId xmlns:a16="http://schemas.microsoft.com/office/drawing/2014/main" val="4232688973"/>
                  </a:ext>
                </a:extLst>
              </a:tr>
              <a:tr h="4858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Adapter content</a:t>
                      </a:r>
                    </a:p>
                  </a:txBody>
                  <a:tcPr marL="9003" marR="9003" marT="90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Insert shorter than read length</a:t>
                      </a:r>
                    </a:p>
                  </a:txBody>
                  <a:tcPr marL="9003" marR="9003" marT="90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Adapter read-through</a:t>
                      </a:r>
                    </a:p>
                  </a:txBody>
                  <a:tcPr marL="9003" marR="9003" marT="9003" marB="0" anchor="b"/>
                </a:tc>
                <a:extLst>
                  <a:ext uri="{0D108BD9-81ED-4DB2-BD59-A6C34878D82A}">
                    <a16:rowId xmlns:a16="http://schemas.microsoft.com/office/drawing/2014/main" val="2208998919"/>
                  </a:ext>
                </a:extLst>
              </a:tr>
              <a:tr h="4858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 content</a:t>
                      </a:r>
                    </a:p>
                  </a:txBody>
                  <a:tcPr marL="9003" marR="9003" marT="90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 uncertain-base fraction</a:t>
                      </a:r>
                    </a:p>
                  </a:txBody>
                  <a:tcPr marL="9003" marR="9003" marT="90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Poor base calling</a:t>
                      </a:r>
                    </a:p>
                  </a:txBody>
                  <a:tcPr marL="9003" marR="9003" marT="9003" marB="0" anchor="b"/>
                </a:tc>
                <a:extLst>
                  <a:ext uri="{0D108BD9-81ED-4DB2-BD59-A6C34878D82A}">
                    <a16:rowId xmlns:a16="http://schemas.microsoft.com/office/drawing/2014/main" val="2854081492"/>
                  </a:ext>
                </a:extLst>
              </a:tr>
              <a:tr h="4858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Read-length distribution</a:t>
                      </a:r>
                    </a:p>
                  </a:txBody>
                  <a:tcPr marL="9003" marR="9003" marT="90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Excess short reads</a:t>
                      </a:r>
                    </a:p>
                  </a:txBody>
                  <a:tcPr marL="9003" marR="9003" marT="90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Library/preprocessing problem</a:t>
                      </a:r>
                    </a:p>
                  </a:txBody>
                  <a:tcPr marL="9003" marR="9003" marT="9003" marB="0" anchor="b"/>
                </a:tc>
                <a:extLst>
                  <a:ext uri="{0D108BD9-81ED-4DB2-BD59-A6C34878D82A}">
                    <a16:rowId xmlns:a16="http://schemas.microsoft.com/office/drawing/2014/main" val="3402743269"/>
                  </a:ext>
                </a:extLst>
              </a:tr>
              <a:tr h="4917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GC / base composition</a:t>
                      </a:r>
                    </a:p>
                  </a:txBody>
                  <a:tcPr marL="9003" marR="9003" marT="90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Strong replicate-specific deviation</a:t>
                      </a:r>
                    </a:p>
                  </a:txBody>
                  <a:tcPr marL="9003" marR="9003" marT="90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Bias, contamination or genuine library biology</a:t>
                      </a:r>
                    </a:p>
                  </a:txBody>
                  <a:tcPr marL="9003" marR="9003" marT="9003" marB="0" anchor="b"/>
                </a:tc>
                <a:extLst>
                  <a:ext uri="{0D108BD9-81ED-4DB2-BD59-A6C34878D82A}">
                    <a16:rowId xmlns:a16="http://schemas.microsoft.com/office/drawing/2014/main" val="2002515153"/>
                  </a:ext>
                </a:extLst>
              </a:tr>
              <a:tr h="4917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Overrepresented sequences</a:t>
                      </a:r>
                    </a:p>
                  </a:txBody>
                  <a:tcPr marL="9003" marR="9003" marT="90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Adapter, rRNA, contaminant, abundant biological sequence</a:t>
                      </a:r>
                    </a:p>
                  </a:txBody>
                  <a:tcPr marL="9003" marR="9003" marT="90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Identify sequence before interpreting</a:t>
                      </a:r>
                    </a:p>
                  </a:txBody>
                  <a:tcPr marL="9003" marR="9003" marT="9003" marB="0" anchor="b"/>
                </a:tc>
                <a:extLst>
                  <a:ext uri="{0D108BD9-81ED-4DB2-BD59-A6C34878D82A}">
                    <a16:rowId xmlns:a16="http://schemas.microsoft.com/office/drawing/2014/main" val="1560752299"/>
                  </a:ext>
                </a:extLst>
              </a:tr>
              <a:tr h="4917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Duplication</a:t>
                      </a:r>
                    </a:p>
                  </a:txBody>
                  <a:tcPr marL="9003" marR="9003" marT="90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Low library complexity / PCR amplification</a:t>
                      </a:r>
                    </a:p>
                  </a:txBody>
                  <a:tcPr marL="9003" marR="9003" marT="90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Also expected for abundant RNA or genuine ChIP enrichment</a:t>
                      </a:r>
                    </a:p>
                  </a:txBody>
                  <a:tcPr marL="9003" marR="9003" marT="9003" marB="0" anchor="b"/>
                </a:tc>
                <a:extLst>
                  <a:ext uri="{0D108BD9-81ED-4DB2-BD59-A6C34878D82A}">
                    <a16:rowId xmlns:a16="http://schemas.microsoft.com/office/drawing/2014/main" val="723210384"/>
                  </a:ext>
                </a:extLst>
              </a:tr>
              <a:tr h="4858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R1 vs R2</a:t>
                      </a:r>
                    </a:p>
                  </a:txBody>
                  <a:tcPr marL="9003" marR="9003" marT="90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Strong mate-specific discrepancy</a:t>
                      </a:r>
                    </a:p>
                  </a:txBody>
                  <a:tcPr marL="9003" marR="9003" marT="90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Sequencing/library asymmetry</a:t>
                      </a:r>
                    </a:p>
                  </a:txBody>
                  <a:tcPr marL="9003" marR="9003" marT="9003" marB="0" anchor="b"/>
                </a:tc>
                <a:extLst>
                  <a:ext uri="{0D108BD9-81ED-4DB2-BD59-A6C34878D82A}">
                    <a16:rowId xmlns:a16="http://schemas.microsoft.com/office/drawing/2014/main" val="41450695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7FF5A86-07E7-3204-B6CE-67649B011EEC}"/>
              </a:ext>
            </a:extLst>
          </p:cNvPr>
          <p:cNvSpPr txBox="1"/>
          <p:nvPr/>
        </p:nvSpPr>
        <p:spPr>
          <a:xfrm>
            <a:off x="297566" y="5702373"/>
            <a:ext cx="115968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dirty="0"/>
              <a:t>QC metrics are diagnostics, not universal pass/fail criteria.</a:t>
            </a:r>
          </a:p>
          <a:p>
            <a:r>
              <a:rPr lang="en-IT" dirty="0"/>
              <a:t>Interpretation depends on assay, library preparation and comparison with biological replicates.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6239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3678E-2CE7-7936-EC62-3A6CD4A36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Trimming: what are we trying to remove?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7C9F1-E90A-597C-2B36-31B2A658A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45592-B428-6835-2253-09AD7A14F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5FD63-5770-72FA-6723-E8DB6CD8C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32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FB1796-1B46-72AC-52DF-15AE43548C75}"/>
              </a:ext>
            </a:extLst>
          </p:cNvPr>
          <p:cNvSpPr txBox="1"/>
          <p:nvPr/>
        </p:nvSpPr>
        <p:spPr>
          <a:xfrm>
            <a:off x="283404" y="867016"/>
            <a:ext cx="79958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2000" dirty="0"/>
              <a:t>Read trimming: remove technical signal, preserve biological information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A3CB63-3ECD-5B53-3F9E-BCBBABDF36DE}"/>
              </a:ext>
            </a:extLst>
          </p:cNvPr>
          <p:cNvSpPr txBox="1"/>
          <p:nvPr/>
        </p:nvSpPr>
        <p:spPr>
          <a:xfrm>
            <a:off x="766714" y="1349527"/>
            <a:ext cx="668046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RAW READ</a:t>
            </a:r>
          </a:p>
          <a:p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5'                                                    3'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|------------------------------------------------------|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|              informative sequence       | adapter   |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|██████████████████████████████████████████|///////////|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high quality ────────────────────────────&gt; Lower quality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11EB29-9F7C-AD38-86EE-F4443206499F}"/>
              </a:ext>
            </a:extLst>
          </p:cNvPr>
          <p:cNvSpPr txBox="1"/>
          <p:nvPr/>
        </p:nvSpPr>
        <p:spPr>
          <a:xfrm>
            <a:off x="766714" y="3072804"/>
            <a:ext cx="62075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T" sz="1600" dirty="0"/>
              <a:t>For standard short-read </a:t>
            </a:r>
            <a:r>
              <a:rPr lang="en-IT" sz="1600" b="1" dirty="0"/>
              <a:t>RNA-seq and ChIP-seq</a:t>
            </a:r>
            <a:r>
              <a:rPr lang="en-IT" sz="1600" dirty="0"/>
              <a:t>, preprocessing may remove: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sz="1600" b="1" dirty="0"/>
              <a:t>adapter read-through</a:t>
            </a:r>
            <a:r>
              <a:rPr lang="en-IT" sz="1600" dirty="0"/>
              <a:t> when the sequenced insert is shorter than the read;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sz="1600" b="1" dirty="0"/>
              <a:t>low-quality terminal sequence</a:t>
            </a:r>
            <a:r>
              <a:rPr lang="en-IT" sz="1600" dirty="0"/>
              <a:t>, typically towards the 3′ end;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sz="1600" dirty="0"/>
              <a:t>reads with excessive </a:t>
            </a:r>
            <a:r>
              <a:rPr lang="en-IT" sz="1600" b="1" dirty="0"/>
              <a:t>ambiguous bases (</a:t>
            </a:r>
            <a:r>
              <a:rPr lang="en-IT" sz="1600" b="1" dirty="0">
                <a:latin typeface="+mn-lt"/>
              </a:rPr>
              <a:t>N</a:t>
            </a:r>
            <a:r>
              <a:rPr lang="en-IT" sz="1600" b="1" dirty="0"/>
              <a:t>)</a:t>
            </a:r>
            <a:r>
              <a:rPr lang="en-IT" sz="1600" dirty="0"/>
              <a:t>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sz="1600" dirty="0"/>
              <a:t>reads that become </a:t>
            </a:r>
            <a:r>
              <a:rPr lang="en-IT" sz="1600" b="1" dirty="0"/>
              <a:t>too short or uninformative</a:t>
            </a:r>
            <a:r>
              <a:rPr lang="en-IT" sz="1600" dirty="0"/>
              <a:t> after processing.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CF1E1C-7BE5-9014-0206-4B966F961614}"/>
              </a:ext>
            </a:extLst>
          </p:cNvPr>
          <p:cNvSpPr txBox="1"/>
          <p:nvPr/>
        </p:nvSpPr>
        <p:spPr>
          <a:xfrm>
            <a:off x="7594076" y="1580628"/>
            <a:ext cx="43130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Quality decline over read length is an intrinsic feature of sequencing, particularly toward the 3′ end, as signal quality progressively deteriorates across cycles.</a:t>
            </a:r>
          </a:p>
          <a:p>
            <a:endParaRPr lang="en-IT" dirty="0"/>
          </a:p>
          <a:p>
            <a:r>
              <a:rPr lang="en-IT" dirty="0"/>
              <a:t>Remove sequence that is technical or unreliable while retaining as much informative sequence as possible.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855CFF-A717-BCEF-75C5-45D4A2BCFA1A}"/>
              </a:ext>
            </a:extLst>
          </p:cNvPr>
          <p:cNvSpPr txBox="1"/>
          <p:nvPr/>
        </p:nvSpPr>
        <p:spPr>
          <a:xfrm>
            <a:off x="766714" y="4950242"/>
            <a:ext cx="4114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T" sz="1600" b="1" dirty="0"/>
              <a:t>Over-trimming can:</a:t>
            </a:r>
            <a:endParaRPr lang="en-IT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sz="1600" dirty="0"/>
              <a:t>reduce read length;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sz="1600" dirty="0"/>
              <a:t>reduce unique mappability;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sz="1600" dirty="0"/>
              <a:t>alter read-length distributions;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sz="1600" dirty="0"/>
              <a:t>discard usable biological information.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1529AA-4621-90C7-2906-807201B226B7}"/>
              </a:ext>
            </a:extLst>
          </p:cNvPr>
          <p:cNvSpPr txBox="1"/>
          <p:nvPr/>
        </p:nvSpPr>
        <p:spPr>
          <a:xfrm>
            <a:off x="7594076" y="4365469"/>
            <a:ext cx="45018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T" b="1" i="1" dirty="0"/>
              <a:t>!Trimming is protocol-dependent</a:t>
            </a:r>
            <a:endParaRPr lang="en-IT" i="1" dirty="0"/>
          </a:p>
          <a:p>
            <a:pPr>
              <a:buNone/>
            </a:pPr>
            <a:r>
              <a:rPr lang="en-IT" i="1" dirty="0"/>
              <a:t>For conventional RNA-seq and ChIP-seq, conservative adapter/end trimming is usually compatible with downstream alignment.</a:t>
            </a:r>
          </a:p>
          <a:p>
            <a:pPr>
              <a:buNone/>
            </a:pPr>
            <a:r>
              <a:rPr lang="en-IT" i="1" dirty="0"/>
              <a:t>However, some library designs encode information at </a:t>
            </a:r>
            <a:r>
              <a:rPr lang="en-IT" b="1" i="1" dirty="0"/>
              <a:t>defined positions within the read</a:t>
            </a:r>
            <a:r>
              <a:rPr lang="en-IT" i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91813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  <p:bldP spid="1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0A73E-D796-11A5-7925-475B4E644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T" dirty="0">
                <a:hlinkClick r:id="rId2"/>
              </a:rPr>
              <a:t>fastp</a:t>
            </a:r>
            <a:r>
              <a:rPr lang="en-IT" dirty="0"/>
              <a:t>: QC and preprocessing in one step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6068E-F9B8-CFB3-EB05-5073FB3FE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3EF3D-26D4-E1C8-832F-C2F6742E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2228D-BBE1-E200-B4F2-41C1AF240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33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A67630-2B9A-9DD6-7311-DD90E00C3E00}"/>
              </a:ext>
            </a:extLst>
          </p:cNvPr>
          <p:cNvSpPr txBox="1"/>
          <p:nvPr/>
        </p:nvSpPr>
        <p:spPr>
          <a:xfrm>
            <a:off x="134470" y="814574"/>
            <a:ext cx="84761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2000" dirty="0"/>
              <a:t>fastp combines FASTQ quality assessment and preprocessing</a:t>
            </a:r>
            <a:endParaRPr lang="en-GB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061BDD-D253-ABEE-0B11-13A2731D7277}"/>
              </a:ext>
            </a:extLst>
          </p:cNvPr>
          <p:cNvSpPr txBox="1"/>
          <p:nvPr/>
        </p:nvSpPr>
        <p:spPr>
          <a:xfrm>
            <a:off x="207902" y="1355989"/>
            <a:ext cx="3007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dirty="0"/>
              <a:t>Traditional modular approach: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6C4A21-7F42-46F1-E794-5837535483A0}"/>
              </a:ext>
            </a:extLst>
          </p:cNvPr>
          <p:cNvSpPr txBox="1"/>
          <p:nvPr/>
        </p:nvSpPr>
        <p:spPr>
          <a:xfrm>
            <a:off x="238677" y="1725321"/>
            <a:ext cx="2476755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RAW FASTQs</a:t>
            </a:r>
          </a:p>
          <a:p>
            <a:r>
              <a:rPr lang="en-GB" dirty="0"/>
              <a:t>    ↓</a:t>
            </a:r>
          </a:p>
          <a:p>
            <a:r>
              <a:rPr lang="en-GB" dirty="0" err="1"/>
              <a:t>FastQC</a:t>
            </a:r>
            <a:r>
              <a:rPr lang="en-GB" dirty="0"/>
              <a:t> / Falco</a:t>
            </a:r>
          </a:p>
          <a:p>
            <a:r>
              <a:rPr lang="en-GB" dirty="0"/>
              <a:t>    ↓</a:t>
            </a:r>
          </a:p>
          <a:p>
            <a:r>
              <a:rPr lang="en-GB" dirty="0" err="1"/>
              <a:t>Cutadapt</a:t>
            </a:r>
            <a:r>
              <a:rPr lang="en-GB" dirty="0"/>
              <a:t> / </a:t>
            </a:r>
            <a:r>
              <a:rPr lang="en-GB" dirty="0" err="1"/>
              <a:t>Trimmomatic</a:t>
            </a:r>
            <a:endParaRPr lang="en-GB" dirty="0"/>
          </a:p>
          <a:p>
            <a:r>
              <a:rPr lang="en-GB" dirty="0"/>
              <a:t>    ↓</a:t>
            </a:r>
          </a:p>
          <a:p>
            <a:r>
              <a:rPr lang="en-GB" dirty="0"/>
              <a:t>TRIMMED FASTQ</a:t>
            </a:r>
          </a:p>
          <a:p>
            <a:r>
              <a:rPr lang="en-GB" dirty="0"/>
              <a:t>    ↓</a:t>
            </a:r>
          </a:p>
          <a:p>
            <a:r>
              <a:rPr lang="en-GB" dirty="0" err="1"/>
              <a:t>FastQC</a:t>
            </a:r>
            <a:r>
              <a:rPr lang="en-GB" dirty="0"/>
              <a:t> / Falco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DFE501-D321-BD93-9580-EB3E429945F9}"/>
              </a:ext>
            </a:extLst>
          </p:cNvPr>
          <p:cNvSpPr txBox="1"/>
          <p:nvPr/>
        </p:nvSpPr>
        <p:spPr>
          <a:xfrm>
            <a:off x="3247775" y="1725321"/>
            <a:ext cx="4624016" cy="258532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RAW FASTQs</a:t>
            </a:r>
          </a:p>
          <a:p>
            <a:r>
              <a:rPr lang="en-GB" dirty="0"/>
              <a:t> ↓</a:t>
            </a:r>
          </a:p>
          <a:p>
            <a:r>
              <a:rPr lang="en-GB" dirty="0" err="1"/>
              <a:t>fastp</a:t>
            </a:r>
            <a:endParaRPr lang="en-GB" dirty="0"/>
          </a:p>
          <a:p>
            <a:pPr marL="742950" lvl="1" indent="-285750">
              <a:buFont typeface="Wingdings" pitchFamily="2" charset="2"/>
              <a:buChar char="è"/>
            </a:pPr>
            <a:r>
              <a:rPr lang="en-GB" dirty="0"/>
              <a:t>QC before processing</a:t>
            </a:r>
          </a:p>
          <a:p>
            <a:pPr marL="742950" lvl="1" indent="-285750">
              <a:buFont typeface="Wingdings" pitchFamily="2" charset="2"/>
              <a:buChar char="è"/>
            </a:pPr>
            <a:r>
              <a:rPr lang="en-GB" dirty="0"/>
              <a:t>paired-end adapter detection</a:t>
            </a:r>
          </a:p>
          <a:p>
            <a:pPr marL="742950" lvl="1" indent="-285750">
              <a:buFont typeface="Wingdings" pitchFamily="2" charset="2"/>
              <a:buChar char="è"/>
            </a:pPr>
            <a:r>
              <a:rPr lang="en-GB" dirty="0"/>
              <a:t>quality-tail trimming</a:t>
            </a:r>
          </a:p>
          <a:p>
            <a:pPr marL="742950" lvl="1" indent="-285750">
              <a:buFont typeface="Wingdings" pitchFamily="2" charset="2"/>
              <a:buChar char="è"/>
            </a:pPr>
            <a:r>
              <a:rPr lang="en-GB" dirty="0"/>
              <a:t>Filtering</a:t>
            </a:r>
          </a:p>
          <a:p>
            <a:pPr marL="742950" lvl="1" indent="-285750">
              <a:buFont typeface="Wingdings" pitchFamily="2" charset="2"/>
              <a:buChar char="è"/>
            </a:pPr>
            <a:r>
              <a:rPr lang="en-GB" dirty="0"/>
              <a:t>QC after processing</a:t>
            </a:r>
          </a:p>
          <a:p>
            <a:r>
              <a:rPr lang="en-GB" dirty="0"/>
              <a:t>= TRIMMED R1 + R2 + HTML + JSON + log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A754F9-DB21-6ED8-A105-DD7B50168915}"/>
              </a:ext>
            </a:extLst>
          </p:cNvPr>
          <p:cNvSpPr txBox="1"/>
          <p:nvPr/>
        </p:nvSpPr>
        <p:spPr>
          <a:xfrm>
            <a:off x="3247775" y="1355989"/>
            <a:ext cx="6207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dirty="0"/>
              <a:t>Fast/Computational efficient 2 in 1 (FASTP): 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B789B6-F592-E1D2-3BCE-CF27788440B4}"/>
              </a:ext>
            </a:extLst>
          </p:cNvPr>
          <p:cNvSpPr txBox="1"/>
          <p:nvPr/>
        </p:nvSpPr>
        <p:spPr>
          <a:xfrm>
            <a:off x="3247775" y="4512078"/>
            <a:ext cx="252665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parameters used </a:t>
            </a:r>
          </a:p>
          <a:p>
            <a:r>
              <a:rPr lang="en-GB" i="1" dirty="0"/>
              <a:t>--</a:t>
            </a:r>
            <a:r>
              <a:rPr lang="en-GB" i="1" dirty="0" err="1"/>
              <a:t>detect_adapter_for_pe</a:t>
            </a:r>
            <a:endParaRPr lang="en-GB" i="1" dirty="0"/>
          </a:p>
          <a:p>
            <a:r>
              <a:rPr lang="en-GB" i="1" dirty="0"/>
              <a:t>--</a:t>
            </a:r>
            <a:r>
              <a:rPr lang="en-GB" i="1" dirty="0" err="1"/>
              <a:t>cut_tail</a:t>
            </a:r>
            <a:endParaRPr lang="en-GB" i="1" dirty="0"/>
          </a:p>
          <a:p>
            <a:r>
              <a:rPr lang="en-GB" i="1" dirty="0"/>
              <a:t>--</a:t>
            </a:r>
            <a:r>
              <a:rPr lang="en-GB" i="1" dirty="0" err="1"/>
              <a:t>cut_tail_window_size</a:t>
            </a:r>
            <a:r>
              <a:rPr lang="en-GB" i="1" dirty="0"/>
              <a:t> 4</a:t>
            </a:r>
          </a:p>
          <a:p>
            <a:r>
              <a:rPr lang="en-GB" i="1" dirty="0"/>
              <a:t>--</a:t>
            </a:r>
            <a:r>
              <a:rPr lang="en-GB" i="1" dirty="0" err="1"/>
              <a:t>cut_tail_mean_quality</a:t>
            </a:r>
            <a:r>
              <a:rPr lang="en-GB" i="1" dirty="0"/>
              <a:t> 20</a:t>
            </a:r>
          </a:p>
          <a:p>
            <a:r>
              <a:rPr lang="en-GB" i="1" dirty="0"/>
              <a:t>--thread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F068AC-14FB-76C8-DD08-A1D14CDDEFAC}"/>
              </a:ext>
            </a:extLst>
          </p:cNvPr>
          <p:cNvSpPr txBox="1"/>
          <p:nvPr/>
        </p:nvSpPr>
        <p:spPr>
          <a:xfrm>
            <a:off x="6329779" y="4843097"/>
            <a:ext cx="48256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dirty="0"/>
              <a:t>We detect paired-end adapter read-through inspect the 3′ tail using a 4-base sliding window. </a:t>
            </a:r>
          </a:p>
          <a:p>
            <a:r>
              <a:rPr lang="en-IT" dirty="0"/>
              <a:t>Bases are trimmed when the mean window quality falls below </a:t>
            </a:r>
            <a:r>
              <a:rPr lang="en-IT" b="1" dirty="0"/>
              <a:t>Q20</a:t>
            </a:r>
            <a:r>
              <a:rPr lang="en-IT" dirty="0"/>
              <a:t>.</a:t>
            </a: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1609B1-D86F-9F50-4248-48C08E14115F}"/>
              </a:ext>
            </a:extLst>
          </p:cNvPr>
          <p:cNvSpPr txBox="1"/>
          <p:nvPr/>
        </p:nvSpPr>
        <p:spPr>
          <a:xfrm>
            <a:off x="8058622" y="1660960"/>
            <a:ext cx="41333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2400" dirty="0">
                <a:solidFill>
                  <a:schemeClr val="accent1">
                    <a:lumMod val="75000"/>
                  </a:schemeClr>
                </a:solidFill>
              </a:rPr>
              <a:t>Coding time… open VSCode</a:t>
            </a:r>
          </a:p>
          <a:p>
            <a:r>
              <a:rPr lang="en-IT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scripts/day1/03_trim_fastq.sh</a:t>
            </a:r>
            <a:endParaRPr lang="en-GB" sz="1600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929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E082-C1A9-1B3F-D795-57F2AB077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14694-E199-CC70-ACF8-FAD4E53C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E29CA-B368-9210-8875-DD7C28F84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34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9251DB-FCF4-1761-552E-97CFE53C02B2}"/>
              </a:ext>
            </a:extLst>
          </p:cNvPr>
          <p:cNvSpPr txBox="1"/>
          <p:nvPr/>
        </p:nvSpPr>
        <p:spPr>
          <a:xfrm>
            <a:off x="520523" y="0"/>
            <a:ext cx="5575477" cy="6340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#!/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/bin/env bash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set -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euo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pipefail</a:t>
            </a: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sample="WT_2"</a:t>
            </a:r>
          </a:p>
          <a:p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raw_dir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raw_data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fastq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rnaseq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out_dir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="results/day1_qc/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trimmed_fastq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rnaseq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report_dir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="results/logs/day1/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fastp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-p "${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out_dir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}" "${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report_dir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}"</a:t>
            </a:r>
          </a:p>
          <a:p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read1="${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raw_dir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}/${sample}_R1.fastq.gz"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read2="${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raw_dir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}/${sample}_R2.fastq.gz"</a:t>
            </a:r>
          </a:p>
          <a:p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fastp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-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"${read1}" \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-I "${read2}" \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-o "${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out_dir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}/${sample}_R1.trimmed.fastq.gz" \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-O "${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out_dir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}/${sample}_R2.trimmed.fastq.gz" \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detect_adapter_for_pe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cut_tail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cut_tail_window_size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4 \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cut_tail_mean_quality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20 \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--thread 2 \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--html "${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report_dir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}/${sample}.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fastp.html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\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"${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report_dir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}/${sample}.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fastp.json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\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&gt; "${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report_dir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}/${sample}.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fastp.log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2&gt;&amp;1</a:t>
            </a:r>
          </a:p>
          <a:p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echo "Finished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fastp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for ${sample}"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CBC38-8369-8B0D-D225-EF5376F6A205}"/>
              </a:ext>
            </a:extLst>
          </p:cNvPr>
          <p:cNvSpPr txBox="1"/>
          <p:nvPr/>
        </p:nvSpPr>
        <p:spPr>
          <a:xfrm>
            <a:off x="5280616" y="1824660"/>
            <a:ext cx="6390861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docker run --rm \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-v "$PWD:/work" \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-w /work \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docker.io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fgualdr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ngs-fastp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bash </a:t>
            </a:r>
            <a:r>
              <a:rPr lang="en-IT" dirty="0">
                <a:latin typeface="Courier New" panose="02070309020205020404" pitchFamily="49" charset="0"/>
                <a:cs typeface="Courier New" panose="02070309020205020404" pitchFamily="49" charset="0"/>
              </a:rPr>
              <a:t>scripts/day1/03_trim_fastq.sh</a:t>
            </a:r>
            <a:endParaRPr lang="en-GB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AB4971-D6FB-7098-84AD-949E0FC0AE80}"/>
              </a:ext>
            </a:extLst>
          </p:cNvPr>
          <p:cNvSpPr txBox="1"/>
          <p:nvPr/>
        </p:nvSpPr>
        <p:spPr>
          <a:xfrm>
            <a:off x="10477881" y="1824660"/>
            <a:ext cx="1193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 Terminal</a:t>
            </a:r>
          </a:p>
        </p:txBody>
      </p:sp>
    </p:spTree>
    <p:extLst>
      <p:ext uri="{BB962C8B-B14F-4D97-AF65-F5344CB8AC3E}">
        <p14:creationId xmlns:p14="http://schemas.microsoft.com/office/powerpoint/2010/main" val="50745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00601-8AA7-F21D-239B-1933A8F1D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How to read the fastp report</a:t>
            </a:r>
            <a:r>
              <a:rPr lang="en-GB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4BA86-E5EF-F6E2-6E55-AC267582C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CFE1B-EE24-AD1F-FD3D-F7C99A219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7D595-8017-661F-6E47-5EA92CAE6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35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54DEFE-3F3F-3D9B-552D-CFBC98A85A95}"/>
              </a:ext>
            </a:extLst>
          </p:cNvPr>
          <p:cNvSpPr txBox="1"/>
          <p:nvPr/>
        </p:nvSpPr>
        <p:spPr>
          <a:xfrm>
            <a:off x="134470" y="722811"/>
            <a:ext cx="11935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400" dirty="0"/>
              <a:t>In the VS Code Explorer, open results/logs/day1/fastp/. Right-click a *.fastp.html file, reveal it in Finder or File Explorer, and double-click it to open it in your web browser.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C55F61-70E1-0794-5234-31C78FD6F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846" y="1674702"/>
            <a:ext cx="7536014" cy="478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9749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EF86F-2EB1-5C14-0A89-7C70F09BB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C4D4D-EB64-4848-F3C5-9DA970EBC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D647-1409-C0A6-C032-6DDC34B7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B17A7-0029-3CA7-107A-7DB0407C8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23CE9-8FB1-B6FE-992E-93CA0FE15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8468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33032-F99F-0D4E-738C-13A9279C5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Close Day 1: commit the reproducible record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738BE-36B3-876A-DE23-3FD36CA5F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929" y="956048"/>
            <a:ext cx="11192435" cy="5126700"/>
          </a:xfrm>
        </p:spPr>
        <p:txBody>
          <a:bodyPr>
            <a:normAutofit/>
          </a:bodyPr>
          <a:lstStyle/>
          <a:p>
            <a:r>
              <a:rPr lang="en-IT" dirty="0"/>
              <a:t>What did we produce?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raw_data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/metadata/…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reference_genome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/…</a:t>
            </a: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scripts/day1/…</a:t>
            </a: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results/day1_qc/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trimmed_fastq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results/logs/day1/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metadata_fastq_download.log</a:t>
            </a: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results/logs/day1/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fastp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263D0-66E7-0F1C-BB53-388D191B2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21/09/26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BF2E2-C806-4215-4FC3-7AF1B475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24971-A5C4-ED83-DEA8-0A36467B4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20280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F2B55C-0989-80B7-2BCB-1D8C6785F7DB}"/>
              </a:ext>
            </a:extLst>
          </p:cNvPr>
          <p:cNvSpPr txBox="1"/>
          <p:nvPr/>
        </p:nvSpPr>
        <p:spPr>
          <a:xfrm>
            <a:off x="334768" y="920153"/>
            <a:ext cx="1179140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We can edit the README for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Github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ie.e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nano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“## Day 1: created the reproducible project structure,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bla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bla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bla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….”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git status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git add .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-&gt; if you want could also use: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git add . BUT!!: 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 </a:t>
            </a:r>
            <a:r>
              <a:rPr lang="en-GB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carefull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.</a:t>
            </a:r>
            <a:r>
              <a:rPr lang="en-GB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must be properly specified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 -m "Complete Day 1 FASTQ retrieval and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fastp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QC"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git push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D5C194-70CA-8C1F-B8B7-9E0114B87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70" y="122282"/>
            <a:ext cx="12192000" cy="519627"/>
          </a:xfrm>
        </p:spPr>
        <p:txBody>
          <a:bodyPr>
            <a:normAutofit fontScale="90000"/>
          </a:bodyPr>
          <a:lstStyle/>
          <a:p>
            <a:r>
              <a:rPr lang="en-IT" dirty="0"/>
              <a:t>Close Day 1: commit the reproducible record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7507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2474</TotalTime>
  <Words>5661</Words>
  <Application>Microsoft Macintosh PowerPoint</Application>
  <PresentationFormat>Widescreen</PresentationFormat>
  <Paragraphs>826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Aptos</vt:lpstr>
      <vt:lpstr>Aptos Narrow</vt:lpstr>
      <vt:lpstr>Arial</vt:lpstr>
      <vt:lpstr>Courier New</vt:lpstr>
      <vt:lpstr>Gill Sans</vt:lpstr>
      <vt:lpstr>Gill Sans Light</vt:lpstr>
      <vt:lpstr>Gill Sans Light</vt:lpstr>
      <vt:lpstr>Gill Sans MT</vt:lpstr>
      <vt:lpstr>Source Sans Pro</vt:lpstr>
      <vt:lpstr>Wingdings</vt:lpstr>
      <vt:lpstr>Office 2013 - 2022 Theme</vt:lpstr>
      <vt:lpstr>Reproducible NGS Data Analysis on Personal Laptops</vt:lpstr>
      <vt:lpstr>Workshop agenda:</vt:lpstr>
      <vt:lpstr>PowerPoint Presentation</vt:lpstr>
      <vt:lpstr>PowerPoint Presentation</vt:lpstr>
      <vt:lpstr>Workshop objective:</vt:lpstr>
      <vt:lpstr>Reproducibility in bioinformatics</vt:lpstr>
      <vt:lpstr>Git and GitHub</vt:lpstr>
      <vt:lpstr>PowerPoint Presentation</vt:lpstr>
      <vt:lpstr>PowerPoint Presentation</vt:lpstr>
      <vt:lpstr>PowerPoint Presentation</vt:lpstr>
      <vt:lpstr>Docker and Docker Hub</vt:lpstr>
      <vt:lpstr>Image recipies: Dockerfile</vt:lpstr>
      <vt:lpstr>Image recipies: Dockerfile → Multi-architecture image</vt:lpstr>
      <vt:lpstr>How to create an image and save it to personal DockerHub</vt:lpstr>
      <vt:lpstr>PowerPoint Presentation</vt:lpstr>
      <vt:lpstr>Two complementary layers of reproducibility</vt:lpstr>
      <vt:lpstr>Reference-based NGS analysis</vt:lpstr>
      <vt:lpstr>Reference-based analysis requires... a reference!</vt:lpstr>
      <vt:lpstr>Download reference genome and annotation:</vt:lpstr>
      <vt:lpstr>PowerPoint Presentation</vt:lpstr>
      <vt:lpstr>PowerPoint Presentation</vt:lpstr>
      <vt:lpstr>From biological molecules to sequencing reads </vt:lpstr>
      <vt:lpstr>Sequencing layout: single-end, paired-end and indexes</vt:lpstr>
      <vt:lpstr>FASTQ structure: sequence + uncertainty</vt:lpstr>
      <vt:lpstr>FASTQ structure: sequence + uncertainty</vt:lpstr>
      <vt:lpstr>Library preparation determines what the FASTQ represents</vt:lpstr>
      <vt:lpstr>Public sequencing archives: metadata + reads</vt:lpstr>
      <vt:lpstr>ArrayExpress collection in BioStudies + ENA route  GEO/SRA route </vt:lpstr>
      <vt:lpstr>PowerPoint Presentation</vt:lpstr>
      <vt:lpstr>PowerPoint Presentation</vt:lpstr>
      <vt:lpstr>PowerPoint Presentation</vt:lpstr>
      <vt:lpstr>FASTQ preprocessing and quality assessment </vt:lpstr>
      <vt:lpstr>Trimming: what are we trying to remove?</vt:lpstr>
      <vt:lpstr>fastp: QC and preprocessing in one step</vt:lpstr>
      <vt:lpstr>PowerPoint Presentation</vt:lpstr>
      <vt:lpstr>How to read the fastp report </vt:lpstr>
      <vt:lpstr>PowerPoint Presentation</vt:lpstr>
      <vt:lpstr>Close Day 1: commit the reproducible record</vt:lpstr>
      <vt:lpstr>Close Day 1: commit the reproducible record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Gualdrini Francesco</dc:creator>
  <cp:lastModifiedBy>Gualdrini Francesco</cp:lastModifiedBy>
  <cp:revision>211</cp:revision>
  <dcterms:created xsi:type="dcterms:W3CDTF">2026-09-11T06:59:50Z</dcterms:created>
  <dcterms:modified xsi:type="dcterms:W3CDTF">2026-09-21T11:36:05Z</dcterms:modified>
</cp:coreProperties>
</file>