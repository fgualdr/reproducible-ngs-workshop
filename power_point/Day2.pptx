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84" r:id="rId1"/>
  </p:sldMasterIdLst>
  <p:notesMasterIdLst>
    <p:notesMasterId r:id="rId10"/>
  </p:notesMasterIdLst>
  <p:sldIdLst>
    <p:sldId id="256" r:id="rId2"/>
    <p:sldId id="289" r:id="rId3"/>
    <p:sldId id="290" r:id="rId4"/>
    <p:sldId id="291" r:id="rId5"/>
    <p:sldId id="292" r:id="rId6"/>
    <p:sldId id="293" r:id="rId7"/>
    <p:sldId id="294" r:id="rId8"/>
    <p:sldId id="295"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72A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259"/>
    <p:restoredTop sz="94589"/>
  </p:normalViewPr>
  <p:slideViewPr>
    <p:cSldViewPr snapToGrid="0">
      <p:cViewPr varScale="1">
        <p:scale>
          <a:sx n="105" d="100"/>
          <a:sy n="105" d="100"/>
        </p:scale>
        <p:origin x="200" y="5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06BF8C-4158-F342-8216-E1A8A29CF1BB}" type="datetimeFigureOut">
              <a:rPr lang="en-GB" smtClean="0"/>
              <a:t>13/09/2026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9D5500A-D261-DC43-897E-19B59BA2217B}" type="slidenum">
              <a:rPr lang="en-GB" smtClean="0"/>
              <a:t>‹#›</a:t>
            </a:fld>
            <a:endParaRPr lang="en-GB"/>
          </a:p>
        </p:txBody>
      </p:sp>
    </p:spTree>
    <p:extLst>
      <p:ext uri="{BB962C8B-B14F-4D97-AF65-F5344CB8AC3E}">
        <p14:creationId xmlns:p14="http://schemas.microsoft.com/office/powerpoint/2010/main" val="2824885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dirty="0"/>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4" name="Date Placeholder 3"/>
          <p:cNvSpPr>
            <a:spLocks noGrp="1"/>
          </p:cNvSpPr>
          <p:nvPr>
            <p:ph type="dt" sz="half" idx="10"/>
          </p:nvPr>
        </p:nvSpPr>
        <p:spPr/>
        <p:txBody>
          <a:bodyPr/>
          <a:lstStyle/>
          <a:p>
            <a:fld id="{DE396E4B-6C64-E643-9A0A-AB5E13C2F5FA}" type="datetime1">
              <a:rPr lang="it-IT" smtClean="0"/>
              <a:t>13/09/26</a:t>
            </a:fld>
            <a:endParaRPr lang="en-GB"/>
          </a:p>
        </p:txBody>
      </p:sp>
      <p:sp>
        <p:nvSpPr>
          <p:cNvPr id="5" name="Footer Placeholder 4"/>
          <p:cNvSpPr>
            <a:spLocks noGrp="1"/>
          </p:cNvSpPr>
          <p:nvPr>
            <p:ph type="ftr" sz="quarter" idx="11"/>
          </p:nvPr>
        </p:nvSpPr>
        <p:spPr/>
        <p:txBody>
          <a:bodyPr/>
          <a:lstStyle/>
          <a:p>
            <a:r>
              <a:rPr lang="en-GB"/>
              <a:t>Day 1: Reproducible NGS Data Analysis on Personal Laptops</a:t>
            </a:r>
          </a:p>
        </p:txBody>
      </p:sp>
      <p:sp>
        <p:nvSpPr>
          <p:cNvPr id="6" name="Slide Number Placeholder 5"/>
          <p:cNvSpPr>
            <a:spLocks noGrp="1"/>
          </p:cNvSpPr>
          <p:nvPr>
            <p:ph type="sldNum" sz="quarter" idx="12"/>
          </p:nvPr>
        </p:nvSpPr>
        <p:spPr/>
        <p:txBody>
          <a:bodyPr/>
          <a:lstStyle/>
          <a:p>
            <a:fld id="{62E92BA6-6E87-3343-8D2C-B7A656D628E4}" type="slidenum">
              <a:rPr lang="en-GB" smtClean="0"/>
              <a:t>‹#›</a:t>
            </a:fld>
            <a:endParaRPr lang="en-GB"/>
          </a:p>
        </p:txBody>
      </p:sp>
    </p:spTree>
    <p:extLst>
      <p:ext uri="{BB962C8B-B14F-4D97-AF65-F5344CB8AC3E}">
        <p14:creationId xmlns:p14="http://schemas.microsoft.com/office/powerpoint/2010/main" val="31968936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761DFEEA-1162-B343-ACBF-B3E92F6AC390}" type="datetime1">
              <a:rPr lang="it-IT" smtClean="0"/>
              <a:t>13/09/26</a:t>
            </a:fld>
            <a:endParaRPr lang="en-GB"/>
          </a:p>
        </p:txBody>
      </p:sp>
      <p:sp>
        <p:nvSpPr>
          <p:cNvPr id="5" name="Footer Placeholder 4"/>
          <p:cNvSpPr>
            <a:spLocks noGrp="1"/>
          </p:cNvSpPr>
          <p:nvPr>
            <p:ph type="ftr" sz="quarter" idx="11"/>
          </p:nvPr>
        </p:nvSpPr>
        <p:spPr/>
        <p:txBody>
          <a:bodyPr/>
          <a:lstStyle/>
          <a:p>
            <a:r>
              <a:rPr lang="en-GB"/>
              <a:t>Day 1: Reproducible NGS Data Analysis on Personal Laptops</a:t>
            </a:r>
          </a:p>
        </p:txBody>
      </p:sp>
      <p:sp>
        <p:nvSpPr>
          <p:cNvPr id="6" name="Slide Number Placeholder 5"/>
          <p:cNvSpPr>
            <a:spLocks noGrp="1"/>
          </p:cNvSpPr>
          <p:nvPr>
            <p:ph type="sldNum" sz="quarter" idx="12"/>
          </p:nvPr>
        </p:nvSpPr>
        <p:spPr/>
        <p:txBody>
          <a:bodyPr/>
          <a:lstStyle/>
          <a:p>
            <a:fld id="{62E92BA6-6E87-3343-8D2C-B7A656D628E4}" type="slidenum">
              <a:rPr lang="en-GB" smtClean="0"/>
              <a:t>‹#›</a:t>
            </a:fld>
            <a:endParaRPr lang="en-GB"/>
          </a:p>
        </p:txBody>
      </p:sp>
    </p:spTree>
    <p:extLst>
      <p:ext uri="{BB962C8B-B14F-4D97-AF65-F5344CB8AC3E}">
        <p14:creationId xmlns:p14="http://schemas.microsoft.com/office/powerpoint/2010/main" val="15643337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49ECE03-5904-2640-B404-A3FEAB598526}" type="datetime1">
              <a:rPr lang="it-IT" smtClean="0"/>
              <a:t>13/09/26</a:t>
            </a:fld>
            <a:endParaRPr lang="en-GB"/>
          </a:p>
        </p:txBody>
      </p:sp>
      <p:sp>
        <p:nvSpPr>
          <p:cNvPr id="5" name="Footer Placeholder 4"/>
          <p:cNvSpPr>
            <a:spLocks noGrp="1"/>
          </p:cNvSpPr>
          <p:nvPr>
            <p:ph type="ftr" sz="quarter" idx="11"/>
          </p:nvPr>
        </p:nvSpPr>
        <p:spPr/>
        <p:txBody>
          <a:bodyPr/>
          <a:lstStyle/>
          <a:p>
            <a:r>
              <a:rPr lang="en-GB"/>
              <a:t>Day 1: Reproducible NGS Data Analysis on Personal Laptops</a:t>
            </a:r>
          </a:p>
        </p:txBody>
      </p:sp>
      <p:sp>
        <p:nvSpPr>
          <p:cNvPr id="6" name="Slide Number Placeholder 5"/>
          <p:cNvSpPr>
            <a:spLocks noGrp="1"/>
          </p:cNvSpPr>
          <p:nvPr>
            <p:ph type="sldNum" sz="quarter" idx="12"/>
          </p:nvPr>
        </p:nvSpPr>
        <p:spPr/>
        <p:txBody>
          <a:bodyPr/>
          <a:lstStyle/>
          <a:p>
            <a:fld id="{62E92BA6-6E87-3343-8D2C-B7A656D628E4}" type="slidenum">
              <a:rPr lang="en-GB" smtClean="0"/>
              <a:t>‹#›</a:t>
            </a:fld>
            <a:endParaRPr lang="en-GB"/>
          </a:p>
        </p:txBody>
      </p:sp>
    </p:spTree>
    <p:extLst>
      <p:ext uri="{BB962C8B-B14F-4D97-AF65-F5344CB8AC3E}">
        <p14:creationId xmlns:p14="http://schemas.microsoft.com/office/powerpoint/2010/main" val="40543605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60BAE46A-96B1-BD4E-91A6-BD8913D3E1E1}" type="datetime1">
              <a:rPr lang="it-IT" smtClean="0"/>
              <a:t>13/09/26</a:t>
            </a:fld>
            <a:endParaRPr lang="en-GB"/>
          </a:p>
        </p:txBody>
      </p:sp>
      <p:sp>
        <p:nvSpPr>
          <p:cNvPr id="6" name="Footer Placeholder 5"/>
          <p:cNvSpPr>
            <a:spLocks noGrp="1"/>
          </p:cNvSpPr>
          <p:nvPr>
            <p:ph type="ftr" sz="quarter" idx="11"/>
          </p:nvPr>
        </p:nvSpPr>
        <p:spPr/>
        <p:txBody>
          <a:bodyPr/>
          <a:lstStyle/>
          <a:p>
            <a:r>
              <a:rPr lang="en-GB"/>
              <a:t>Day 1: Reproducible NGS Data Analysis on Personal Laptops</a:t>
            </a:r>
          </a:p>
        </p:txBody>
      </p:sp>
      <p:sp>
        <p:nvSpPr>
          <p:cNvPr id="7" name="Slide Number Placeholder 6"/>
          <p:cNvSpPr>
            <a:spLocks noGrp="1"/>
          </p:cNvSpPr>
          <p:nvPr>
            <p:ph type="sldNum" sz="quarter" idx="12"/>
          </p:nvPr>
        </p:nvSpPr>
        <p:spPr/>
        <p:txBody>
          <a:bodyPr/>
          <a:lstStyle/>
          <a:p>
            <a:fld id="{62E92BA6-6E87-3343-8D2C-B7A656D628E4}" type="slidenum">
              <a:rPr lang="en-GB" smtClean="0"/>
              <a:t>‹#›</a:t>
            </a:fld>
            <a:endParaRPr lang="en-GB"/>
          </a:p>
        </p:txBody>
      </p:sp>
    </p:spTree>
    <p:extLst>
      <p:ext uri="{BB962C8B-B14F-4D97-AF65-F5344CB8AC3E}">
        <p14:creationId xmlns:p14="http://schemas.microsoft.com/office/powerpoint/2010/main" val="28812848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9BACEE35-98CA-3449-A912-39DDE1219E25}" type="datetime1">
              <a:rPr lang="it-IT" smtClean="0"/>
              <a:t>13/09/26</a:t>
            </a:fld>
            <a:endParaRPr lang="en-GB"/>
          </a:p>
        </p:txBody>
      </p:sp>
      <p:sp>
        <p:nvSpPr>
          <p:cNvPr id="8" name="Footer Placeholder 7"/>
          <p:cNvSpPr>
            <a:spLocks noGrp="1"/>
          </p:cNvSpPr>
          <p:nvPr>
            <p:ph type="ftr" sz="quarter" idx="11"/>
          </p:nvPr>
        </p:nvSpPr>
        <p:spPr/>
        <p:txBody>
          <a:bodyPr/>
          <a:lstStyle/>
          <a:p>
            <a:r>
              <a:rPr lang="en-GB"/>
              <a:t>Day 1: Reproducible NGS Data Analysis on Personal Laptops</a:t>
            </a:r>
          </a:p>
        </p:txBody>
      </p:sp>
      <p:sp>
        <p:nvSpPr>
          <p:cNvPr id="9" name="Slide Number Placeholder 8"/>
          <p:cNvSpPr>
            <a:spLocks noGrp="1"/>
          </p:cNvSpPr>
          <p:nvPr>
            <p:ph type="sldNum" sz="quarter" idx="12"/>
          </p:nvPr>
        </p:nvSpPr>
        <p:spPr/>
        <p:txBody>
          <a:bodyPr/>
          <a:lstStyle/>
          <a:p>
            <a:fld id="{62E92BA6-6E87-3343-8D2C-B7A656D628E4}" type="slidenum">
              <a:rPr lang="en-GB" smtClean="0"/>
              <a:t>‹#›</a:t>
            </a:fld>
            <a:endParaRPr lang="en-GB"/>
          </a:p>
        </p:txBody>
      </p:sp>
    </p:spTree>
    <p:extLst>
      <p:ext uri="{BB962C8B-B14F-4D97-AF65-F5344CB8AC3E}">
        <p14:creationId xmlns:p14="http://schemas.microsoft.com/office/powerpoint/2010/main" val="4144544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5953B74D-CC1D-D544-8CB0-DB12C3D1744A}" type="datetime1">
              <a:rPr lang="it-IT" smtClean="0"/>
              <a:t>13/09/26</a:t>
            </a:fld>
            <a:endParaRPr lang="en-GB"/>
          </a:p>
        </p:txBody>
      </p:sp>
      <p:sp>
        <p:nvSpPr>
          <p:cNvPr id="4" name="Footer Placeholder 3"/>
          <p:cNvSpPr>
            <a:spLocks noGrp="1"/>
          </p:cNvSpPr>
          <p:nvPr>
            <p:ph type="ftr" sz="quarter" idx="11"/>
          </p:nvPr>
        </p:nvSpPr>
        <p:spPr/>
        <p:txBody>
          <a:bodyPr/>
          <a:lstStyle/>
          <a:p>
            <a:r>
              <a:rPr lang="en-GB"/>
              <a:t>Day 1: Reproducible NGS Data Analysis on Personal Laptops</a:t>
            </a:r>
          </a:p>
        </p:txBody>
      </p:sp>
      <p:sp>
        <p:nvSpPr>
          <p:cNvPr id="5" name="Slide Number Placeholder 4"/>
          <p:cNvSpPr>
            <a:spLocks noGrp="1"/>
          </p:cNvSpPr>
          <p:nvPr>
            <p:ph type="sldNum" sz="quarter" idx="12"/>
          </p:nvPr>
        </p:nvSpPr>
        <p:spPr/>
        <p:txBody>
          <a:bodyPr/>
          <a:lstStyle/>
          <a:p>
            <a:fld id="{62E92BA6-6E87-3343-8D2C-B7A656D628E4}" type="slidenum">
              <a:rPr lang="en-GB" smtClean="0"/>
              <a:t>‹#›</a:t>
            </a:fld>
            <a:endParaRPr lang="en-GB"/>
          </a:p>
        </p:txBody>
      </p:sp>
    </p:spTree>
    <p:extLst>
      <p:ext uri="{BB962C8B-B14F-4D97-AF65-F5344CB8AC3E}">
        <p14:creationId xmlns:p14="http://schemas.microsoft.com/office/powerpoint/2010/main" val="7734751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7398775-032D-C849-B9B0-C1D11ED802C1}" type="datetime1">
              <a:rPr lang="it-IT" smtClean="0"/>
              <a:t>13/09/26</a:t>
            </a:fld>
            <a:endParaRPr lang="en-GB"/>
          </a:p>
        </p:txBody>
      </p:sp>
      <p:sp>
        <p:nvSpPr>
          <p:cNvPr id="3" name="Footer Placeholder 2"/>
          <p:cNvSpPr>
            <a:spLocks noGrp="1"/>
          </p:cNvSpPr>
          <p:nvPr>
            <p:ph type="ftr" sz="quarter" idx="11"/>
          </p:nvPr>
        </p:nvSpPr>
        <p:spPr/>
        <p:txBody>
          <a:bodyPr/>
          <a:lstStyle/>
          <a:p>
            <a:r>
              <a:rPr lang="en-GB"/>
              <a:t>Day 1: Reproducible NGS Data Analysis on Personal Laptops</a:t>
            </a:r>
          </a:p>
        </p:txBody>
      </p:sp>
      <p:sp>
        <p:nvSpPr>
          <p:cNvPr id="4" name="Slide Number Placeholder 3"/>
          <p:cNvSpPr>
            <a:spLocks noGrp="1"/>
          </p:cNvSpPr>
          <p:nvPr>
            <p:ph type="sldNum" sz="quarter" idx="12"/>
          </p:nvPr>
        </p:nvSpPr>
        <p:spPr/>
        <p:txBody>
          <a:bodyPr/>
          <a:lstStyle/>
          <a:p>
            <a:fld id="{62E92BA6-6E87-3343-8D2C-B7A656D628E4}" type="slidenum">
              <a:rPr lang="en-GB" smtClean="0"/>
              <a:t>‹#›</a:t>
            </a:fld>
            <a:endParaRPr lang="en-GB"/>
          </a:p>
        </p:txBody>
      </p:sp>
    </p:spTree>
    <p:extLst>
      <p:ext uri="{BB962C8B-B14F-4D97-AF65-F5344CB8AC3E}">
        <p14:creationId xmlns:p14="http://schemas.microsoft.com/office/powerpoint/2010/main" val="38248393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28DD5ADB-7CE0-804E-9C85-40A519507F1A}" type="datetime1">
              <a:rPr lang="it-IT" smtClean="0"/>
              <a:t>13/09/26</a:t>
            </a:fld>
            <a:endParaRPr lang="en-GB"/>
          </a:p>
        </p:txBody>
      </p:sp>
      <p:sp>
        <p:nvSpPr>
          <p:cNvPr id="6" name="Footer Placeholder 5"/>
          <p:cNvSpPr>
            <a:spLocks noGrp="1"/>
          </p:cNvSpPr>
          <p:nvPr>
            <p:ph type="ftr" sz="quarter" idx="11"/>
          </p:nvPr>
        </p:nvSpPr>
        <p:spPr/>
        <p:txBody>
          <a:bodyPr/>
          <a:lstStyle/>
          <a:p>
            <a:r>
              <a:rPr lang="en-GB"/>
              <a:t>Day 1: Reproducible NGS Data Analysis on Personal Laptops</a:t>
            </a:r>
          </a:p>
        </p:txBody>
      </p:sp>
      <p:sp>
        <p:nvSpPr>
          <p:cNvPr id="7" name="Slide Number Placeholder 6"/>
          <p:cNvSpPr>
            <a:spLocks noGrp="1"/>
          </p:cNvSpPr>
          <p:nvPr>
            <p:ph type="sldNum" sz="quarter" idx="12"/>
          </p:nvPr>
        </p:nvSpPr>
        <p:spPr/>
        <p:txBody>
          <a:bodyPr/>
          <a:lstStyle/>
          <a:p>
            <a:fld id="{62E92BA6-6E87-3343-8D2C-B7A656D628E4}" type="slidenum">
              <a:rPr lang="en-GB" smtClean="0"/>
              <a:t>‹#›</a:t>
            </a:fld>
            <a:endParaRPr lang="en-GB"/>
          </a:p>
        </p:txBody>
      </p:sp>
    </p:spTree>
    <p:extLst>
      <p:ext uri="{BB962C8B-B14F-4D97-AF65-F5344CB8AC3E}">
        <p14:creationId xmlns:p14="http://schemas.microsoft.com/office/powerpoint/2010/main" val="10851614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D404C8A3-CA6B-DB4B-8A18-5294010BD3CB}" type="datetime1">
              <a:rPr lang="it-IT" smtClean="0"/>
              <a:t>13/09/26</a:t>
            </a:fld>
            <a:endParaRPr lang="en-GB"/>
          </a:p>
        </p:txBody>
      </p:sp>
      <p:sp>
        <p:nvSpPr>
          <p:cNvPr id="6" name="Footer Placeholder 5"/>
          <p:cNvSpPr>
            <a:spLocks noGrp="1"/>
          </p:cNvSpPr>
          <p:nvPr>
            <p:ph type="ftr" sz="quarter" idx="11"/>
          </p:nvPr>
        </p:nvSpPr>
        <p:spPr/>
        <p:txBody>
          <a:bodyPr/>
          <a:lstStyle/>
          <a:p>
            <a:r>
              <a:rPr lang="en-GB"/>
              <a:t>Day 1: Reproducible NGS Data Analysis on Personal Laptops</a:t>
            </a:r>
          </a:p>
        </p:txBody>
      </p:sp>
      <p:sp>
        <p:nvSpPr>
          <p:cNvPr id="7" name="Slide Number Placeholder 6"/>
          <p:cNvSpPr>
            <a:spLocks noGrp="1"/>
          </p:cNvSpPr>
          <p:nvPr>
            <p:ph type="sldNum" sz="quarter" idx="12"/>
          </p:nvPr>
        </p:nvSpPr>
        <p:spPr/>
        <p:txBody>
          <a:bodyPr/>
          <a:lstStyle/>
          <a:p>
            <a:fld id="{62E92BA6-6E87-3343-8D2C-B7A656D628E4}" type="slidenum">
              <a:rPr lang="en-GB" smtClean="0"/>
              <a:t>‹#›</a:t>
            </a:fld>
            <a:endParaRPr lang="en-GB"/>
          </a:p>
        </p:txBody>
      </p:sp>
    </p:spTree>
    <p:extLst>
      <p:ext uri="{BB962C8B-B14F-4D97-AF65-F5344CB8AC3E}">
        <p14:creationId xmlns:p14="http://schemas.microsoft.com/office/powerpoint/2010/main" val="3565007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31B09858-3BFB-DA41-A1A7-0A2A32E9793F}" type="datetime1">
              <a:rPr lang="it-IT" smtClean="0"/>
              <a:t>13/09/26</a:t>
            </a:fld>
            <a:endParaRPr lang="en-GB"/>
          </a:p>
        </p:txBody>
      </p:sp>
      <p:sp>
        <p:nvSpPr>
          <p:cNvPr id="5" name="Footer Placeholder 4"/>
          <p:cNvSpPr>
            <a:spLocks noGrp="1"/>
          </p:cNvSpPr>
          <p:nvPr>
            <p:ph type="ftr" sz="quarter" idx="11"/>
          </p:nvPr>
        </p:nvSpPr>
        <p:spPr/>
        <p:txBody>
          <a:bodyPr/>
          <a:lstStyle/>
          <a:p>
            <a:r>
              <a:rPr lang="en-GB"/>
              <a:t>Day 1: Reproducible NGS Data Analysis on Personal Laptops</a:t>
            </a:r>
          </a:p>
        </p:txBody>
      </p:sp>
      <p:sp>
        <p:nvSpPr>
          <p:cNvPr id="6" name="Slide Number Placeholder 5"/>
          <p:cNvSpPr>
            <a:spLocks noGrp="1"/>
          </p:cNvSpPr>
          <p:nvPr>
            <p:ph type="sldNum" sz="quarter" idx="12"/>
          </p:nvPr>
        </p:nvSpPr>
        <p:spPr/>
        <p:txBody>
          <a:bodyPr/>
          <a:lstStyle/>
          <a:p>
            <a:fld id="{62E92BA6-6E87-3343-8D2C-B7A656D628E4}" type="slidenum">
              <a:rPr lang="en-GB" smtClean="0"/>
              <a:t>‹#›</a:t>
            </a:fld>
            <a:endParaRPr lang="en-GB"/>
          </a:p>
        </p:txBody>
      </p:sp>
    </p:spTree>
    <p:extLst>
      <p:ext uri="{BB962C8B-B14F-4D97-AF65-F5344CB8AC3E}">
        <p14:creationId xmlns:p14="http://schemas.microsoft.com/office/powerpoint/2010/main" val="29789003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2C58458F-C659-9242-908F-36A06BB8B093}" type="datetime1">
              <a:rPr lang="it-IT" smtClean="0"/>
              <a:t>13/09/26</a:t>
            </a:fld>
            <a:endParaRPr lang="en-GB"/>
          </a:p>
        </p:txBody>
      </p:sp>
      <p:sp>
        <p:nvSpPr>
          <p:cNvPr id="5" name="Footer Placeholder 4"/>
          <p:cNvSpPr>
            <a:spLocks noGrp="1"/>
          </p:cNvSpPr>
          <p:nvPr>
            <p:ph type="ftr" sz="quarter" idx="11"/>
          </p:nvPr>
        </p:nvSpPr>
        <p:spPr/>
        <p:txBody>
          <a:bodyPr/>
          <a:lstStyle/>
          <a:p>
            <a:r>
              <a:rPr lang="en-GB"/>
              <a:t>Day 1: Reproducible NGS Data Analysis on Personal Laptops</a:t>
            </a:r>
          </a:p>
        </p:txBody>
      </p:sp>
      <p:sp>
        <p:nvSpPr>
          <p:cNvPr id="6" name="Slide Number Placeholder 5"/>
          <p:cNvSpPr>
            <a:spLocks noGrp="1"/>
          </p:cNvSpPr>
          <p:nvPr>
            <p:ph type="sldNum" sz="quarter" idx="12"/>
          </p:nvPr>
        </p:nvSpPr>
        <p:spPr/>
        <p:txBody>
          <a:bodyPr/>
          <a:lstStyle/>
          <a:p>
            <a:fld id="{62E92BA6-6E87-3343-8D2C-B7A656D628E4}" type="slidenum">
              <a:rPr lang="en-GB" smtClean="0"/>
              <a:t>‹#›</a:t>
            </a:fld>
            <a:endParaRPr lang="en-GB"/>
          </a:p>
        </p:txBody>
      </p:sp>
    </p:spTree>
    <p:extLst>
      <p:ext uri="{BB962C8B-B14F-4D97-AF65-F5344CB8AC3E}">
        <p14:creationId xmlns:p14="http://schemas.microsoft.com/office/powerpoint/2010/main" val="35820177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4470" y="122282"/>
            <a:ext cx="12192000" cy="519627"/>
          </a:xfrm>
          <a:prstGeom prst="rect">
            <a:avLst/>
          </a:prstGeom>
        </p:spPr>
        <p:txBody>
          <a:bodyPr vert="horz" lIns="91440" tIns="45720" rIns="91440" bIns="45720" rtlCol="0" anchor="ctr">
            <a:normAutofit/>
          </a:bodyPr>
          <a:lstStyle/>
          <a:p>
            <a:r>
              <a:rPr lang="en-GB" dirty="0"/>
              <a:t>Click to edit Master title style</a:t>
            </a:r>
            <a:endParaRPr lang="en-US" dirty="0"/>
          </a:p>
        </p:txBody>
      </p:sp>
      <p:sp>
        <p:nvSpPr>
          <p:cNvPr id="3" name="Text Placeholder 2"/>
          <p:cNvSpPr>
            <a:spLocks noGrp="1"/>
          </p:cNvSpPr>
          <p:nvPr>
            <p:ph type="body" idx="1"/>
          </p:nvPr>
        </p:nvSpPr>
        <p:spPr>
          <a:xfrm>
            <a:off x="398929" y="956048"/>
            <a:ext cx="11192435" cy="5086163"/>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1A1503F-4B7A-6348-924A-FFD23680AA8F}" type="datetime1">
              <a:rPr lang="it-IT" smtClean="0"/>
              <a:t>13/09/26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GB"/>
              <a:t>Day 1: Reproducible NGS Data Analysis on Personal Laptops</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2E92BA6-6E87-3343-8D2C-B7A656D628E4}" type="slidenum">
              <a:rPr lang="en-GB" smtClean="0"/>
              <a:t>‹#›</a:t>
            </a:fld>
            <a:endParaRPr lang="en-GB"/>
          </a:p>
        </p:txBody>
      </p:sp>
    </p:spTree>
    <p:extLst>
      <p:ext uri="{BB962C8B-B14F-4D97-AF65-F5344CB8AC3E}">
        <p14:creationId xmlns:p14="http://schemas.microsoft.com/office/powerpoint/2010/main" val="415021043"/>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F92747-DC33-217F-1565-FF97054DED85}"/>
              </a:ext>
            </a:extLst>
          </p:cNvPr>
          <p:cNvSpPr>
            <a:spLocks noGrp="1"/>
          </p:cNvSpPr>
          <p:nvPr>
            <p:ph type="ctrTitle"/>
          </p:nvPr>
        </p:nvSpPr>
        <p:spPr/>
        <p:txBody>
          <a:bodyPr/>
          <a:lstStyle/>
          <a:p>
            <a:r>
              <a:rPr lang="en-IT" dirty="0"/>
              <a:t>Reproducible NGS Data Analysis on Personal Laptops</a:t>
            </a:r>
            <a:endParaRPr lang="en-GB" dirty="0"/>
          </a:p>
        </p:txBody>
      </p:sp>
      <p:sp>
        <p:nvSpPr>
          <p:cNvPr id="4" name="Date Placeholder 3">
            <a:extLst>
              <a:ext uri="{FF2B5EF4-FFF2-40B4-BE49-F238E27FC236}">
                <a16:creationId xmlns:a16="http://schemas.microsoft.com/office/drawing/2014/main" id="{1C0FE03A-9F62-3B7F-B9C2-05F885B6398D}"/>
              </a:ext>
            </a:extLst>
          </p:cNvPr>
          <p:cNvSpPr>
            <a:spLocks noGrp="1"/>
          </p:cNvSpPr>
          <p:nvPr>
            <p:ph type="dt" sz="half" idx="10"/>
          </p:nvPr>
        </p:nvSpPr>
        <p:spPr/>
        <p:txBody>
          <a:bodyPr/>
          <a:lstStyle/>
          <a:p>
            <a:fld id="{220AD085-7898-BE4F-A67D-B59B606A6206}" type="datetime1">
              <a:rPr lang="it-IT" smtClean="0"/>
              <a:t>13/09/26</a:t>
            </a:fld>
            <a:endParaRPr lang="en-GB"/>
          </a:p>
        </p:txBody>
      </p:sp>
      <p:sp>
        <p:nvSpPr>
          <p:cNvPr id="5" name="Footer Placeholder 4">
            <a:extLst>
              <a:ext uri="{FF2B5EF4-FFF2-40B4-BE49-F238E27FC236}">
                <a16:creationId xmlns:a16="http://schemas.microsoft.com/office/drawing/2014/main" id="{8189AE5A-44AD-824B-FEE4-42D719C28C8C}"/>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B088CCC8-4672-8B3D-3D7A-7B9695FBD7C7}"/>
              </a:ext>
            </a:extLst>
          </p:cNvPr>
          <p:cNvSpPr>
            <a:spLocks noGrp="1"/>
          </p:cNvSpPr>
          <p:nvPr>
            <p:ph type="sldNum" sz="quarter" idx="12"/>
          </p:nvPr>
        </p:nvSpPr>
        <p:spPr/>
        <p:txBody>
          <a:bodyPr/>
          <a:lstStyle/>
          <a:p>
            <a:fld id="{62E92BA6-6E87-3343-8D2C-B7A656D628E4}" type="slidenum">
              <a:rPr lang="en-GB" smtClean="0"/>
              <a:t>0</a:t>
            </a:fld>
            <a:endParaRPr lang="en-GB"/>
          </a:p>
        </p:txBody>
      </p:sp>
    </p:spTree>
    <p:extLst>
      <p:ext uri="{BB962C8B-B14F-4D97-AF65-F5344CB8AC3E}">
        <p14:creationId xmlns:p14="http://schemas.microsoft.com/office/powerpoint/2010/main" val="9170009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F9AD8DE-34F1-B6C8-6DB4-8A51721F14BF}"/>
              </a:ext>
            </a:extLst>
          </p:cNvPr>
          <p:cNvSpPr>
            <a:spLocks noGrp="1"/>
          </p:cNvSpPr>
          <p:nvPr>
            <p:ph idx="1"/>
          </p:nvPr>
        </p:nvSpPr>
        <p:spPr>
          <a:xfrm>
            <a:off x="398929" y="956048"/>
            <a:ext cx="11192435" cy="2977999"/>
          </a:xfrm>
        </p:spPr>
        <p:txBody>
          <a:bodyPr>
            <a:normAutofit lnSpcReduction="10000"/>
          </a:bodyPr>
          <a:lstStyle/>
          <a:p>
            <a:pPr marL="0" indent="0" algn="ctr">
              <a:buNone/>
            </a:pPr>
            <a:r>
              <a:rPr lang="en-GB" sz="4800" dirty="0"/>
              <a:t>DAY 02</a:t>
            </a:r>
          </a:p>
          <a:p>
            <a:pPr marL="0" indent="0" algn="ctr">
              <a:buNone/>
            </a:pPr>
            <a:endParaRPr lang="en-GB" sz="4800" dirty="0"/>
          </a:p>
          <a:p>
            <a:pPr marL="0" indent="0" algn="ctr">
              <a:buNone/>
            </a:pPr>
            <a:r>
              <a:rPr lang="en-IT" sz="4800" dirty="0"/>
              <a:t>RNA-seq: from FASTQ to differential expression</a:t>
            </a:r>
            <a:endParaRPr lang="en-GB" sz="4800" dirty="0"/>
          </a:p>
        </p:txBody>
      </p:sp>
      <p:sp>
        <p:nvSpPr>
          <p:cNvPr id="4" name="Date Placeholder 3">
            <a:extLst>
              <a:ext uri="{FF2B5EF4-FFF2-40B4-BE49-F238E27FC236}">
                <a16:creationId xmlns:a16="http://schemas.microsoft.com/office/drawing/2014/main" id="{18A88FE0-0E6C-AA8E-E01E-FF55BEC0ADF1}"/>
              </a:ext>
            </a:extLst>
          </p:cNvPr>
          <p:cNvSpPr>
            <a:spLocks noGrp="1"/>
          </p:cNvSpPr>
          <p:nvPr>
            <p:ph type="dt" sz="half" idx="10"/>
          </p:nvPr>
        </p:nvSpPr>
        <p:spPr/>
        <p:txBody>
          <a:bodyPr/>
          <a:lstStyle/>
          <a:p>
            <a:fld id="{761DFEEA-1162-B343-ACBF-B3E92F6AC390}" type="datetime1">
              <a:rPr lang="it-IT" smtClean="0"/>
              <a:t>13/09/26</a:t>
            </a:fld>
            <a:endParaRPr lang="en-GB"/>
          </a:p>
        </p:txBody>
      </p:sp>
      <p:sp>
        <p:nvSpPr>
          <p:cNvPr id="5" name="Footer Placeholder 4">
            <a:extLst>
              <a:ext uri="{FF2B5EF4-FFF2-40B4-BE49-F238E27FC236}">
                <a16:creationId xmlns:a16="http://schemas.microsoft.com/office/drawing/2014/main" id="{504D4A82-CBA4-6A08-3BEB-B236992F3957}"/>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80A036FD-A9A0-FFF6-C5E7-ACE8589DFD54}"/>
              </a:ext>
            </a:extLst>
          </p:cNvPr>
          <p:cNvSpPr>
            <a:spLocks noGrp="1"/>
          </p:cNvSpPr>
          <p:nvPr>
            <p:ph type="sldNum" sz="quarter" idx="12"/>
          </p:nvPr>
        </p:nvSpPr>
        <p:spPr/>
        <p:txBody>
          <a:bodyPr/>
          <a:lstStyle/>
          <a:p>
            <a:fld id="{62E92BA6-6E87-3343-8D2C-B7A656D628E4}" type="slidenum">
              <a:rPr lang="en-GB" smtClean="0"/>
              <a:t>1</a:t>
            </a:fld>
            <a:endParaRPr lang="en-GB"/>
          </a:p>
        </p:txBody>
      </p:sp>
      <p:sp>
        <p:nvSpPr>
          <p:cNvPr id="7" name="TextBox 6">
            <a:extLst>
              <a:ext uri="{FF2B5EF4-FFF2-40B4-BE49-F238E27FC236}">
                <a16:creationId xmlns:a16="http://schemas.microsoft.com/office/drawing/2014/main" id="{9580F8E4-4303-06E8-9759-0526BD92377F}"/>
              </a:ext>
            </a:extLst>
          </p:cNvPr>
          <p:cNvSpPr txBox="1"/>
          <p:nvPr/>
        </p:nvSpPr>
        <p:spPr>
          <a:xfrm>
            <a:off x="116958" y="5009063"/>
            <a:ext cx="11913676" cy="461665"/>
          </a:xfrm>
          <a:prstGeom prst="rect">
            <a:avLst/>
          </a:prstGeom>
          <a:noFill/>
        </p:spPr>
        <p:txBody>
          <a:bodyPr wrap="square">
            <a:spAutoFit/>
          </a:bodyPr>
          <a:lstStyle/>
          <a:p>
            <a:pPr algn="ctr"/>
            <a:r>
              <a:rPr lang="en-GB" sz="2400" i="1" dirty="0">
                <a:solidFill>
                  <a:schemeClr val="bg1">
                    <a:lumMod val="50000"/>
                  </a:schemeClr>
                </a:solidFill>
              </a:rPr>
              <a:t>trimmed FASTQ → alignment → BAM → gene counts → DESeq2 → biological interpretation</a:t>
            </a:r>
          </a:p>
        </p:txBody>
      </p:sp>
    </p:spTree>
    <p:extLst>
      <p:ext uri="{BB962C8B-B14F-4D97-AF65-F5344CB8AC3E}">
        <p14:creationId xmlns:p14="http://schemas.microsoft.com/office/powerpoint/2010/main" val="2970877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6620B-3376-C862-2439-E316A5D33514}"/>
              </a:ext>
            </a:extLst>
          </p:cNvPr>
          <p:cNvSpPr>
            <a:spLocks noGrp="1"/>
          </p:cNvSpPr>
          <p:nvPr>
            <p:ph type="title"/>
          </p:nvPr>
        </p:nvSpPr>
        <p:spPr>
          <a:xfrm>
            <a:off x="134470" y="122282"/>
            <a:ext cx="12192000" cy="551051"/>
          </a:xfrm>
        </p:spPr>
        <p:txBody>
          <a:bodyPr>
            <a:normAutofit/>
          </a:bodyPr>
          <a:lstStyle/>
          <a:p>
            <a:r>
              <a:rPr lang="en-IT" sz="3200" dirty="0"/>
              <a:t>Turn sequencing reads into quantitative gene-expression measurements</a:t>
            </a:r>
            <a:endParaRPr lang="en-GB" sz="3200" dirty="0"/>
          </a:p>
        </p:txBody>
      </p:sp>
      <p:sp>
        <p:nvSpPr>
          <p:cNvPr id="4" name="Date Placeholder 3">
            <a:extLst>
              <a:ext uri="{FF2B5EF4-FFF2-40B4-BE49-F238E27FC236}">
                <a16:creationId xmlns:a16="http://schemas.microsoft.com/office/drawing/2014/main" id="{3AEC021D-1E51-0250-BC6E-B1F41319048D}"/>
              </a:ext>
            </a:extLst>
          </p:cNvPr>
          <p:cNvSpPr>
            <a:spLocks noGrp="1"/>
          </p:cNvSpPr>
          <p:nvPr>
            <p:ph type="dt" sz="half" idx="10"/>
          </p:nvPr>
        </p:nvSpPr>
        <p:spPr/>
        <p:txBody>
          <a:bodyPr/>
          <a:lstStyle/>
          <a:p>
            <a:fld id="{761DFEEA-1162-B343-ACBF-B3E92F6AC390}" type="datetime1">
              <a:rPr lang="it-IT" smtClean="0"/>
              <a:t>13/09/26</a:t>
            </a:fld>
            <a:endParaRPr lang="en-GB"/>
          </a:p>
        </p:txBody>
      </p:sp>
      <p:sp>
        <p:nvSpPr>
          <p:cNvPr id="5" name="Footer Placeholder 4">
            <a:extLst>
              <a:ext uri="{FF2B5EF4-FFF2-40B4-BE49-F238E27FC236}">
                <a16:creationId xmlns:a16="http://schemas.microsoft.com/office/drawing/2014/main" id="{91FF8598-0DAD-D6FA-B9D7-81EEE2EDF2CD}"/>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39937693-6B34-85B5-2547-67AF60CB18DF}"/>
              </a:ext>
            </a:extLst>
          </p:cNvPr>
          <p:cNvSpPr>
            <a:spLocks noGrp="1"/>
          </p:cNvSpPr>
          <p:nvPr>
            <p:ph type="sldNum" sz="quarter" idx="12"/>
          </p:nvPr>
        </p:nvSpPr>
        <p:spPr/>
        <p:txBody>
          <a:bodyPr/>
          <a:lstStyle/>
          <a:p>
            <a:fld id="{62E92BA6-6E87-3343-8D2C-B7A656D628E4}" type="slidenum">
              <a:rPr lang="en-GB" smtClean="0"/>
              <a:t>2</a:t>
            </a:fld>
            <a:endParaRPr lang="en-GB"/>
          </a:p>
        </p:txBody>
      </p:sp>
      <p:sp>
        <p:nvSpPr>
          <p:cNvPr id="8" name="TextBox 7">
            <a:extLst>
              <a:ext uri="{FF2B5EF4-FFF2-40B4-BE49-F238E27FC236}">
                <a16:creationId xmlns:a16="http://schemas.microsoft.com/office/drawing/2014/main" id="{6BC6E56C-7DCC-13A8-349C-7C04D15018DE}"/>
              </a:ext>
            </a:extLst>
          </p:cNvPr>
          <p:cNvSpPr txBox="1"/>
          <p:nvPr/>
        </p:nvSpPr>
        <p:spPr>
          <a:xfrm>
            <a:off x="155735" y="1522297"/>
            <a:ext cx="2358653" cy="3293209"/>
          </a:xfrm>
          <a:prstGeom prst="rect">
            <a:avLst/>
          </a:prstGeom>
          <a:noFill/>
          <a:ln>
            <a:solidFill>
              <a:schemeClr val="tx1"/>
            </a:solidFill>
          </a:ln>
        </p:spPr>
        <p:txBody>
          <a:bodyPr wrap="square">
            <a:spAutoFit/>
          </a:bodyPr>
          <a:lstStyle/>
          <a:p>
            <a:pPr algn="ctr"/>
            <a:r>
              <a:rPr lang="en-GB" sz="1600" dirty="0">
                <a:latin typeface="Courier New" panose="02070309020205020404" pitchFamily="49" charset="0"/>
                <a:cs typeface="Courier New" panose="02070309020205020404" pitchFamily="49" charset="0"/>
              </a:rPr>
              <a:t>────────────────</a:t>
            </a:r>
          </a:p>
          <a:p>
            <a:pPr algn="ctr"/>
            <a:r>
              <a:rPr lang="en-GB" sz="1600" b="1" dirty="0">
                <a:latin typeface="Courier New" panose="02070309020205020404" pitchFamily="49" charset="0"/>
                <a:cs typeface="Courier New" panose="02070309020205020404" pitchFamily="49" charset="0"/>
              </a:rPr>
              <a:t>DAY 1</a:t>
            </a:r>
          </a:p>
          <a:p>
            <a:pPr algn="ctr"/>
            <a:r>
              <a:rPr lang="en-GB" sz="1600" dirty="0">
                <a:latin typeface="Courier New" panose="02070309020205020404" pitchFamily="49" charset="0"/>
                <a:cs typeface="Courier New" panose="02070309020205020404" pitchFamily="49" charset="0"/>
              </a:rPr>
              <a:t>────────────────</a:t>
            </a:r>
          </a:p>
          <a:p>
            <a:pPr algn="ctr"/>
            <a:endParaRPr lang="en-GB" sz="1600" dirty="0">
              <a:latin typeface="Courier New" panose="02070309020205020404" pitchFamily="49" charset="0"/>
              <a:cs typeface="Courier New" panose="02070309020205020404" pitchFamily="49" charset="0"/>
            </a:endParaRPr>
          </a:p>
          <a:p>
            <a:pPr algn="ctr"/>
            <a:r>
              <a:rPr lang="en-GB" sz="1600" dirty="0">
                <a:latin typeface="Courier New" panose="02070309020205020404" pitchFamily="49" charset="0"/>
                <a:cs typeface="Courier New" panose="02070309020205020404" pitchFamily="49" charset="0"/>
              </a:rPr>
              <a:t>Trimmed</a:t>
            </a:r>
          </a:p>
          <a:p>
            <a:pPr algn="ctr"/>
            <a:r>
              <a:rPr lang="en-GB" sz="1600" dirty="0">
                <a:latin typeface="Courier New" panose="02070309020205020404" pitchFamily="49" charset="0"/>
                <a:cs typeface="Courier New" panose="02070309020205020404" pitchFamily="49" charset="0"/>
              </a:rPr>
              <a:t>paired-end FASTQ</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reference genome</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gene annotation</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a:t>
            </a:r>
          </a:p>
        </p:txBody>
      </p:sp>
      <p:sp>
        <p:nvSpPr>
          <p:cNvPr id="10" name="TextBox 9">
            <a:extLst>
              <a:ext uri="{FF2B5EF4-FFF2-40B4-BE49-F238E27FC236}">
                <a16:creationId xmlns:a16="http://schemas.microsoft.com/office/drawing/2014/main" id="{E463BD45-E827-2008-7389-A7DA900AA727}"/>
              </a:ext>
            </a:extLst>
          </p:cNvPr>
          <p:cNvSpPr txBox="1"/>
          <p:nvPr/>
        </p:nvSpPr>
        <p:spPr>
          <a:xfrm>
            <a:off x="2709534" y="863079"/>
            <a:ext cx="2840661" cy="5016758"/>
          </a:xfrm>
          <a:prstGeom prst="rect">
            <a:avLst/>
          </a:prstGeom>
          <a:noFill/>
          <a:ln>
            <a:solidFill>
              <a:schemeClr val="tx1"/>
            </a:solidFill>
          </a:ln>
        </p:spPr>
        <p:txBody>
          <a:bodyPr wrap="square">
            <a:spAutoFit/>
          </a:bodyPr>
          <a:lstStyle/>
          <a:p>
            <a:pPr algn="ctr"/>
            <a:r>
              <a:rPr lang="en-GB" sz="1600" dirty="0">
                <a:latin typeface="Courier New" panose="02070309020205020404" pitchFamily="49" charset="0"/>
                <a:cs typeface="Courier New" panose="02070309020205020404" pitchFamily="49" charset="0"/>
              </a:rPr>
              <a:t>────────────────</a:t>
            </a:r>
          </a:p>
          <a:p>
            <a:pPr algn="ctr"/>
            <a:r>
              <a:rPr lang="en-GB" sz="1600" b="1" dirty="0">
                <a:latin typeface="Courier New" panose="02070309020205020404" pitchFamily="49" charset="0"/>
                <a:cs typeface="Courier New" panose="02070309020205020404" pitchFamily="49" charset="0"/>
              </a:rPr>
              <a:t>DAY 2</a:t>
            </a:r>
          </a:p>
          <a:p>
            <a:pPr algn="ctr"/>
            <a:r>
              <a:rPr lang="en-GB" sz="1600" dirty="0">
                <a:latin typeface="Courier New" panose="02070309020205020404" pitchFamily="49" charset="0"/>
                <a:cs typeface="Courier New" panose="02070309020205020404" pitchFamily="49" charset="0"/>
              </a:rPr>
              <a:t>────────────────</a:t>
            </a:r>
          </a:p>
          <a:p>
            <a:pPr algn="ctr"/>
            <a:endParaRPr lang="en-GB" sz="1600" dirty="0">
              <a:latin typeface="Courier New" panose="02070309020205020404" pitchFamily="49" charset="0"/>
              <a:cs typeface="Courier New" panose="02070309020205020404" pitchFamily="49" charset="0"/>
            </a:endParaRPr>
          </a:p>
          <a:p>
            <a:pPr algn="ctr"/>
            <a:r>
              <a:rPr lang="en-GB" sz="1600" dirty="0">
                <a:latin typeface="Courier New" panose="02070309020205020404" pitchFamily="49" charset="0"/>
                <a:cs typeface="Courier New" panose="02070309020205020404" pitchFamily="49" charset="0"/>
              </a:rPr>
              <a:t>reference indexing</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read alignment</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sorted / filtered BAM</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library </a:t>
            </a:r>
            <a:r>
              <a:rPr lang="en-GB" sz="1600" dirty="0" err="1">
                <a:latin typeface="Courier New" panose="02070309020205020404" pitchFamily="49" charset="0"/>
                <a:cs typeface="Courier New" panose="02070309020205020404" pitchFamily="49" charset="0"/>
              </a:rPr>
              <a:t>strandedness</a:t>
            </a:r>
            <a:endParaRPr lang="en-GB" sz="1600" dirty="0">
              <a:latin typeface="Courier New" panose="02070309020205020404" pitchFamily="49" charset="0"/>
              <a:cs typeface="Courier New" panose="02070309020205020404" pitchFamily="49" charset="0"/>
            </a:endParaRP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gene assignment</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RAW COUNT MATRIX</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DESeq2</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differential expression</a:t>
            </a:r>
            <a:endParaRPr lang="en-GB" sz="1600" dirty="0"/>
          </a:p>
        </p:txBody>
      </p:sp>
      <p:sp>
        <p:nvSpPr>
          <p:cNvPr id="12" name="TextBox 11">
            <a:extLst>
              <a:ext uri="{FF2B5EF4-FFF2-40B4-BE49-F238E27FC236}">
                <a16:creationId xmlns:a16="http://schemas.microsoft.com/office/drawing/2014/main" id="{B7AB6529-69B7-6DFA-9055-B6A94FB43448}"/>
              </a:ext>
            </a:extLst>
          </p:cNvPr>
          <p:cNvSpPr txBox="1"/>
          <p:nvPr/>
        </p:nvSpPr>
        <p:spPr>
          <a:xfrm>
            <a:off x="5550195" y="1353706"/>
            <a:ext cx="6641804" cy="3785652"/>
          </a:xfrm>
          <a:prstGeom prst="rect">
            <a:avLst/>
          </a:prstGeom>
          <a:noFill/>
        </p:spPr>
        <p:txBody>
          <a:bodyPr wrap="square">
            <a:spAutoFit/>
          </a:bodyPr>
          <a:lstStyle/>
          <a:p>
            <a:pPr algn="ctr"/>
            <a:r>
              <a:rPr lang="en-IT" sz="2400" dirty="0">
                <a:solidFill>
                  <a:schemeClr val="accent1">
                    <a:lumMod val="75000"/>
                  </a:schemeClr>
                </a:solidFill>
              </a:rPr>
              <a:t>Today we will connect three distinct levels:</a:t>
            </a:r>
          </a:p>
          <a:p>
            <a:pPr algn="ctr"/>
            <a:endParaRPr lang="en-IT" sz="2400" dirty="0"/>
          </a:p>
          <a:p>
            <a:pPr algn="ctr"/>
            <a:r>
              <a:rPr lang="en-IT" sz="2400" dirty="0"/>
              <a:t>Sequence level	</a:t>
            </a:r>
            <a:r>
              <a:rPr lang="en-GB" sz="2400" i="1" dirty="0">
                <a:solidFill>
                  <a:schemeClr val="bg1">
                    <a:lumMod val="50000"/>
                  </a:schemeClr>
                </a:solidFill>
              </a:rPr>
              <a:t>→ </a:t>
            </a:r>
            <a:r>
              <a:rPr lang="en-IT" sz="2400" dirty="0"/>
              <a:t>Where does each read pair map?</a:t>
            </a:r>
          </a:p>
          <a:p>
            <a:pPr algn="ctr"/>
            <a:endParaRPr lang="en-IT" sz="2400" dirty="0"/>
          </a:p>
          <a:p>
            <a:pPr algn="ctr"/>
            <a:r>
              <a:rPr lang="en-IT" sz="2400" dirty="0"/>
              <a:t>Feature level	</a:t>
            </a:r>
            <a:r>
              <a:rPr lang="en-GB" sz="2400" i="1" dirty="0">
                <a:solidFill>
                  <a:schemeClr val="bg1">
                    <a:lumMod val="50000"/>
                  </a:schemeClr>
                </a:solidFill>
              </a:rPr>
              <a:t>→ </a:t>
            </a:r>
            <a:r>
              <a:rPr lang="en-IT" sz="2400" dirty="0"/>
              <a:t>Which annotated gene generated each fragment?</a:t>
            </a:r>
          </a:p>
          <a:p>
            <a:pPr algn="ctr"/>
            <a:endParaRPr lang="en-IT" sz="2400" dirty="0"/>
          </a:p>
          <a:p>
            <a:pPr algn="ctr"/>
            <a:r>
              <a:rPr lang="en-IT" sz="2400" dirty="0"/>
              <a:t>Statistical level	</a:t>
            </a:r>
            <a:r>
              <a:rPr lang="en-GB" sz="2400" i="1" dirty="0">
                <a:solidFill>
                  <a:schemeClr val="bg1">
                    <a:lumMod val="50000"/>
                  </a:schemeClr>
                </a:solidFill>
              </a:rPr>
              <a:t> → </a:t>
            </a:r>
            <a:r>
              <a:rPr lang="en-IT" sz="2400" dirty="0"/>
              <a:t>Is the observed difference between conditions larger than expected from biological variability?</a:t>
            </a:r>
          </a:p>
        </p:txBody>
      </p:sp>
    </p:spTree>
    <p:extLst>
      <p:ext uri="{BB962C8B-B14F-4D97-AF65-F5344CB8AC3E}">
        <p14:creationId xmlns:p14="http://schemas.microsoft.com/office/powerpoint/2010/main" val="12994381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55F150-A7E2-A54C-B66D-BA71FAD06C7C}"/>
              </a:ext>
            </a:extLst>
          </p:cNvPr>
          <p:cNvSpPr>
            <a:spLocks noGrp="1"/>
          </p:cNvSpPr>
          <p:nvPr>
            <p:ph type="title"/>
          </p:nvPr>
        </p:nvSpPr>
        <p:spPr/>
        <p:txBody>
          <a:bodyPr>
            <a:normAutofit fontScale="90000"/>
          </a:bodyPr>
          <a:lstStyle/>
          <a:p>
            <a:r>
              <a:rPr lang="en-IT" dirty="0"/>
              <a:t>Day 2 starts exactly where Day 1 finished</a:t>
            </a:r>
            <a:endParaRPr lang="en-GB" dirty="0"/>
          </a:p>
        </p:txBody>
      </p:sp>
      <p:sp>
        <p:nvSpPr>
          <p:cNvPr id="4" name="Date Placeholder 3">
            <a:extLst>
              <a:ext uri="{FF2B5EF4-FFF2-40B4-BE49-F238E27FC236}">
                <a16:creationId xmlns:a16="http://schemas.microsoft.com/office/drawing/2014/main" id="{A5C58776-5988-1CAE-B585-46BC939CB069}"/>
              </a:ext>
            </a:extLst>
          </p:cNvPr>
          <p:cNvSpPr>
            <a:spLocks noGrp="1"/>
          </p:cNvSpPr>
          <p:nvPr>
            <p:ph type="dt" sz="half" idx="10"/>
          </p:nvPr>
        </p:nvSpPr>
        <p:spPr/>
        <p:txBody>
          <a:bodyPr/>
          <a:lstStyle/>
          <a:p>
            <a:fld id="{761DFEEA-1162-B343-ACBF-B3E92F6AC390}" type="datetime1">
              <a:rPr lang="it-IT" smtClean="0"/>
              <a:t>13/09/26</a:t>
            </a:fld>
            <a:endParaRPr lang="en-GB"/>
          </a:p>
        </p:txBody>
      </p:sp>
      <p:sp>
        <p:nvSpPr>
          <p:cNvPr id="5" name="Footer Placeholder 4">
            <a:extLst>
              <a:ext uri="{FF2B5EF4-FFF2-40B4-BE49-F238E27FC236}">
                <a16:creationId xmlns:a16="http://schemas.microsoft.com/office/drawing/2014/main" id="{068755A3-D791-6A4E-A92C-1CF514BBB479}"/>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F2FD714D-DEE1-5087-98EC-7F9BC79BA537}"/>
              </a:ext>
            </a:extLst>
          </p:cNvPr>
          <p:cNvSpPr>
            <a:spLocks noGrp="1"/>
          </p:cNvSpPr>
          <p:nvPr>
            <p:ph type="sldNum" sz="quarter" idx="12"/>
          </p:nvPr>
        </p:nvSpPr>
        <p:spPr/>
        <p:txBody>
          <a:bodyPr/>
          <a:lstStyle/>
          <a:p>
            <a:fld id="{62E92BA6-6E87-3343-8D2C-B7A656D628E4}" type="slidenum">
              <a:rPr lang="en-GB" smtClean="0"/>
              <a:t>3</a:t>
            </a:fld>
            <a:endParaRPr lang="en-GB"/>
          </a:p>
        </p:txBody>
      </p:sp>
      <p:sp>
        <p:nvSpPr>
          <p:cNvPr id="7" name="TextBox 6">
            <a:extLst>
              <a:ext uri="{FF2B5EF4-FFF2-40B4-BE49-F238E27FC236}">
                <a16:creationId xmlns:a16="http://schemas.microsoft.com/office/drawing/2014/main" id="{ABA24A80-97E5-C8D5-4E7D-BC326B99E313}"/>
              </a:ext>
            </a:extLst>
          </p:cNvPr>
          <p:cNvSpPr txBox="1"/>
          <p:nvPr/>
        </p:nvSpPr>
        <p:spPr>
          <a:xfrm>
            <a:off x="42582" y="868045"/>
            <a:ext cx="11990922" cy="1077218"/>
          </a:xfrm>
          <a:prstGeom prst="rect">
            <a:avLst/>
          </a:prstGeom>
          <a:noFill/>
        </p:spPr>
        <p:txBody>
          <a:bodyPr wrap="square">
            <a:spAutoFit/>
          </a:bodyPr>
          <a:lstStyle/>
          <a:p>
            <a:pPr marL="0" indent="0">
              <a:buNone/>
            </a:pPr>
            <a:r>
              <a:rPr lang="en-GB" sz="1600" b="1" dirty="0">
                <a:solidFill>
                  <a:schemeClr val="accent1">
                    <a:lumMod val="75000"/>
                  </a:schemeClr>
                </a:solidFill>
                <a:latin typeface="+mj-lt"/>
                <a:cs typeface="Courier New" panose="02070309020205020404" pitchFamily="49" charset="0"/>
              </a:rPr>
              <a:t>Open </a:t>
            </a:r>
            <a:r>
              <a:rPr lang="en-GB" sz="1600" b="1" dirty="0" err="1">
                <a:solidFill>
                  <a:schemeClr val="accent1">
                    <a:lumMod val="75000"/>
                  </a:schemeClr>
                </a:solidFill>
                <a:latin typeface="+mj-lt"/>
                <a:cs typeface="Courier New" panose="02070309020205020404" pitchFamily="49" charset="0"/>
              </a:rPr>
              <a:t>VSCode</a:t>
            </a:r>
            <a:r>
              <a:rPr lang="en-GB" sz="1600" b="1" dirty="0">
                <a:solidFill>
                  <a:schemeClr val="accent1">
                    <a:lumMod val="75000"/>
                  </a:schemeClr>
                </a:solidFill>
                <a:latin typeface="+mj-lt"/>
                <a:cs typeface="Courier New" panose="02070309020205020404" pitchFamily="49" charset="0"/>
              </a:rPr>
              <a:t> …</a:t>
            </a:r>
          </a:p>
          <a:p>
            <a:pPr marL="171450" indent="-171450">
              <a:buFont typeface="Wingdings" pitchFamily="2" charset="2"/>
              <a:buChar char="Ø"/>
            </a:pPr>
            <a:r>
              <a:rPr lang="en-GB" sz="1600" dirty="0">
                <a:latin typeface="+mj-lt"/>
                <a:cs typeface="Courier New" panose="02070309020205020404" pitchFamily="49" charset="0"/>
              </a:rPr>
              <a:t>Windows users should open Visual Studio Code connected to Ubuntu WSL, open a WSL terminal, and run the commands there.</a:t>
            </a:r>
          </a:p>
          <a:p>
            <a:pPr marL="171450" indent="-171450">
              <a:buFont typeface="Wingdings" pitchFamily="2" charset="2"/>
              <a:buChar char="Ø"/>
            </a:pPr>
            <a:r>
              <a:rPr lang="en-GB" sz="1600" dirty="0">
                <a:latin typeface="+mj-lt"/>
                <a:cs typeface="Courier New" panose="02070309020205020404" pitchFamily="49" charset="0"/>
              </a:rPr>
              <a:t>macOS and Linux users should open the </a:t>
            </a:r>
            <a:r>
              <a:rPr lang="en-GB" sz="1600" dirty="0" err="1">
                <a:latin typeface="+mj-lt"/>
                <a:cs typeface="Courier New" panose="02070309020205020404" pitchFamily="49" charset="0"/>
              </a:rPr>
              <a:t>workshop_ngs</a:t>
            </a:r>
            <a:r>
              <a:rPr lang="en-GB" sz="1600" dirty="0">
                <a:latin typeface="+mj-lt"/>
                <a:cs typeface="Courier New" panose="02070309020205020404" pitchFamily="49" charset="0"/>
              </a:rPr>
              <a:t> folder in Visual Studio Code and use the VS Code terminal.</a:t>
            </a:r>
          </a:p>
          <a:p>
            <a:pPr marL="0" indent="0">
              <a:buNone/>
            </a:pPr>
            <a:r>
              <a:rPr lang="en-GB" sz="1600" dirty="0">
                <a:latin typeface="+mj-lt"/>
                <a:cs typeface="Courier New" panose="02070309020205020404" pitchFamily="49" charset="0"/>
              </a:rPr>
              <a:t>Before running workshop commands, move to the repository root:</a:t>
            </a:r>
          </a:p>
        </p:txBody>
      </p:sp>
      <p:sp>
        <p:nvSpPr>
          <p:cNvPr id="9" name="TextBox 8">
            <a:extLst>
              <a:ext uri="{FF2B5EF4-FFF2-40B4-BE49-F238E27FC236}">
                <a16:creationId xmlns:a16="http://schemas.microsoft.com/office/drawing/2014/main" id="{92E25DDB-90AF-F3DD-4FDA-89539C43A94B}"/>
              </a:ext>
            </a:extLst>
          </p:cNvPr>
          <p:cNvSpPr txBox="1"/>
          <p:nvPr/>
        </p:nvSpPr>
        <p:spPr>
          <a:xfrm>
            <a:off x="134470" y="2067310"/>
            <a:ext cx="6205728" cy="646331"/>
          </a:xfrm>
          <a:prstGeom prst="rect">
            <a:avLst/>
          </a:prstGeom>
          <a:noFill/>
          <a:ln>
            <a:solidFill>
              <a:schemeClr val="tx1"/>
            </a:solidFill>
          </a:ln>
        </p:spPr>
        <p:txBody>
          <a:bodyPr wrap="square">
            <a:spAutoFit/>
          </a:bodyPr>
          <a:lstStyle/>
          <a:p>
            <a:r>
              <a:rPr lang="en-GB" dirty="0"/>
              <a:t>cd ~/</a:t>
            </a:r>
            <a:r>
              <a:rPr lang="en-GB" dirty="0" err="1"/>
              <a:t>workshop_ngs</a:t>
            </a:r>
            <a:endParaRPr lang="en-GB" dirty="0"/>
          </a:p>
          <a:p>
            <a:r>
              <a:rPr lang="en-GB" dirty="0" err="1"/>
              <a:t>pwd</a:t>
            </a:r>
            <a:endParaRPr lang="en-GB" dirty="0"/>
          </a:p>
        </p:txBody>
      </p:sp>
      <p:sp>
        <p:nvSpPr>
          <p:cNvPr id="11" name="TextBox 10">
            <a:extLst>
              <a:ext uri="{FF2B5EF4-FFF2-40B4-BE49-F238E27FC236}">
                <a16:creationId xmlns:a16="http://schemas.microsoft.com/office/drawing/2014/main" id="{5F90E291-9228-C8DD-8372-5ACD2469D861}"/>
              </a:ext>
            </a:extLst>
          </p:cNvPr>
          <p:cNvSpPr txBox="1"/>
          <p:nvPr/>
        </p:nvSpPr>
        <p:spPr>
          <a:xfrm>
            <a:off x="134470" y="3236334"/>
            <a:ext cx="6205728" cy="369332"/>
          </a:xfrm>
          <a:prstGeom prst="rect">
            <a:avLst/>
          </a:prstGeom>
          <a:noFill/>
          <a:ln>
            <a:solidFill>
              <a:schemeClr val="tx1"/>
            </a:solidFill>
          </a:ln>
        </p:spPr>
        <p:txBody>
          <a:bodyPr wrap="square">
            <a:spAutoFit/>
          </a:bodyPr>
          <a:lstStyle/>
          <a:p>
            <a:r>
              <a:rPr lang="en-GB" dirty="0"/>
              <a:t>ls -</a:t>
            </a:r>
            <a:r>
              <a:rPr lang="en-GB" dirty="0" err="1"/>
              <a:t>lh</a:t>
            </a:r>
            <a:r>
              <a:rPr lang="en-GB" dirty="0"/>
              <a:t> results/day1_qc/</a:t>
            </a:r>
            <a:r>
              <a:rPr lang="en-GB" dirty="0" err="1"/>
              <a:t>trimmed_fastq</a:t>
            </a:r>
            <a:r>
              <a:rPr lang="en-GB" dirty="0"/>
              <a:t>/</a:t>
            </a:r>
            <a:r>
              <a:rPr lang="en-GB" dirty="0" err="1"/>
              <a:t>rnaseq</a:t>
            </a:r>
            <a:r>
              <a:rPr lang="en-GB" dirty="0"/>
              <a:t>/*.</a:t>
            </a:r>
            <a:r>
              <a:rPr lang="en-GB" dirty="0" err="1"/>
              <a:t>trimmed.fastq.gz</a:t>
            </a:r>
            <a:endParaRPr lang="en-GB" dirty="0"/>
          </a:p>
        </p:txBody>
      </p:sp>
      <p:sp>
        <p:nvSpPr>
          <p:cNvPr id="13" name="TextBox 12">
            <a:extLst>
              <a:ext uri="{FF2B5EF4-FFF2-40B4-BE49-F238E27FC236}">
                <a16:creationId xmlns:a16="http://schemas.microsoft.com/office/drawing/2014/main" id="{AAC0539C-6172-60C2-BBBF-69385027C694}"/>
              </a:ext>
            </a:extLst>
          </p:cNvPr>
          <p:cNvSpPr txBox="1"/>
          <p:nvPr/>
        </p:nvSpPr>
        <p:spPr>
          <a:xfrm>
            <a:off x="134470" y="4235629"/>
            <a:ext cx="6205728" cy="1754326"/>
          </a:xfrm>
          <a:prstGeom prst="rect">
            <a:avLst/>
          </a:prstGeom>
          <a:noFill/>
          <a:ln>
            <a:solidFill>
              <a:schemeClr val="tx1"/>
            </a:solidFill>
          </a:ln>
        </p:spPr>
        <p:txBody>
          <a:bodyPr wrap="square">
            <a:spAutoFit/>
          </a:bodyPr>
          <a:lstStyle/>
          <a:p>
            <a:r>
              <a:rPr lang="en-GB" dirty="0"/>
              <a:t>ls -</a:t>
            </a:r>
            <a:r>
              <a:rPr lang="en-GB" dirty="0" err="1"/>
              <a:t>lh</a:t>
            </a:r>
            <a:r>
              <a:rPr lang="en-GB" dirty="0"/>
              <a:t> </a:t>
            </a:r>
            <a:r>
              <a:rPr lang="en-GB" dirty="0" err="1"/>
              <a:t>reference_genome</a:t>
            </a:r>
            <a:r>
              <a:rPr lang="en-GB" dirty="0"/>
              <a:t>/</a:t>
            </a:r>
            <a:r>
              <a:rPr lang="en-GB" dirty="0" err="1"/>
              <a:t>genome.fa</a:t>
            </a:r>
            <a:endParaRPr lang="en-GB" dirty="0"/>
          </a:p>
          <a:p>
            <a:r>
              <a:rPr lang="en-GB" dirty="0"/>
              <a:t>ls -</a:t>
            </a:r>
            <a:r>
              <a:rPr lang="en-GB" dirty="0" err="1"/>
              <a:t>lh</a:t>
            </a:r>
            <a:r>
              <a:rPr lang="en-GB" dirty="0"/>
              <a:t> </a:t>
            </a:r>
            <a:r>
              <a:rPr lang="en-GB" dirty="0" err="1"/>
              <a:t>reference_genome</a:t>
            </a:r>
            <a:r>
              <a:rPr lang="en-GB" dirty="0"/>
              <a:t>/annotation.gff3</a:t>
            </a:r>
          </a:p>
          <a:p>
            <a:r>
              <a:rPr lang="en-GB" dirty="0"/>
              <a:t>ls -</a:t>
            </a:r>
            <a:r>
              <a:rPr lang="en-GB" dirty="0" err="1"/>
              <a:t>lh</a:t>
            </a:r>
            <a:r>
              <a:rPr lang="en-GB" dirty="0"/>
              <a:t> </a:t>
            </a:r>
            <a:r>
              <a:rPr lang="en-GB" dirty="0" err="1"/>
              <a:t>reference_genome</a:t>
            </a:r>
            <a:r>
              <a:rPr lang="en-GB" dirty="0"/>
              <a:t>/</a:t>
            </a:r>
            <a:r>
              <a:rPr lang="en-GB" dirty="0" err="1"/>
              <a:t>genes.bed</a:t>
            </a:r>
            <a:endParaRPr lang="en-GB" dirty="0"/>
          </a:p>
          <a:p>
            <a:r>
              <a:rPr lang="en-GB" dirty="0"/>
              <a:t>grep '^&gt;' </a:t>
            </a:r>
            <a:r>
              <a:rPr lang="en-GB" dirty="0" err="1"/>
              <a:t>reference_genome</a:t>
            </a:r>
            <a:r>
              <a:rPr lang="en-GB" dirty="0"/>
              <a:t>/</a:t>
            </a:r>
            <a:r>
              <a:rPr lang="en-GB" dirty="0" err="1"/>
              <a:t>genome.fa</a:t>
            </a:r>
            <a:r>
              <a:rPr lang="en-GB" dirty="0"/>
              <a:t> | grep 'NZ_AP026446.1'</a:t>
            </a:r>
          </a:p>
          <a:p>
            <a:r>
              <a:rPr lang="en-GB" dirty="0"/>
              <a:t>grep -v '^#' </a:t>
            </a:r>
            <a:r>
              <a:rPr lang="en-GB" dirty="0" err="1"/>
              <a:t>reference_genome</a:t>
            </a:r>
            <a:r>
              <a:rPr lang="en-GB" dirty="0"/>
              <a:t>/annotation.gff3 | head -1</a:t>
            </a:r>
          </a:p>
          <a:p>
            <a:r>
              <a:rPr lang="en-GB" dirty="0"/>
              <a:t>head -1 </a:t>
            </a:r>
            <a:r>
              <a:rPr lang="en-GB" dirty="0" err="1"/>
              <a:t>reference_genome</a:t>
            </a:r>
            <a:r>
              <a:rPr lang="en-GB" dirty="0"/>
              <a:t>/</a:t>
            </a:r>
            <a:r>
              <a:rPr lang="en-GB" dirty="0" err="1"/>
              <a:t>genes.bed</a:t>
            </a:r>
            <a:endParaRPr lang="en-GB" dirty="0"/>
          </a:p>
        </p:txBody>
      </p:sp>
      <p:sp>
        <p:nvSpPr>
          <p:cNvPr id="15" name="TextBox 14">
            <a:extLst>
              <a:ext uri="{FF2B5EF4-FFF2-40B4-BE49-F238E27FC236}">
                <a16:creationId xmlns:a16="http://schemas.microsoft.com/office/drawing/2014/main" id="{F88F22B0-E0E2-B4FD-CB1B-5CA078F4E80E}"/>
              </a:ext>
            </a:extLst>
          </p:cNvPr>
          <p:cNvSpPr txBox="1"/>
          <p:nvPr/>
        </p:nvSpPr>
        <p:spPr>
          <a:xfrm>
            <a:off x="356974" y="2761417"/>
            <a:ext cx="5760720" cy="369332"/>
          </a:xfrm>
          <a:prstGeom prst="rect">
            <a:avLst/>
          </a:prstGeom>
          <a:noFill/>
        </p:spPr>
        <p:txBody>
          <a:bodyPr wrap="square">
            <a:spAutoFit/>
          </a:bodyPr>
          <a:lstStyle/>
          <a:p>
            <a:r>
              <a:rPr lang="en-IT" dirty="0"/>
              <a:t>Check that the RNA-seq trimmed FASTQ files are present:</a:t>
            </a:r>
            <a:endParaRPr lang="en-GB" dirty="0"/>
          </a:p>
        </p:txBody>
      </p:sp>
      <p:sp>
        <p:nvSpPr>
          <p:cNvPr id="16" name="TextBox 15">
            <a:extLst>
              <a:ext uri="{FF2B5EF4-FFF2-40B4-BE49-F238E27FC236}">
                <a16:creationId xmlns:a16="http://schemas.microsoft.com/office/drawing/2014/main" id="{18465032-2399-F2FF-0B5A-8A0B7DDCD82E}"/>
              </a:ext>
            </a:extLst>
          </p:cNvPr>
          <p:cNvSpPr txBox="1"/>
          <p:nvPr/>
        </p:nvSpPr>
        <p:spPr>
          <a:xfrm>
            <a:off x="134470" y="3733495"/>
            <a:ext cx="6205728" cy="369332"/>
          </a:xfrm>
          <a:prstGeom prst="rect">
            <a:avLst/>
          </a:prstGeom>
          <a:noFill/>
        </p:spPr>
        <p:txBody>
          <a:bodyPr wrap="square">
            <a:spAutoFit/>
          </a:bodyPr>
          <a:lstStyle/>
          <a:p>
            <a:r>
              <a:rPr lang="en-IT" dirty="0"/>
              <a:t>Check that the reference genome and annotation are present:</a:t>
            </a:r>
            <a:endParaRPr lang="en-GB" dirty="0"/>
          </a:p>
        </p:txBody>
      </p:sp>
      <p:sp>
        <p:nvSpPr>
          <p:cNvPr id="18" name="TextBox 17">
            <a:extLst>
              <a:ext uri="{FF2B5EF4-FFF2-40B4-BE49-F238E27FC236}">
                <a16:creationId xmlns:a16="http://schemas.microsoft.com/office/drawing/2014/main" id="{B7A616AA-354C-DD02-E424-9AD981BD9704}"/>
              </a:ext>
            </a:extLst>
          </p:cNvPr>
          <p:cNvSpPr txBox="1"/>
          <p:nvPr/>
        </p:nvSpPr>
        <p:spPr>
          <a:xfrm>
            <a:off x="7592568" y="3298670"/>
            <a:ext cx="3761232" cy="1754326"/>
          </a:xfrm>
          <a:prstGeom prst="rect">
            <a:avLst/>
          </a:prstGeom>
          <a:noFill/>
          <a:ln>
            <a:solidFill>
              <a:schemeClr val="tx1"/>
            </a:solidFill>
          </a:ln>
        </p:spPr>
        <p:txBody>
          <a:bodyPr wrap="square">
            <a:spAutoFit/>
          </a:bodyPr>
          <a:lstStyle/>
          <a:p>
            <a:r>
              <a:rPr lang="en-GB" dirty="0" err="1"/>
              <a:t>mkdir</a:t>
            </a:r>
            <a:r>
              <a:rPr lang="en-GB" dirty="0"/>
              <a:t> -p scripts/day2_rnaseq</a:t>
            </a:r>
          </a:p>
          <a:p>
            <a:r>
              <a:rPr lang="en-GB" dirty="0" err="1"/>
              <a:t>mkdir</a:t>
            </a:r>
            <a:r>
              <a:rPr lang="en-GB" dirty="0"/>
              <a:t> -p results/day2_rnaseq/bam</a:t>
            </a:r>
          </a:p>
          <a:p>
            <a:r>
              <a:rPr lang="en-GB" dirty="0" err="1"/>
              <a:t>mkdir</a:t>
            </a:r>
            <a:r>
              <a:rPr lang="en-GB" dirty="0"/>
              <a:t> -p results/day2_rnaseq/counts</a:t>
            </a:r>
          </a:p>
          <a:p>
            <a:r>
              <a:rPr lang="en-GB" dirty="0" err="1"/>
              <a:t>mkdir</a:t>
            </a:r>
            <a:r>
              <a:rPr lang="en-GB" dirty="0"/>
              <a:t> -p results/day2_rnaseq/bigwig</a:t>
            </a:r>
          </a:p>
          <a:p>
            <a:r>
              <a:rPr lang="en-GB" dirty="0" err="1"/>
              <a:t>mkdir</a:t>
            </a:r>
            <a:r>
              <a:rPr lang="en-GB" dirty="0"/>
              <a:t> -p results/day2_rnaseq/deseq2</a:t>
            </a:r>
          </a:p>
          <a:p>
            <a:r>
              <a:rPr lang="en-GB" dirty="0" err="1"/>
              <a:t>mkdir</a:t>
            </a:r>
            <a:r>
              <a:rPr lang="en-GB" dirty="0"/>
              <a:t> -p results/logs/day2</a:t>
            </a:r>
          </a:p>
        </p:txBody>
      </p:sp>
      <p:sp>
        <p:nvSpPr>
          <p:cNvPr id="20" name="TextBox 19">
            <a:extLst>
              <a:ext uri="{FF2B5EF4-FFF2-40B4-BE49-F238E27FC236}">
                <a16:creationId xmlns:a16="http://schemas.microsoft.com/office/drawing/2014/main" id="{C2C16D08-ABB3-E40D-9249-51D696E1002B}"/>
              </a:ext>
            </a:extLst>
          </p:cNvPr>
          <p:cNvSpPr txBox="1"/>
          <p:nvPr/>
        </p:nvSpPr>
        <p:spPr>
          <a:xfrm>
            <a:off x="7866888" y="2762970"/>
            <a:ext cx="3212592" cy="367779"/>
          </a:xfrm>
          <a:prstGeom prst="rect">
            <a:avLst/>
          </a:prstGeom>
          <a:noFill/>
        </p:spPr>
        <p:txBody>
          <a:bodyPr wrap="square">
            <a:spAutoFit/>
          </a:bodyPr>
          <a:lstStyle/>
          <a:p>
            <a:r>
              <a:rPr lang="en-IT" sz="1800" b="0" i="0" dirty="0">
                <a:solidFill>
                  <a:schemeClr val="tx1"/>
                </a:solidFill>
                <a:effectLst/>
                <a:latin typeface="+mn-lt"/>
              </a:rPr>
              <a:t>Prepare the Day 2 folders:</a:t>
            </a:r>
            <a:endParaRPr lang="en-GB" dirty="0"/>
          </a:p>
        </p:txBody>
      </p:sp>
    </p:spTree>
    <p:extLst>
      <p:ext uri="{BB962C8B-B14F-4D97-AF65-F5344CB8AC3E}">
        <p14:creationId xmlns:p14="http://schemas.microsoft.com/office/powerpoint/2010/main" val="1688951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4A23C1A7-6405-AE88-BDF7-00A8FF1BD4C1}"/>
              </a:ext>
            </a:extLst>
          </p:cNvPr>
          <p:cNvSpPr>
            <a:spLocks noGrp="1"/>
          </p:cNvSpPr>
          <p:nvPr>
            <p:ph type="dt" sz="half" idx="10"/>
          </p:nvPr>
        </p:nvSpPr>
        <p:spPr/>
        <p:txBody>
          <a:bodyPr/>
          <a:lstStyle/>
          <a:p>
            <a:fld id="{761DFEEA-1162-B343-ACBF-B3E92F6AC390}" type="datetime1">
              <a:rPr lang="it-IT" smtClean="0"/>
              <a:t>13/09/26</a:t>
            </a:fld>
            <a:endParaRPr lang="en-GB"/>
          </a:p>
        </p:txBody>
      </p:sp>
      <p:sp>
        <p:nvSpPr>
          <p:cNvPr id="5" name="Footer Placeholder 4">
            <a:extLst>
              <a:ext uri="{FF2B5EF4-FFF2-40B4-BE49-F238E27FC236}">
                <a16:creationId xmlns:a16="http://schemas.microsoft.com/office/drawing/2014/main" id="{4947BAA4-4A91-615F-F706-EB427F2A70BE}"/>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0A82D104-32AC-2AEB-CEF7-3E66B027EC03}"/>
              </a:ext>
            </a:extLst>
          </p:cNvPr>
          <p:cNvSpPr>
            <a:spLocks noGrp="1"/>
          </p:cNvSpPr>
          <p:nvPr>
            <p:ph type="sldNum" sz="quarter" idx="12"/>
          </p:nvPr>
        </p:nvSpPr>
        <p:spPr/>
        <p:txBody>
          <a:bodyPr/>
          <a:lstStyle/>
          <a:p>
            <a:fld id="{62E92BA6-6E87-3343-8D2C-B7A656D628E4}" type="slidenum">
              <a:rPr lang="en-GB" smtClean="0"/>
              <a:t>4</a:t>
            </a:fld>
            <a:endParaRPr lang="en-GB"/>
          </a:p>
        </p:txBody>
      </p:sp>
    </p:spTree>
    <p:extLst>
      <p:ext uri="{BB962C8B-B14F-4D97-AF65-F5344CB8AC3E}">
        <p14:creationId xmlns:p14="http://schemas.microsoft.com/office/powerpoint/2010/main" val="8318202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499049-D746-AB96-3824-E6700F1A3829}"/>
              </a:ext>
            </a:extLst>
          </p:cNvPr>
          <p:cNvSpPr>
            <a:spLocks noGrp="1"/>
          </p:cNvSpPr>
          <p:nvPr>
            <p:ph type="title"/>
          </p:nvPr>
        </p:nvSpPr>
        <p:spPr>
          <a:xfrm>
            <a:off x="134470" y="122282"/>
            <a:ext cx="9680090" cy="833766"/>
          </a:xfrm>
        </p:spPr>
        <p:txBody>
          <a:bodyPr>
            <a:noAutofit/>
          </a:bodyPr>
          <a:lstStyle/>
          <a:p>
            <a:r>
              <a:rPr lang="en-IT" sz="3600" b="1" dirty="0"/>
              <a:t>Reference-based RNA-seq FASTQ mapping</a:t>
            </a:r>
            <a:br>
              <a:rPr lang="en-IT" sz="3600" b="1" dirty="0"/>
            </a:br>
            <a:endParaRPr lang="en-GB" sz="3600" dirty="0"/>
          </a:p>
        </p:txBody>
      </p:sp>
      <p:sp>
        <p:nvSpPr>
          <p:cNvPr id="3" name="Content Placeholder 2">
            <a:extLst>
              <a:ext uri="{FF2B5EF4-FFF2-40B4-BE49-F238E27FC236}">
                <a16:creationId xmlns:a16="http://schemas.microsoft.com/office/drawing/2014/main" id="{9FDD377E-BB52-1E2B-AF10-A594EB137130}"/>
              </a:ext>
            </a:extLst>
          </p:cNvPr>
          <p:cNvSpPr>
            <a:spLocks noGrp="1"/>
          </p:cNvSpPr>
          <p:nvPr>
            <p:ph idx="1"/>
          </p:nvPr>
        </p:nvSpPr>
        <p:spPr>
          <a:xfrm>
            <a:off x="398929" y="956049"/>
            <a:ext cx="11192435" cy="1397008"/>
          </a:xfrm>
        </p:spPr>
        <p:txBody>
          <a:bodyPr/>
          <a:lstStyle/>
          <a:p>
            <a:pPr marL="0" indent="0">
              <a:buNone/>
            </a:pPr>
            <a:r>
              <a:rPr lang="en-IT" dirty="0"/>
              <a:t>RNA-seq mapping asks where each sequenced read, or read pair, fits on a reference sequence. The input is FASTQ. The output is an alignment file that records the genomic position and alignment details for each read.</a:t>
            </a:r>
            <a:endParaRPr lang="en-GB" dirty="0"/>
          </a:p>
        </p:txBody>
      </p:sp>
      <p:sp>
        <p:nvSpPr>
          <p:cNvPr id="4" name="Date Placeholder 3">
            <a:extLst>
              <a:ext uri="{FF2B5EF4-FFF2-40B4-BE49-F238E27FC236}">
                <a16:creationId xmlns:a16="http://schemas.microsoft.com/office/drawing/2014/main" id="{BEF1D5EE-BD85-C27D-1465-717F414E58D4}"/>
              </a:ext>
            </a:extLst>
          </p:cNvPr>
          <p:cNvSpPr>
            <a:spLocks noGrp="1"/>
          </p:cNvSpPr>
          <p:nvPr>
            <p:ph type="dt" sz="half" idx="10"/>
          </p:nvPr>
        </p:nvSpPr>
        <p:spPr/>
        <p:txBody>
          <a:bodyPr/>
          <a:lstStyle/>
          <a:p>
            <a:fld id="{761DFEEA-1162-B343-ACBF-B3E92F6AC390}" type="datetime1">
              <a:rPr lang="it-IT" smtClean="0"/>
              <a:t>13/09/26</a:t>
            </a:fld>
            <a:endParaRPr lang="en-GB"/>
          </a:p>
        </p:txBody>
      </p:sp>
      <p:sp>
        <p:nvSpPr>
          <p:cNvPr id="5" name="Footer Placeholder 4">
            <a:extLst>
              <a:ext uri="{FF2B5EF4-FFF2-40B4-BE49-F238E27FC236}">
                <a16:creationId xmlns:a16="http://schemas.microsoft.com/office/drawing/2014/main" id="{0F0CFEC4-4F66-4DE6-E019-DEA31D1717CF}"/>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66418AA7-4439-07E9-CE33-5612835A742E}"/>
              </a:ext>
            </a:extLst>
          </p:cNvPr>
          <p:cNvSpPr>
            <a:spLocks noGrp="1"/>
          </p:cNvSpPr>
          <p:nvPr>
            <p:ph type="sldNum" sz="quarter" idx="12"/>
          </p:nvPr>
        </p:nvSpPr>
        <p:spPr/>
        <p:txBody>
          <a:bodyPr/>
          <a:lstStyle/>
          <a:p>
            <a:fld id="{62E92BA6-6E87-3343-8D2C-B7A656D628E4}" type="slidenum">
              <a:rPr lang="en-GB" smtClean="0"/>
              <a:t>5</a:t>
            </a:fld>
            <a:endParaRPr lang="en-GB"/>
          </a:p>
        </p:txBody>
      </p:sp>
      <p:sp>
        <p:nvSpPr>
          <p:cNvPr id="7" name="TextBox 6">
            <a:extLst>
              <a:ext uri="{FF2B5EF4-FFF2-40B4-BE49-F238E27FC236}">
                <a16:creationId xmlns:a16="http://schemas.microsoft.com/office/drawing/2014/main" id="{5FCE998C-9F1C-762B-FBA9-B6D853482C52}"/>
              </a:ext>
            </a:extLst>
          </p:cNvPr>
          <p:cNvSpPr txBox="1"/>
          <p:nvPr/>
        </p:nvSpPr>
        <p:spPr>
          <a:xfrm>
            <a:off x="398929" y="2353057"/>
            <a:ext cx="5322996" cy="1569660"/>
          </a:xfrm>
          <a:prstGeom prst="rect">
            <a:avLst/>
          </a:prstGeom>
          <a:noFill/>
        </p:spPr>
        <p:txBody>
          <a:bodyPr wrap="none" rtlCol="0">
            <a:spAutoFit/>
          </a:bodyPr>
          <a:lstStyle/>
          <a:p>
            <a:r>
              <a:rPr lang="en-GB" sz="2400" dirty="0">
                <a:solidFill>
                  <a:schemeClr val="accent1">
                    <a:lumMod val="75000"/>
                  </a:schemeClr>
                </a:solidFill>
              </a:rPr>
              <a:t>Ingredients for read mapping:</a:t>
            </a:r>
          </a:p>
          <a:p>
            <a:pPr marL="285750" lvl="0" indent="-285750">
              <a:buFont typeface="Wingdings" pitchFamily="2" charset="2"/>
              <a:buChar char="Ø"/>
            </a:pPr>
            <a:r>
              <a:rPr lang="en-IT" sz="2400" dirty="0"/>
              <a:t> trimmed FASTQ files from Day 1</a:t>
            </a:r>
          </a:p>
          <a:p>
            <a:pPr marL="285750" lvl="0" indent="-285750">
              <a:buFont typeface="Wingdings" pitchFamily="2" charset="2"/>
              <a:buChar char="Ø"/>
            </a:pPr>
            <a:r>
              <a:rPr lang="en-IT" sz="2400" dirty="0"/>
              <a:t> a reference genome FASTA</a:t>
            </a:r>
          </a:p>
          <a:p>
            <a:pPr marL="285750" lvl="0" indent="-285750">
              <a:buFont typeface="Wingdings" pitchFamily="2" charset="2"/>
              <a:buChar char="Ø"/>
            </a:pPr>
            <a:r>
              <a:rPr lang="en-IT" sz="2400" dirty="0"/>
              <a:t> an aligner </a:t>
            </a:r>
            <a:r>
              <a:rPr lang="en-IT" sz="2400" dirty="0">
                <a:solidFill>
                  <a:srgbClr val="FF0000"/>
                </a:solidFill>
              </a:rPr>
              <a:t>index</a:t>
            </a:r>
            <a:r>
              <a:rPr lang="en-IT" sz="2400" dirty="0"/>
              <a:t> built from that FASTA</a:t>
            </a:r>
          </a:p>
        </p:txBody>
      </p:sp>
      <p:sp>
        <p:nvSpPr>
          <p:cNvPr id="8" name="TextBox 7">
            <a:extLst>
              <a:ext uri="{FF2B5EF4-FFF2-40B4-BE49-F238E27FC236}">
                <a16:creationId xmlns:a16="http://schemas.microsoft.com/office/drawing/2014/main" id="{A4F065D0-484C-08D7-DC5E-3DDC028D7C62}"/>
              </a:ext>
            </a:extLst>
          </p:cNvPr>
          <p:cNvSpPr txBox="1"/>
          <p:nvPr/>
        </p:nvSpPr>
        <p:spPr>
          <a:xfrm>
            <a:off x="6179123" y="2506660"/>
            <a:ext cx="5400679" cy="1200329"/>
          </a:xfrm>
          <a:prstGeom prst="rect">
            <a:avLst/>
          </a:prstGeom>
          <a:noFill/>
          <a:ln>
            <a:solidFill>
              <a:schemeClr val="tx1"/>
            </a:solidFill>
          </a:ln>
        </p:spPr>
        <p:txBody>
          <a:bodyPr wrap="square" rtlCol="0">
            <a:spAutoFit/>
          </a:bodyPr>
          <a:lstStyle/>
          <a:p>
            <a:r>
              <a:rPr lang="en-IT" i="1" dirty="0"/>
              <a:t>must search for possible locations for millions of reads. Searching the FASTA sequence from beginning to end for every read would be inefficient, so indexes are compact files that allows aligner to search positions efficiently.</a:t>
            </a:r>
            <a:endParaRPr lang="en-GB" i="1" dirty="0"/>
          </a:p>
        </p:txBody>
      </p:sp>
      <p:sp>
        <p:nvSpPr>
          <p:cNvPr id="12" name="TextBox 11">
            <a:extLst>
              <a:ext uri="{FF2B5EF4-FFF2-40B4-BE49-F238E27FC236}">
                <a16:creationId xmlns:a16="http://schemas.microsoft.com/office/drawing/2014/main" id="{BBC64342-F539-E61D-2463-A3B4A78DED20}"/>
              </a:ext>
            </a:extLst>
          </p:cNvPr>
          <p:cNvSpPr txBox="1"/>
          <p:nvPr/>
        </p:nvSpPr>
        <p:spPr>
          <a:xfrm>
            <a:off x="4145919" y="4504944"/>
            <a:ext cx="4733544" cy="954107"/>
          </a:xfrm>
          <a:prstGeom prst="rect">
            <a:avLst/>
          </a:prstGeom>
          <a:noFill/>
        </p:spPr>
        <p:txBody>
          <a:bodyPr wrap="square">
            <a:spAutoFit/>
          </a:bodyPr>
          <a:lstStyle/>
          <a:p>
            <a:pPr algn="ctr"/>
            <a:r>
              <a:rPr lang="en-IT" sz="2800" dirty="0"/>
              <a:t>An alignment is an </a:t>
            </a:r>
            <a:r>
              <a:rPr lang="en-IT" sz="2800" b="1" dirty="0">
                <a:solidFill>
                  <a:srgbClr val="FF0000"/>
                </a:solidFill>
              </a:rPr>
              <a:t>inference</a:t>
            </a:r>
            <a:r>
              <a:rPr lang="en-IT" sz="2800" dirty="0"/>
              <a:t>, not simply a string match.</a:t>
            </a:r>
            <a:endParaRPr lang="en-GB" sz="2800" dirty="0"/>
          </a:p>
        </p:txBody>
      </p:sp>
    </p:spTree>
    <p:extLst>
      <p:ext uri="{BB962C8B-B14F-4D97-AF65-F5344CB8AC3E}">
        <p14:creationId xmlns:p14="http://schemas.microsoft.com/office/powerpoint/2010/main" val="20817959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E572D0-4F4E-B378-7858-110D38655721}"/>
              </a:ext>
            </a:extLst>
          </p:cNvPr>
          <p:cNvSpPr>
            <a:spLocks noGrp="1"/>
          </p:cNvSpPr>
          <p:nvPr>
            <p:ph type="title"/>
          </p:nvPr>
        </p:nvSpPr>
        <p:spPr/>
        <p:txBody>
          <a:bodyPr>
            <a:normAutofit fontScale="90000"/>
          </a:bodyPr>
          <a:lstStyle/>
          <a:p>
            <a:r>
              <a:rPr lang="en-GB" dirty="0"/>
              <a:t>Several aligner serve different purposes:</a:t>
            </a:r>
          </a:p>
        </p:txBody>
      </p:sp>
      <p:sp>
        <p:nvSpPr>
          <p:cNvPr id="3" name="Content Placeholder 2">
            <a:extLst>
              <a:ext uri="{FF2B5EF4-FFF2-40B4-BE49-F238E27FC236}">
                <a16:creationId xmlns:a16="http://schemas.microsoft.com/office/drawing/2014/main" id="{A5516380-0574-6B70-9A24-FE96CB3580B2}"/>
              </a:ext>
            </a:extLst>
          </p:cNvPr>
          <p:cNvSpPr>
            <a:spLocks noGrp="1"/>
          </p:cNvSpPr>
          <p:nvPr>
            <p:ph idx="1"/>
          </p:nvPr>
        </p:nvSpPr>
        <p:spPr>
          <a:xfrm>
            <a:off x="398929" y="956049"/>
            <a:ext cx="11192435" cy="1043440"/>
          </a:xfrm>
        </p:spPr>
        <p:txBody>
          <a:bodyPr/>
          <a:lstStyle/>
          <a:p>
            <a:pPr marL="0" indent="0">
              <a:buNone/>
            </a:pPr>
            <a:r>
              <a:rPr lang="en-IT" dirty="0"/>
              <a:t>The alignment strategy depends on both the biological structure of the target and the analytical aim!</a:t>
            </a:r>
            <a:endParaRPr lang="en-GB" dirty="0"/>
          </a:p>
        </p:txBody>
      </p:sp>
      <p:sp>
        <p:nvSpPr>
          <p:cNvPr id="4" name="Date Placeholder 3">
            <a:extLst>
              <a:ext uri="{FF2B5EF4-FFF2-40B4-BE49-F238E27FC236}">
                <a16:creationId xmlns:a16="http://schemas.microsoft.com/office/drawing/2014/main" id="{19C26856-3131-BAA2-211F-41518BDC3721}"/>
              </a:ext>
            </a:extLst>
          </p:cNvPr>
          <p:cNvSpPr>
            <a:spLocks noGrp="1"/>
          </p:cNvSpPr>
          <p:nvPr>
            <p:ph type="dt" sz="half" idx="10"/>
          </p:nvPr>
        </p:nvSpPr>
        <p:spPr/>
        <p:txBody>
          <a:bodyPr/>
          <a:lstStyle/>
          <a:p>
            <a:fld id="{761DFEEA-1162-B343-ACBF-B3E92F6AC390}" type="datetime1">
              <a:rPr lang="it-IT" smtClean="0"/>
              <a:t>13/09/26</a:t>
            </a:fld>
            <a:endParaRPr lang="en-GB"/>
          </a:p>
        </p:txBody>
      </p:sp>
      <p:sp>
        <p:nvSpPr>
          <p:cNvPr id="5" name="Footer Placeholder 4">
            <a:extLst>
              <a:ext uri="{FF2B5EF4-FFF2-40B4-BE49-F238E27FC236}">
                <a16:creationId xmlns:a16="http://schemas.microsoft.com/office/drawing/2014/main" id="{B4262A9E-8E5B-D700-5327-3359341BA2C8}"/>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FE524976-86C9-7791-8CBC-BEE8CE8272A0}"/>
              </a:ext>
            </a:extLst>
          </p:cNvPr>
          <p:cNvSpPr>
            <a:spLocks noGrp="1"/>
          </p:cNvSpPr>
          <p:nvPr>
            <p:ph type="sldNum" sz="quarter" idx="12"/>
          </p:nvPr>
        </p:nvSpPr>
        <p:spPr/>
        <p:txBody>
          <a:bodyPr/>
          <a:lstStyle/>
          <a:p>
            <a:fld id="{62E92BA6-6E87-3343-8D2C-B7A656D628E4}" type="slidenum">
              <a:rPr lang="en-GB" smtClean="0"/>
              <a:t>6</a:t>
            </a:fld>
            <a:endParaRPr lang="en-GB"/>
          </a:p>
        </p:txBody>
      </p:sp>
      <p:sp>
        <p:nvSpPr>
          <p:cNvPr id="7" name="TextBox 6">
            <a:extLst>
              <a:ext uri="{FF2B5EF4-FFF2-40B4-BE49-F238E27FC236}">
                <a16:creationId xmlns:a16="http://schemas.microsoft.com/office/drawing/2014/main" id="{CD85ED58-A6E6-1032-E07A-18EE303E6933}"/>
              </a:ext>
            </a:extLst>
          </p:cNvPr>
          <p:cNvSpPr txBox="1"/>
          <p:nvPr/>
        </p:nvSpPr>
        <p:spPr>
          <a:xfrm>
            <a:off x="134470" y="2265843"/>
            <a:ext cx="4944046" cy="3046988"/>
          </a:xfrm>
          <a:prstGeom prst="rect">
            <a:avLst/>
          </a:prstGeom>
          <a:noFill/>
        </p:spPr>
        <p:txBody>
          <a:bodyPr wrap="none" rtlCol="0">
            <a:spAutoFit/>
          </a:bodyPr>
          <a:lstStyle/>
          <a:p>
            <a:pPr algn="r"/>
            <a:r>
              <a:rPr lang="en-GB" sz="2400" dirty="0"/>
              <a:t>We can distinguish :</a:t>
            </a:r>
          </a:p>
          <a:p>
            <a:pPr algn="r"/>
            <a:endParaRPr lang="en-GB" sz="2400" dirty="0"/>
          </a:p>
          <a:p>
            <a:pPr algn="r"/>
            <a:r>
              <a:rPr lang="en-GB" sz="2400" i="1" dirty="0"/>
              <a:t>Genome aligner tools</a:t>
            </a:r>
          </a:p>
          <a:p>
            <a:pPr algn="r"/>
            <a:endParaRPr lang="en-GB" sz="2400" dirty="0"/>
          </a:p>
          <a:p>
            <a:pPr marL="342900" indent="-342900" algn="r">
              <a:buFontTx/>
              <a:buChar char="-"/>
            </a:pPr>
            <a:r>
              <a:rPr lang="en-GB" sz="2400" dirty="0"/>
              <a:t>and -</a:t>
            </a:r>
          </a:p>
          <a:p>
            <a:pPr marL="342900" indent="-342900" algn="r">
              <a:buFontTx/>
              <a:buChar char="-"/>
            </a:pPr>
            <a:endParaRPr lang="en-GB" sz="2400" dirty="0"/>
          </a:p>
          <a:p>
            <a:pPr algn="r"/>
            <a:r>
              <a:rPr lang="en-IT" sz="2400" i="1" dirty="0"/>
              <a:t>Pseudoalignment or quasi-alignment tools</a:t>
            </a:r>
            <a:endParaRPr lang="en-GB" sz="2400" i="1" dirty="0"/>
          </a:p>
          <a:p>
            <a:pPr algn="r"/>
            <a:endParaRPr lang="en-GB" sz="2400" dirty="0"/>
          </a:p>
        </p:txBody>
      </p:sp>
      <p:sp>
        <p:nvSpPr>
          <p:cNvPr id="9" name="TextBox 8">
            <a:extLst>
              <a:ext uri="{FF2B5EF4-FFF2-40B4-BE49-F238E27FC236}">
                <a16:creationId xmlns:a16="http://schemas.microsoft.com/office/drawing/2014/main" id="{7AF242E3-B29D-99C0-14A4-2EE35E4F276D}"/>
              </a:ext>
            </a:extLst>
          </p:cNvPr>
          <p:cNvSpPr txBox="1"/>
          <p:nvPr/>
        </p:nvSpPr>
        <p:spPr>
          <a:xfrm>
            <a:off x="6449568" y="1365759"/>
            <a:ext cx="4114800" cy="923330"/>
          </a:xfrm>
          <a:prstGeom prst="rect">
            <a:avLst/>
          </a:prstGeom>
          <a:noFill/>
        </p:spPr>
        <p:txBody>
          <a:bodyPr wrap="square">
            <a:spAutoFit/>
          </a:bodyPr>
          <a:lstStyle/>
          <a:p>
            <a:r>
              <a:rPr lang="en-IT" sz="1800" b="0" i="0" dirty="0">
                <a:solidFill>
                  <a:schemeClr val="tx1"/>
                </a:solidFill>
                <a:effectLst/>
                <a:latin typeface="+mn-lt"/>
              </a:rPr>
              <a:t>Full aligners try to place each read or read pair at one or more genomic or transcriptomic coordinates.</a:t>
            </a:r>
            <a:endParaRPr lang="en-GB" dirty="0"/>
          </a:p>
        </p:txBody>
      </p:sp>
      <p:sp>
        <p:nvSpPr>
          <p:cNvPr id="10" name="TextBox 9">
            <a:extLst>
              <a:ext uri="{FF2B5EF4-FFF2-40B4-BE49-F238E27FC236}">
                <a16:creationId xmlns:a16="http://schemas.microsoft.com/office/drawing/2014/main" id="{14BF9239-86D8-C556-B08F-9DFCE94DCF5C}"/>
              </a:ext>
            </a:extLst>
          </p:cNvPr>
          <p:cNvSpPr txBox="1"/>
          <p:nvPr/>
        </p:nvSpPr>
        <p:spPr>
          <a:xfrm>
            <a:off x="6565392" y="2320691"/>
            <a:ext cx="5400679" cy="2308324"/>
          </a:xfrm>
          <a:prstGeom prst="rect">
            <a:avLst/>
          </a:prstGeom>
          <a:noFill/>
          <a:ln>
            <a:solidFill>
              <a:schemeClr val="tx1"/>
            </a:solidFill>
          </a:ln>
        </p:spPr>
        <p:txBody>
          <a:bodyPr wrap="square" rtlCol="0">
            <a:spAutoFit/>
          </a:bodyPr>
          <a:lstStyle/>
          <a:p>
            <a:r>
              <a:rPr lang="en-GB" sz="2400" dirty="0">
                <a:solidFill>
                  <a:srgbClr val="FF0000"/>
                </a:solidFill>
              </a:rPr>
              <a:t>Method</a:t>
            </a:r>
            <a:r>
              <a:rPr lang="en-GB" sz="2400" dirty="0"/>
              <a:t>: Seed-and-extend:</a:t>
            </a:r>
          </a:p>
          <a:p>
            <a:endParaRPr lang="en-GB" sz="2400" dirty="0"/>
          </a:p>
          <a:p>
            <a:pPr marL="285750" lvl="0" indent="-285750">
              <a:buFont typeface="Wingdings" pitchFamily="2" charset="2"/>
              <a:buChar char="v"/>
            </a:pPr>
            <a:r>
              <a:rPr lang="en-IT" sz="1600" dirty="0"/>
              <a:t>split or sample short exact pieces of the read called seeds;</a:t>
            </a:r>
          </a:p>
          <a:p>
            <a:pPr marL="285750" lvl="0" indent="-285750">
              <a:buFont typeface="Wingdings" pitchFamily="2" charset="2"/>
              <a:buChar char="v"/>
            </a:pPr>
            <a:r>
              <a:rPr lang="en-IT" sz="1600" dirty="0"/>
              <a:t>use the index to find seeds’s candidate reference positions </a:t>
            </a:r>
          </a:p>
          <a:p>
            <a:pPr marL="285750" lvl="0" indent="-285750">
              <a:buFont typeface="Wingdings" pitchFamily="2" charset="2"/>
              <a:buChar char="v"/>
            </a:pPr>
            <a:r>
              <a:rPr lang="en-IT" sz="1600" dirty="0"/>
              <a:t>extend them across the full read;</a:t>
            </a:r>
          </a:p>
          <a:p>
            <a:pPr marL="285750" lvl="0" indent="-285750">
              <a:buFont typeface="Wingdings" pitchFamily="2" charset="2"/>
              <a:buChar char="v"/>
            </a:pPr>
            <a:r>
              <a:rPr lang="en-IT" sz="1600" dirty="0"/>
              <a:t>score each alignment using matches, mismatches, gaps, clipping, base qualities, paired-end consistency;</a:t>
            </a:r>
          </a:p>
          <a:p>
            <a:pPr marL="285750" lvl="0" indent="-285750">
              <a:buFont typeface="Wingdings" pitchFamily="2" charset="2"/>
              <a:buChar char="v"/>
            </a:pPr>
            <a:r>
              <a:rPr lang="en-IT" sz="1600" dirty="0"/>
              <a:t>report the best alignment or alignments</a:t>
            </a:r>
          </a:p>
        </p:txBody>
      </p:sp>
      <p:cxnSp>
        <p:nvCxnSpPr>
          <p:cNvPr id="12" name="Straight Connector 11">
            <a:extLst>
              <a:ext uri="{FF2B5EF4-FFF2-40B4-BE49-F238E27FC236}">
                <a16:creationId xmlns:a16="http://schemas.microsoft.com/office/drawing/2014/main" id="{DE709350-5735-5EF5-53D6-BDAE2D990A23}"/>
              </a:ext>
            </a:extLst>
          </p:cNvPr>
          <p:cNvCxnSpPr>
            <a:cxnSpLocks/>
          </p:cNvCxnSpPr>
          <p:nvPr/>
        </p:nvCxnSpPr>
        <p:spPr>
          <a:xfrm flipV="1">
            <a:off x="5062964" y="2820339"/>
            <a:ext cx="1386604" cy="443743"/>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CCEA42A-7761-BB91-4C4B-CF32C0D83D07}"/>
              </a:ext>
            </a:extLst>
          </p:cNvPr>
          <p:cNvSpPr txBox="1"/>
          <p:nvPr/>
        </p:nvSpPr>
        <p:spPr>
          <a:xfrm>
            <a:off x="3837790" y="5280622"/>
            <a:ext cx="4785360" cy="923330"/>
          </a:xfrm>
          <a:prstGeom prst="rect">
            <a:avLst/>
          </a:prstGeom>
          <a:noFill/>
          <a:ln>
            <a:solidFill>
              <a:schemeClr val="tx1"/>
            </a:solidFill>
          </a:ln>
        </p:spPr>
        <p:txBody>
          <a:bodyPr wrap="square">
            <a:spAutoFit/>
          </a:bodyPr>
          <a:lstStyle/>
          <a:p>
            <a:r>
              <a:rPr lang="en-IT" sz="1800" b="0" i="0" dirty="0">
                <a:solidFill>
                  <a:schemeClr val="tx1"/>
                </a:solidFill>
                <a:effectLst/>
                <a:latin typeface="+mn-lt"/>
              </a:rPr>
              <a:t>They infer which transcript or set of transcripts is compatible with each read or fragment. This is very fast and useful for transcript quantification.</a:t>
            </a:r>
            <a:endParaRPr lang="en-GB" dirty="0"/>
          </a:p>
        </p:txBody>
      </p:sp>
      <p:cxnSp>
        <p:nvCxnSpPr>
          <p:cNvPr id="15" name="Straight Connector 14">
            <a:extLst>
              <a:ext uri="{FF2B5EF4-FFF2-40B4-BE49-F238E27FC236}">
                <a16:creationId xmlns:a16="http://schemas.microsoft.com/office/drawing/2014/main" id="{19C5AFA5-03D7-5070-58D2-849CF68417B2}"/>
              </a:ext>
            </a:extLst>
          </p:cNvPr>
          <p:cNvCxnSpPr>
            <a:cxnSpLocks/>
          </p:cNvCxnSpPr>
          <p:nvPr/>
        </p:nvCxnSpPr>
        <p:spPr>
          <a:xfrm>
            <a:off x="5062964" y="4723986"/>
            <a:ext cx="825772" cy="434212"/>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7592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animBg="1"/>
      <p:bldP spid="1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820C6C-1572-E0CB-AD6A-168D60BBFC40}"/>
              </a:ext>
            </a:extLst>
          </p:cNvPr>
          <p:cNvSpPr>
            <a:spLocks noGrp="1"/>
          </p:cNvSpPr>
          <p:nvPr>
            <p:ph type="title"/>
          </p:nvPr>
        </p:nvSpPr>
        <p:spPr>
          <a:xfrm>
            <a:off x="367340" y="122282"/>
            <a:ext cx="11959129" cy="519627"/>
          </a:xfrm>
        </p:spPr>
        <p:txBody>
          <a:bodyPr>
            <a:noAutofit/>
          </a:bodyPr>
          <a:lstStyle/>
          <a:p>
            <a:r>
              <a:rPr lang="en-GB" sz="3600" i="1" dirty="0"/>
              <a:t>Aligners..</a:t>
            </a:r>
          </a:p>
        </p:txBody>
      </p:sp>
      <p:sp>
        <p:nvSpPr>
          <p:cNvPr id="4" name="Date Placeholder 3">
            <a:extLst>
              <a:ext uri="{FF2B5EF4-FFF2-40B4-BE49-F238E27FC236}">
                <a16:creationId xmlns:a16="http://schemas.microsoft.com/office/drawing/2014/main" id="{AA5E6959-2E94-BEDA-4CB5-CD50CA3723AA}"/>
              </a:ext>
            </a:extLst>
          </p:cNvPr>
          <p:cNvSpPr>
            <a:spLocks noGrp="1"/>
          </p:cNvSpPr>
          <p:nvPr>
            <p:ph type="dt" sz="half" idx="10"/>
          </p:nvPr>
        </p:nvSpPr>
        <p:spPr/>
        <p:txBody>
          <a:bodyPr/>
          <a:lstStyle/>
          <a:p>
            <a:fld id="{761DFEEA-1162-B343-ACBF-B3E92F6AC390}" type="datetime1">
              <a:rPr lang="it-IT" smtClean="0"/>
              <a:t>13/09/26</a:t>
            </a:fld>
            <a:endParaRPr lang="en-GB"/>
          </a:p>
        </p:txBody>
      </p:sp>
      <p:sp>
        <p:nvSpPr>
          <p:cNvPr id="5" name="Footer Placeholder 4">
            <a:extLst>
              <a:ext uri="{FF2B5EF4-FFF2-40B4-BE49-F238E27FC236}">
                <a16:creationId xmlns:a16="http://schemas.microsoft.com/office/drawing/2014/main" id="{EF450703-9EB0-7CC5-0B54-0C71E0425050}"/>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65BEBBE0-B173-1C66-096B-E8374CDAC72F}"/>
              </a:ext>
            </a:extLst>
          </p:cNvPr>
          <p:cNvSpPr>
            <a:spLocks noGrp="1"/>
          </p:cNvSpPr>
          <p:nvPr>
            <p:ph type="sldNum" sz="quarter" idx="12"/>
          </p:nvPr>
        </p:nvSpPr>
        <p:spPr/>
        <p:txBody>
          <a:bodyPr/>
          <a:lstStyle/>
          <a:p>
            <a:fld id="{62E92BA6-6E87-3343-8D2C-B7A656D628E4}" type="slidenum">
              <a:rPr lang="en-GB" smtClean="0"/>
              <a:t>7</a:t>
            </a:fld>
            <a:endParaRPr lang="en-GB"/>
          </a:p>
        </p:txBody>
      </p:sp>
      <p:pic>
        <p:nvPicPr>
          <p:cNvPr id="8" name="Picture 7">
            <a:extLst>
              <a:ext uri="{FF2B5EF4-FFF2-40B4-BE49-F238E27FC236}">
                <a16:creationId xmlns:a16="http://schemas.microsoft.com/office/drawing/2014/main" id="{0180140D-DDE1-5B6E-B4A0-DB078D364A88}"/>
              </a:ext>
            </a:extLst>
          </p:cNvPr>
          <p:cNvPicPr>
            <a:picLocks noChangeAspect="1"/>
          </p:cNvPicPr>
          <p:nvPr/>
        </p:nvPicPr>
        <p:blipFill>
          <a:blip r:embed="rId2"/>
          <a:stretch>
            <a:fillRect/>
          </a:stretch>
        </p:blipFill>
        <p:spPr>
          <a:xfrm>
            <a:off x="367341" y="641909"/>
            <a:ext cx="5618865" cy="5819851"/>
          </a:xfrm>
          <a:prstGeom prst="rect">
            <a:avLst/>
          </a:prstGeom>
          <a:ln>
            <a:solidFill>
              <a:schemeClr val="tx1"/>
            </a:solidFill>
          </a:ln>
        </p:spPr>
      </p:pic>
      <p:pic>
        <p:nvPicPr>
          <p:cNvPr id="10" name="Picture 9">
            <a:extLst>
              <a:ext uri="{FF2B5EF4-FFF2-40B4-BE49-F238E27FC236}">
                <a16:creationId xmlns:a16="http://schemas.microsoft.com/office/drawing/2014/main" id="{E29A7F35-7F01-CB7B-A8E7-B3B74DE33A63}"/>
              </a:ext>
            </a:extLst>
          </p:cNvPr>
          <p:cNvPicPr>
            <a:picLocks noChangeAspect="1"/>
          </p:cNvPicPr>
          <p:nvPr/>
        </p:nvPicPr>
        <p:blipFill>
          <a:blip r:embed="rId3"/>
          <a:stretch>
            <a:fillRect/>
          </a:stretch>
        </p:blipFill>
        <p:spPr>
          <a:xfrm>
            <a:off x="5893564" y="1101230"/>
            <a:ext cx="6040896" cy="2327770"/>
          </a:xfrm>
          <a:prstGeom prst="rect">
            <a:avLst/>
          </a:prstGeom>
          <a:ln>
            <a:solidFill>
              <a:schemeClr val="tx1"/>
            </a:solidFill>
          </a:ln>
        </p:spPr>
      </p:pic>
      <p:sp>
        <p:nvSpPr>
          <p:cNvPr id="11" name="TextBox 10">
            <a:extLst>
              <a:ext uri="{FF2B5EF4-FFF2-40B4-BE49-F238E27FC236}">
                <a16:creationId xmlns:a16="http://schemas.microsoft.com/office/drawing/2014/main" id="{E030C81A-8078-E45B-3E98-06D594A1B6B3}"/>
              </a:ext>
            </a:extLst>
          </p:cNvPr>
          <p:cNvSpPr txBox="1"/>
          <p:nvPr/>
        </p:nvSpPr>
        <p:spPr>
          <a:xfrm>
            <a:off x="5986205" y="579182"/>
            <a:ext cx="2438681" cy="584775"/>
          </a:xfrm>
          <a:prstGeom prst="rect">
            <a:avLst/>
          </a:prstGeom>
          <a:noFill/>
        </p:spPr>
        <p:txBody>
          <a:bodyPr wrap="none" rtlCol="0">
            <a:spAutoFit/>
          </a:bodyPr>
          <a:lstStyle/>
          <a:p>
            <a:r>
              <a:rPr lang="en-IT" sz="3200" i="1" dirty="0"/>
              <a:t>Pseudoaligners</a:t>
            </a:r>
            <a:endParaRPr lang="en-GB" sz="3200" dirty="0"/>
          </a:p>
        </p:txBody>
      </p:sp>
      <p:sp>
        <p:nvSpPr>
          <p:cNvPr id="13" name="TextBox 12">
            <a:extLst>
              <a:ext uri="{FF2B5EF4-FFF2-40B4-BE49-F238E27FC236}">
                <a16:creationId xmlns:a16="http://schemas.microsoft.com/office/drawing/2014/main" id="{F7B4DCED-AD7F-4EC8-6091-601276D8F9E2}"/>
              </a:ext>
            </a:extLst>
          </p:cNvPr>
          <p:cNvSpPr txBox="1"/>
          <p:nvPr/>
        </p:nvSpPr>
        <p:spPr>
          <a:xfrm>
            <a:off x="6948230" y="3923178"/>
            <a:ext cx="4986230" cy="1200329"/>
          </a:xfrm>
          <a:prstGeom prst="rect">
            <a:avLst/>
          </a:prstGeom>
          <a:noFill/>
        </p:spPr>
        <p:txBody>
          <a:bodyPr wrap="square">
            <a:spAutoFit/>
          </a:bodyPr>
          <a:lstStyle/>
          <a:p>
            <a:r>
              <a:rPr lang="en-IT" dirty="0"/>
              <a:t>Eukaryotic RNA-seq requires explicit handling of </a:t>
            </a:r>
            <a:r>
              <a:rPr lang="en-IT" b="1" dirty="0">
                <a:solidFill>
                  <a:srgbClr val="FF0000"/>
                </a:solidFill>
              </a:rPr>
              <a:t>exon–exon junctions. Splice-aware aligners </a:t>
            </a:r>
            <a:r>
              <a:rPr lang="en-IT" dirty="0"/>
              <a:t>such as STAR and HISAT2 are specifically designed to identify and align reads spanning these junctions.</a:t>
            </a:r>
            <a:endParaRPr lang="en-GB" dirty="0"/>
          </a:p>
        </p:txBody>
      </p:sp>
    </p:spTree>
    <p:extLst>
      <p:ext uri="{BB962C8B-B14F-4D97-AF65-F5344CB8AC3E}">
        <p14:creationId xmlns:p14="http://schemas.microsoft.com/office/powerpoint/2010/main" val="2170783994"/>
      </p:ext>
    </p:extLst>
  </p:cSld>
  <p:clrMapOvr>
    <a:masterClrMapping/>
  </p:clrMapOvr>
</p:sld>
</file>

<file path=ppt/theme/theme1.xml><?xml version="1.0" encoding="utf-8"?>
<a:theme xmlns:a="http://schemas.openxmlformats.org/drawingml/2006/main" name="Office 2013 - 2022 Theme">
  <a:themeElements>
    <a:clrScheme name="Green">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Gill Sans MT">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506</TotalTime>
  <Words>762</Words>
  <Application>Microsoft Macintosh PowerPoint</Application>
  <PresentationFormat>Widescreen</PresentationFormat>
  <Paragraphs>121</Paragraphs>
  <Slides>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Aptos</vt:lpstr>
      <vt:lpstr>Arial</vt:lpstr>
      <vt:lpstr>Courier New</vt:lpstr>
      <vt:lpstr>Gill Sans MT</vt:lpstr>
      <vt:lpstr>Wingdings</vt:lpstr>
      <vt:lpstr>Office 2013 - 2022 Theme</vt:lpstr>
      <vt:lpstr>Reproducible NGS Data Analysis on Personal Laptops</vt:lpstr>
      <vt:lpstr>PowerPoint Presentation</vt:lpstr>
      <vt:lpstr>Turn sequencing reads into quantitative gene-expression measurements</vt:lpstr>
      <vt:lpstr>Day 2 starts exactly where Day 1 finished</vt:lpstr>
      <vt:lpstr>PowerPoint Presentation</vt:lpstr>
      <vt:lpstr>Reference-based RNA-seq FASTQ mapping </vt:lpstr>
      <vt:lpstr>Several aligner serve different purposes:</vt:lpstr>
      <vt:lpstr>Aligners..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Gualdrini Francesco</dc:creator>
  <cp:lastModifiedBy>Gualdrini Francesco</cp:lastModifiedBy>
  <cp:revision>142</cp:revision>
  <dcterms:created xsi:type="dcterms:W3CDTF">2026-09-11T06:59:50Z</dcterms:created>
  <dcterms:modified xsi:type="dcterms:W3CDTF">2026-09-13T14:24:44Z</dcterms:modified>
</cp:coreProperties>
</file>