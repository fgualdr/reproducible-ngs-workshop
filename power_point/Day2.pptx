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84" r:id="rId1"/>
  </p:sldMasterIdLst>
  <p:notesMasterIdLst>
    <p:notesMasterId r:id="rId24"/>
  </p:notesMasterIdLst>
  <p:sldIdLst>
    <p:sldId id="256" r:id="rId2"/>
    <p:sldId id="289" r:id="rId3"/>
    <p:sldId id="290" r:id="rId4"/>
    <p:sldId id="291" r:id="rId5"/>
    <p:sldId id="292" r:id="rId6"/>
    <p:sldId id="293" r:id="rId7"/>
    <p:sldId id="294" r:id="rId8"/>
    <p:sldId id="295" r:id="rId9"/>
    <p:sldId id="296" r:id="rId10"/>
    <p:sldId id="297" r:id="rId11"/>
    <p:sldId id="298" r:id="rId12"/>
    <p:sldId id="299" r:id="rId13"/>
    <p:sldId id="301" r:id="rId14"/>
    <p:sldId id="302" r:id="rId15"/>
    <p:sldId id="303" r:id="rId16"/>
    <p:sldId id="300" r:id="rId17"/>
    <p:sldId id="304" r:id="rId18"/>
    <p:sldId id="305" r:id="rId19"/>
    <p:sldId id="306" r:id="rId20"/>
    <p:sldId id="307" r:id="rId21"/>
    <p:sldId id="308" r:id="rId22"/>
    <p:sldId id="30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2A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99"/>
    <p:restoredTop sz="94606"/>
  </p:normalViewPr>
  <p:slideViewPr>
    <p:cSldViewPr snapToGrid="0">
      <p:cViewPr varScale="1">
        <p:scale>
          <a:sx n="104" d="100"/>
          <a:sy n="104" d="100"/>
        </p:scale>
        <p:origin x="224" y="5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6BF8C-4158-F342-8216-E1A8A29CF1BB}" type="datetimeFigureOut">
              <a:rPr lang="en-GB" smtClean="0"/>
              <a:t>23/09/2026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5500A-D261-DC43-897E-19B59BA2217B}" type="slidenum">
              <a:rPr lang="en-GB" smtClean="0"/>
              <a:t>‹#›</a:t>
            </a:fld>
            <a:endParaRPr lang="en-GB"/>
          </a:p>
        </p:txBody>
      </p:sp>
    </p:spTree>
    <p:extLst>
      <p:ext uri="{BB962C8B-B14F-4D97-AF65-F5344CB8AC3E}">
        <p14:creationId xmlns:p14="http://schemas.microsoft.com/office/powerpoint/2010/main" val="282488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p:cNvSpPr>
            <a:spLocks noGrp="1"/>
          </p:cNvSpPr>
          <p:nvPr>
            <p:ph type="dt" sz="half" idx="10"/>
          </p:nvPr>
        </p:nvSpPr>
        <p:spPr/>
        <p:txBody>
          <a:bodyPr/>
          <a:lstStyle/>
          <a:p>
            <a:fld id="{DE396E4B-6C64-E643-9A0A-AB5E13C2F5FA}" type="datetime1">
              <a:rPr lang="it-IT" smtClean="0"/>
              <a:t>23/09/26</a:t>
            </a:fld>
            <a:endParaRPr lang="en-GB"/>
          </a:p>
        </p:txBody>
      </p:sp>
      <p:sp>
        <p:nvSpPr>
          <p:cNvPr id="5" name="Footer Placeholder 4"/>
          <p:cNvSpPr>
            <a:spLocks noGrp="1"/>
          </p:cNvSpPr>
          <p:nvPr>
            <p:ph type="ftr" sz="quarter" idx="11"/>
          </p:nvPr>
        </p:nvSpPr>
        <p:spPr/>
        <p:txBody>
          <a:bodyPr/>
          <a:lstStyle/>
          <a:p>
            <a:r>
              <a:rPr lang="en-GB"/>
              <a:t>Day 1: Reproducible NGS Data Analysis on Personal Laptops</a:t>
            </a:r>
          </a:p>
        </p:txBody>
      </p:sp>
      <p:sp>
        <p:nvSpPr>
          <p:cNvPr id="6" name="Slide Number Placeholder 5"/>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3196893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p:cNvSpPr>
            <a:spLocks noGrp="1"/>
          </p:cNvSpPr>
          <p:nvPr>
            <p:ph type="ftr" sz="quarter" idx="11"/>
          </p:nvPr>
        </p:nvSpPr>
        <p:spPr/>
        <p:txBody>
          <a:bodyPr/>
          <a:lstStyle/>
          <a:p>
            <a:r>
              <a:rPr lang="en-GB"/>
              <a:t>Day 1: Reproducible NGS Data Analysis on Personal Laptops</a:t>
            </a:r>
          </a:p>
        </p:txBody>
      </p:sp>
      <p:sp>
        <p:nvSpPr>
          <p:cNvPr id="6" name="Slide Number Placeholder 5"/>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1564333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49ECE03-5904-2640-B404-A3FEAB598526}" type="datetime1">
              <a:rPr lang="it-IT" smtClean="0"/>
              <a:t>23/09/26</a:t>
            </a:fld>
            <a:endParaRPr lang="en-GB"/>
          </a:p>
        </p:txBody>
      </p:sp>
      <p:sp>
        <p:nvSpPr>
          <p:cNvPr id="5" name="Footer Placeholder 4"/>
          <p:cNvSpPr>
            <a:spLocks noGrp="1"/>
          </p:cNvSpPr>
          <p:nvPr>
            <p:ph type="ftr" sz="quarter" idx="11"/>
          </p:nvPr>
        </p:nvSpPr>
        <p:spPr/>
        <p:txBody>
          <a:bodyPr/>
          <a:lstStyle/>
          <a:p>
            <a:r>
              <a:rPr lang="en-GB"/>
              <a:t>Day 1: Reproducible NGS Data Analysis on Personal Laptops</a:t>
            </a:r>
          </a:p>
        </p:txBody>
      </p:sp>
      <p:sp>
        <p:nvSpPr>
          <p:cNvPr id="6" name="Slide Number Placeholder 5"/>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4054360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0BAE46A-96B1-BD4E-91A6-BD8913D3E1E1}" type="datetime1">
              <a:rPr lang="it-IT" smtClean="0"/>
              <a:t>23/09/26</a:t>
            </a:fld>
            <a:endParaRPr lang="en-GB"/>
          </a:p>
        </p:txBody>
      </p:sp>
      <p:sp>
        <p:nvSpPr>
          <p:cNvPr id="6" name="Footer Placeholder 5"/>
          <p:cNvSpPr>
            <a:spLocks noGrp="1"/>
          </p:cNvSpPr>
          <p:nvPr>
            <p:ph type="ftr" sz="quarter" idx="11"/>
          </p:nvPr>
        </p:nvSpPr>
        <p:spPr/>
        <p:txBody>
          <a:bodyPr/>
          <a:lstStyle/>
          <a:p>
            <a:r>
              <a:rPr lang="en-GB"/>
              <a:t>Day 1: Reproducible NGS Data Analysis on Personal Laptops</a:t>
            </a:r>
          </a:p>
        </p:txBody>
      </p:sp>
      <p:sp>
        <p:nvSpPr>
          <p:cNvPr id="7" name="Slide Number Placeholder 6"/>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2881284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BACEE35-98CA-3449-A912-39DDE1219E25}" type="datetime1">
              <a:rPr lang="it-IT" smtClean="0"/>
              <a:t>23/09/26</a:t>
            </a:fld>
            <a:endParaRPr lang="en-GB"/>
          </a:p>
        </p:txBody>
      </p:sp>
      <p:sp>
        <p:nvSpPr>
          <p:cNvPr id="8" name="Footer Placeholder 7"/>
          <p:cNvSpPr>
            <a:spLocks noGrp="1"/>
          </p:cNvSpPr>
          <p:nvPr>
            <p:ph type="ftr" sz="quarter" idx="11"/>
          </p:nvPr>
        </p:nvSpPr>
        <p:spPr/>
        <p:txBody>
          <a:bodyPr/>
          <a:lstStyle/>
          <a:p>
            <a:r>
              <a:rPr lang="en-GB"/>
              <a:t>Day 1: Reproducible NGS Data Analysis on Personal Laptops</a:t>
            </a:r>
          </a:p>
        </p:txBody>
      </p:sp>
      <p:sp>
        <p:nvSpPr>
          <p:cNvPr id="9" name="Slide Number Placeholder 8"/>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4144544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953B74D-CC1D-D544-8CB0-DB12C3D1744A}" type="datetime1">
              <a:rPr lang="it-IT" smtClean="0"/>
              <a:t>23/09/26</a:t>
            </a:fld>
            <a:endParaRPr lang="en-GB"/>
          </a:p>
        </p:txBody>
      </p:sp>
      <p:sp>
        <p:nvSpPr>
          <p:cNvPr id="4" name="Footer Placeholder 3"/>
          <p:cNvSpPr>
            <a:spLocks noGrp="1"/>
          </p:cNvSpPr>
          <p:nvPr>
            <p:ph type="ftr" sz="quarter" idx="11"/>
          </p:nvPr>
        </p:nvSpPr>
        <p:spPr/>
        <p:txBody>
          <a:bodyPr/>
          <a:lstStyle/>
          <a:p>
            <a:r>
              <a:rPr lang="en-GB"/>
              <a:t>Day 1: Reproducible NGS Data Analysis on Personal Laptops</a:t>
            </a:r>
          </a:p>
        </p:txBody>
      </p:sp>
      <p:sp>
        <p:nvSpPr>
          <p:cNvPr id="5" name="Slide Number Placeholder 4"/>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773475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398775-032D-C849-B9B0-C1D11ED802C1}" type="datetime1">
              <a:rPr lang="it-IT" smtClean="0"/>
              <a:t>23/09/26</a:t>
            </a:fld>
            <a:endParaRPr lang="en-GB"/>
          </a:p>
        </p:txBody>
      </p:sp>
      <p:sp>
        <p:nvSpPr>
          <p:cNvPr id="3" name="Footer Placeholder 2"/>
          <p:cNvSpPr>
            <a:spLocks noGrp="1"/>
          </p:cNvSpPr>
          <p:nvPr>
            <p:ph type="ftr" sz="quarter" idx="11"/>
          </p:nvPr>
        </p:nvSpPr>
        <p:spPr/>
        <p:txBody>
          <a:bodyPr/>
          <a:lstStyle/>
          <a:p>
            <a:r>
              <a:rPr lang="en-GB"/>
              <a:t>Day 1: Reproducible NGS Data Analysis on Personal Laptops</a:t>
            </a:r>
          </a:p>
        </p:txBody>
      </p:sp>
      <p:sp>
        <p:nvSpPr>
          <p:cNvPr id="4" name="Slide Number Placeholder 3"/>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3824839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28DD5ADB-7CE0-804E-9C85-40A519507F1A}" type="datetime1">
              <a:rPr lang="it-IT" smtClean="0"/>
              <a:t>23/09/26</a:t>
            </a:fld>
            <a:endParaRPr lang="en-GB"/>
          </a:p>
        </p:txBody>
      </p:sp>
      <p:sp>
        <p:nvSpPr>
          <p:cNvPr id="6" name="Footer Placeholder 5"/>
          <p:cNvSpPr>
            <a:spLocks noGrp="1"/>
          </p:cNvSpPr>
          <p:nvPr>
            <p:ph type="ftr" sz="quarter" idx="11"/>
          </p:nvPr>
        </p:nvSpPr>
        <p:spPr/>
        <p:txBody>
          <a:bodyPr/>
          <a:lstStyle/>
          <a:p>
            <a:r>
              <a:rPr lang="en-GB"/>
              <a:t>Day 1: Reproducible NGS Data Analysis on Personal Laptops</a:t>
            </a:r>
          </a:p>
        </p:txBody>
      </p:sp>
      <p:sp>
        <p:nvSpPr>
          <p:cNvPr id="7" name="Slide Number Placeholder 6"/>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1085161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404C8A3-CA6B-DB4B-8A18-5294010BD3CB}" type="datetime1">
              <a:rPr lang="it-IT" smtClean="0"/>
              <a:t>23/09/26</a:t>
            </a:fld>
            <a:endParaRPr lang="en-GB"/>
          </a:p>
        </p:txBody>
      </p:sp>
      <p:sp>
        <p:nvSpPr>
          <p:cNvPr id="6" name="Footer Placeholder 5"/>
          <p:cNvSpPr>
            <a:spLocks noGrp="1"/>
          </p:cNvSpPr>
          <p:nvPr>
            <p:ph type="ftr" sz="quarter" idx="11"/>
          </p:nvPr>
        </p:nvSpPr>
        <p:spPr/>
        <p:txBody>
          <a:bodyPr/>
          <a:lstStyle/>
          <a:p>
            <a:r>
              <a:rPr lang="en-GB"/>
              <a:t>Day 1: Reproducible NGS Data Analysis on Personal Laptops</a:t>
            </a:r>
          </a:p>
        </p:txBody>
      </p:sp>
      <p:sp>
        <p:nvSpPr>
          <p:cNvPr id="7" name="Slide Number Placeholder 6"/>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356500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1B09858-3BFB-DA41-A1A7-0A2A32E9793F}" type="datetime1">
              <a:rPr lang="it-IT" smtClean="0"/>
              <a:t>23/09/26</a:t>
            </a:fld>
            <a:endParaRPr lang="en-GB"/>
          </a:p>
        </p:txBody>
      </p:sp>
      <p:sp>
        <p:nvSpPr>
          <p:cNvPr id="5" name="Footer Placeholder 4"/>
          <p:cNvSpPr>
            <a:spLocks noGrp="1"/>
          </p:cNvSpPr>
          <p:nvPr>
            <p:ph type="ftr" sz="quarter" idx="11"/>
          </p:nvPr>
        </p:nvSpPr>
        <p:spPr/>
        <p:txBody>
          <a:bodyPr/>
          <a:lstStyle/>
          <a:p>
            <a:r>
              <a:rPr lang="en-GB"/>
              <a:t>Day 1: Reproducible NGS Data Analysis on Personal Laptops</a:t>
            </a:r>
          </a:p>
        </p:txBody>
      </p:sp>
      <p:sp>
        <p:nvSpPr>
          <p:cNvPr id="6" name="Slide Number Placeholder 5"/>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2978900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C58458F-C659-9242-908F-36A06BB8B093}" type="datetime1">
              <a:rPr lang="it-IT" smtClean="0"/>
              <a:t>23/09/26</a:t>
            </a:fld>
            <a:endParaRPr lang="en-GB"/>
          </a:p>
        </p:txBody>
      </p:sp>
      <p:sp>
        <p:nvSpPr>
          <p:cNvPr id="5" name="Footer Placeholder 4"/>
          <p:cNvSpPr>
            <a:spLocks noGrp="1"/>
          </p:cNvSpPr>
          <p:nvPr>
            <p:ph type="ftr" sz="quarter" idx="11"/>
          </p:nvPr>
        </p:nvSpPr>
        <p:spPr/>
        <p:txBody>
          <a:bodyPr/>
          <a:lstStyle/>
          <a:p>
            <a:r>
              <a:rPr lang="en-GB"/>
              <a:t>Day 1: Reproducible NGS Data Analysis on Personal Laptops</a:t>
            </a:r>
          </a:p>
        </p:txBody>
      </p:sp>
      <p:sp>
        <p:nvSpPr>
          <p:cNvPr id="6" name="Slide Number Placeholder 5"/>
          <p:cNvSpPr>
            <a:spLocks noGrp="1"/>
          </p:cNvSpPr>
          <p:nvPr>
            <p:ph type="sldNum" sz="quarter" idx="12"/>
          </p:nvPr>
        </p:nvSpPr>
        <p:spPr/>
        <p:txBody>
          <a:bodyPr/>
          <a:lstStyle/>
          <a:p>
            <a:fld id="{62E92BA6-6E87-3343-8D2C-B7A656D628E4}" type="slidenum">
              <a:rPr lang="en-GB" smtClean="0"/>
              <a:t>‹#›</a:t>
            </a:fld>
            <a:endParaRPr lang="en-GB"/>
          </a:p>
        </p:txBody>
      </p:sp>
    </p:spTree>
    <p:extLst>
      <p:ext uri="{BB962C8B-B14F-4D97-AF65-F5344CB8AC3E}">
        <p14:creationId xmlns:p14="http://schemas.microsoft.com/office/powerpoint/2010/main" val="3582017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4470" y="122282"/>
            <a:ext cx="12192000" cy="519627"/>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398929" y="956048"/>
            <a:ext cx="11192435" cy="508616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A1503F-4B7A-6348-924A-FFD23680AA8F}" type="datetime1">
              <a:rPr lang="it-IT" smtClean="0"/>
              <a:t>23/09/26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Day 1: Reproducible NGS Data Analysis on Personal Laptops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E92BA6-6E87-3343-8D2C-B7A656D628E4}" type="slidenum">
              <a:rPr lang="en-GB" smtClean="0"/>
              <a:t>‹#›</a:t>
            </a:fld>
            <a:endParaRPr lang="en-GB"/>
          </a:p>
        </p:txBody>
      </p:sp>
    </p:spTree>
    <p:extLst>
      <p:ext uri="{BB962C8B-B14F-4D97-AF65-F5344CB8AC3E}">
        <p14:creationId xmlns:p14="http://schemas.microsoft.com/office/powerpoint/2010/main" val="41502104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broadinstitute.github.io/picard/explain-flags.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rseqc.sourceforge.net/" TargetMode="External"/><Relationship Id="rId2" Type="http://schemas.openxmlformats.org/officeDocument/2006/relationships/hyperlink" Target="https://rseqc.sourceforge.net/#infer-experiment-py"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genome.ucsc.edu/FAQ/FAQformat.html#format1"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ubread.sourceforge.net/featureCounts.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92747-DC33-217F-1565-FF97054DED85}"/>
              </a:ext>
            </a:extLst>
          </p:cNvPr>
          <p:cNvSpPr>
            <a:spLocks noGrp="1"/>
          </p:cNvSpPr>
          <p:nvPr>
            <p:ph type="ctrTitle"/>
          </p:nvPr>
        </p:nvSpPr>
        <p:spPr/>
        <p:txBody>
          <a:bodyPr/>
          <a:lstStyle/>
          <a:p>
            <a:r>
              <a:rPr lang="en-IT" dirty="0"/>
              <a:t>Reproducible NGS Data Analysis on Personal Laptops</a:t>
            </a:r>
            <a:endParaRPr lang="en-GB" dirty="0"/>
          </a:p>
        </p:txBody>
      </p:sp>
      <p:sp>
        <p:nvSpPr>
          <p:cNvPr id="4" name="Date Placeholder 3">
            <a:extLst>
              <a:ext uri="{FF2B5EF4-FFF2-40B4-BE49-F238E27FC236}">
                <a16:creationId xmlns:a16="http://schemas.microsoft.com/office/drawing/2014/main" id="{1C0FE03A-9F62-3B7F-B9C2-05F885B6398D}"/>
              </a:ext>
            </a:extLst>
          </p:cNvPr>
          <p:cNvSpPr>
            <a:spLocks noGrp="1"/>
          </p:cNvSpPr>
          <p:nvPr>
            <p:ph type="dt" sz="half" idx="10"/>
          </p:nvPr>
        </p:nvSpPr>
        <p:spPr/>
        <p:txBody>
          <a:bodyPr/>
          <a:lstStyle/>
          <a:p>
            <a:fld id="{220AD085-7898-BE4F-A67D-B59B606A6206}" type="datetime1">
              <a:rPr lang="it-IT" smtClean="0"/>
              <a:t>23/09/26</a:t>
            </a:fld>
            <a:endParaRPr lang="en-GB"/>
          </a:p>
        </p:txBody>
      </p:sp>
      <p:sp>
        <p:nvSpPr>
          <p:cNvPr id="5" name="Footer Placeholder 4">
            <a:extLst>
              <a:ext uri="{FF2B5EF4-FFF2-40B4-BE49-F238E27FC236}">
                <a16:creationId xmlns:a16="http://schemas.microsoft.com/office/drawing/2014/main" id="{8189AE5A-44AD-824B-FEE4-42D719C28C8C}"/>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B088CCC8-4672-8B3D-3D7A-7B9695FBD7C7}"/>
              </a:ext>
            </a:extLst>
          </p:cNvPr>
          <p:cNvSpPr>
            <a:spLocks noGrp="1"/>
          </p:cNvSpPr>
          <p:nvPr>
            <p:ph type="sldNum" sz="quarter" idx="12"/>
          </p:nvPr>
        </p:nvSpPr>
        <p:spPr/>
        <p:txBody>
          <a:bodyPr/>
          <a:lstStyle/>
          <a:p>
            <a:fld id="{62E92BA6-6E87-3343-8D2C-B7A656D628E4}" type="slidenum">
              <a:rPr lang="en-GB" smtClean="0"/>
              <a:t>0</a:t>
            </a:fld>
            <a:endParaRPr lang="en-GB"/>
          </a:p>
        </p:txBody>
      </p:sp>
    </p:spTree>
    <p:extLst>
      <p:ext uri="{BB962C8B-B14F-4D97-AF65-F5344CB8AC3E}">
        <p14:creationId xmlns:p14="http://schemas.microsoft.com/office/powerpoint/2010/main" val="917000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9AD8DE-34F1-B6C8-6DB4-8A51721F14BF}"/>
              </a:ext>
            </a:extLst>
          </p:cNvPr>
          <p:cNvSpPr>
            <a:spLocks noGrp="1"/>
          </p:cNvSpPr>
          <p:nvPr>
            <p:ph idx="1"/>
          </p:nvPr>
        </p:nvSpPr>
        <p:spPr>
          <a:xfrm>
            <a:off x="398929" y="956048"/>
            <a:ext cx="11192435" cy="2977999"/>
          </a:xfrm>
        </p:spPr>
        <p:txBody>
          <a:bodyPr>
            <a:normAutofit lnSpcReduction="10000"/>
          </a:bodyPr>
          <a:lstStyle/>
          <a:p>
            <a:pPr marL="0" indent="0" algn="ctr">
              <a:buNone/>
            </a:pPr>
            <a:r>
              <a:rPr lang="en-GB" sz="4800" dirty="0"/>
              <a:t>DAY 02</a:t>
            </a:r>
          </a:p>
          <a:p>
            <a:pPr marL="0" indent="0" algn="ctr">
              <a:buNone/>
            </a:pPr>
            <a:endParaRPr lang="en-GB" sz="4800" dirty="0"/>
          </a:p>
          <a:p>
            <a:pPr marL="0" indent="0" algn="ctr">
              <a:buNone/>
            </a:pPr>
            <a:r>
              <a:rPr lang="en-IT" sz="4800" dirty="0"/>
              <a:t>RNA-seq: from FASTQ to differential expression</a:t>
            </a:r>
            <a:endParaRPr lang="en-GB" sz="4800" dirty="0"/>
          </a:p>
        </p:txBody>
      </p:sp>
      <p:sp>
        <p:nvSpPr>
          <p:cNvPr id="4" name="Date Placeholder 3">
            <a:extLst>
              <a:ext uri="{FF2B5EF4-FFF2-40B4-BE49-F238E27FC236}">
                <a16:creationId xmlns:a16="http://schemas.microsoft.com/office/drawing/2014/main" id="{18A88FE0-0E6C-AA8E-E01E-FF55BEC0ADF1}"/>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504D4A82-CBA4-6A08-3BEB-B236992F3957}"/>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80A036FD-A9A0-FFF6-C5E7-ACE8589DFD54}"/>
              </a:ext>
            </a:extLst>
          </p:cNvPr>
          <p:cNvSpPr>
            <a:spLocks noGrp="1"/>
          </p:cNvSpPr>
          <p:nvPr>
            <p:ph type="sldNum" sz="quarter" idx="12"/>
          </p:nvPr>
        </p:nvSpPr>
        <p:spPr/>
        <p:txBody>
          <a:bodyPr/>
          <a:lstStyle/>
          <a:p>
            <a:fld id="{62E92BA6-6E87-3343-8D2C-B7A656D628E4}" type="slidenum">
              <a:rPr lang="en-GB" smtClean="0"/>
              <a:t>1</a:t>
            </a:fld>
            <a:endParaRPr lang="en-GB"/>
          </a:p>
        </p:txBody>
      </p:sp>
      <p:sp>
        <p:nvSpPr>
          <p:cNvPr id="7" name="TextBox 6">
            <a:extLst>
              <a:ext uri="{FF2B5EF4-FFF2-40B4-BE49-F238E27FC236}">
                <a16:creationId xmlns:a16="http://schemas.microsoft.com/office/drawing/2014/main" id="{9580F8E4-4303-06E8-9759-0526BD92377F}"/>
              </a:ext>
            </a:extLst>
          </p:cNvPr>
          <p:cNvSpPr txBox="1"/>
          <p:nvPr/>
        </p:nvSpPr>
        <p:spPr>
          <a:xfrm>
            <a:off x="116958" y="5009063"/>
            <a:ext cx="11913676" cy="461665"/>
          </a:xfrm>
          <a:prstGeom prst="rect">
            <a:avLst/>
          </a:prstGeom>
          <a:noFill/>
        </p:spPr>
        <p:txBody>
          <a:bodyPr wrap="square">
            <a:spAutoFit/>
          </a:bodyPr>
          <a:lstStyle/>
          <a:p>
            <a:pPr algn="ctr"/>
            <a:r>
              <a:rPr lang="en-GB" sz="2400" i="1" dirty="0">
                <a:solidFill>
                  <a:schemeClr val="bg1">
                    <a:lumMod val="50000"/>
                  </a:schemeClr>
                </a:solidFill>
              </a:rPr>
              <a:t>trimmed FASTQ → alignment → BAM → gene counts → DESeq2 → biological interpretation</a:t>
            </a:r>
          </a:p>
        </p:txBody>
      </p:sp>
    </p:spTree>
    <p:extLst>
      <p:ext uri="{BB962C8B-B14F-4D97-AF65-F5344CB8AC3E}">
        <p14:creationId xmlns:p14="http://schemas.microsoft.com/office/powerpoint/2010/main" val="297087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620B-3376-C862-2439-E316A5D33514}"/>
              </a:ext>
            </a:extLst>
          </p:cNvPr>
          <p:cNvSpPr>
            <a:spLocks noGrp="1"/>
          </p:cNvSpPr>
          <p:nvPr>
            <p:ph type="title"/>
          </p:nvPr>
        </p:nvSpPr>
        <p:spPr>
          <a:xfrm>
            <a:off x="134470" y="122282"/>
            <a:ext cx="12192000" cy="551051"/>
          </a:xfrm>
        </p:spPr>
        <p:txBody>
          <a:bodyPr>
            <a:normAutofit/>
          </a:bodyPr>
          <a:lstStyle/>
          <a:p>
            <a:r>
              <a:rPr lang="en-IT" sz="3200" dirty="0"/>
              <a:t>Turn sequencing reads into quantitative gene-expression measurements</a:t>
            </a:r>
            <a:endParaRPr lang="en-GB" sz="3200" dirty="0"/>
          </a:p>
        </p:txBody>
      </p:sp>
      <p:sp>
        <p:nvSpPr>
          <p:cNvPr id="4" name="Date Placeholder 3">
            <a:extLst>
              <a:ext uri="{FF2B5EF4-FFF2-40B4-BE49-F238E27FC236}">
                <a16:creationId xmlns:a16="http://schemas.microsoft.com/office/drawing/2014/main" id="{3AEC021D-1E51-0250-BC6E-B1F41319048D}"/>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91FF8598-0DAD-D6FA-B9D7-81EEE2EDF2CD}"/>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39937693-6B34-85B5-2547-67AF60CB18DF}"/>
              </a:ext>
            </a:extLst>
          </p:cNvPr>
          <p:cNvSpPr>
            <a:spLocks noGrp="1"/>
          </p:cNvSpPr>
          <p:nvPr>
            <p:ph type="sldNum" sz="quarter" idx="12"/>
          </p:nvPr>
        </p:nvSpPr>
        <p:spPr/>
        <p:txBody>
          <a:bodyPr/>
          <a:lstStyle/>
          <a:p>
            <a:fld id="{62E92BA6-6E87-3343-8D2C-B7A656D628E4}" type="slidenum">
              <a:rPr lang="en-GB" smtClean="0"/>
              <a:t>2</a:t>
            </a:fld>
            <a:endParaRPr lang="en-GB"/>
          </a:p>
        </p:txBody>
      </p:sp>
      <p:sp>
        <p:nvSpPr>
          <p:cNvPr id="8" name="TextBox 7">
            <a:extLst>
              <a:ext uri="{FF2B5EF4-FFF2-40B4-BE49-F238E27FC236}">
                <a16:creationId xmlns:a16="http://schemas.microsoft.com/office/drawing/2014/main" id="{6BC6E56C-7DCC-13A8-349C-7C04D15018DE}"/>
              </a:ext>
            </a:extLst>
          </p:cNvPr>
          <p:cNvSpPr txBox="1"/>
          <p:nvPr/>
        </p:nvSpPr>
        <p:spPr>
          <a:xfrm>
            <a:off x="155735" y="1522297"/>
            <a:ext cx="2358653" cy="3293209"/>
          </a:xfrm>
          <a:prstGeom prst="rect">
            <a:avLst/>
          </a:prstGeom>
          <a:noFill/>
          <a:ln>
            <a:solidFill>
              <a:schemeClr val="tx1"/>
            </a:solidFill>
          </a:ln>
        </p:spPr>
        <p:txBody>
          <a:bodyPr wrap="square">
            <a:spAutoFit/>
          </a:bodyPr>
          <a:lstStyle/>
          <a:p>
            <a:pPr algn="ctr"/>
            <a:r>
              <a:rPr lang="en-GB" sz="1600" dirty="0">
                <a:latin typeface="Courier New" panose="02070309020205020404" pitchFamily="49" charset="0"/>
                <a:cs typeface="Courier New" panose="02070309020205020404" pitchFamily="49" charset="0"/>
              </a:rPr>
              <a:t>────────────────</a:t>
            </a:r>
          </a:p>
          <a:p>
            <a:pPr algn="ctr"/>
            <a:r>
              <a:rPr lang="en-GB" sz="1600" b="1" dirty="0">
                <a:latin typeface="Courier New" panose="02070309020205020404" pitchFamily="49" charset="0"/>
                <a:cs typeface="Courier New" panose="02070309020205020404" pitchFamily="49" charset="0"/>
              </a:rPr>
              <a:t>DAY 1</a:t>
            </a:r>
          </a:p>
          <a:p>
            <a:pPr algn="ctr"/>
            <a:r>
              <a:rPr lang="en-GB" sz="1600" dirty="0">
                <a:latin typeface="Courier New" panose="02070309020205020404" pitchFamily="49" charset="0"/>
                <a:cs typeface="Courier New" panose="02070309020205020404" pitchFamily="49" charset="0"/>
              </a:rPr>
              <a:t>────────────────</a:t>
            </a:r>
          </a:p>
          <a:p>
            <a:pPr algn="ctr"/>
            <a:endParaRPr lang="en-GB" sz="1600" dirty="0">
              <a:latin typeface="Courier New" panose="02070309020205020404" pitchFamily="49" charset="0"/>
              <a:cs typeface="Courier New" panose="02070309020205020404" pitchFamily="49" charset="0"/>
            </a:endParaRPr>
          </a:p>
          <a:p>
            <a:pPr algn="ctr"/>
            <a:r>
              <a:rPr lang="en-GB" sz="1600" dirty="0">
                <a:latin typeface="Courier New" panose="02070309020205020404" pitchFamily="49" charset="0"/>
                <a:cs typeface="Courier New" panose="02070309020205020404" pitchFamily="49" charset="0"/>
              </a:rPr>
              <a:t>reference genome</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gene annotation</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Trimmed</a:t>
            </a:r>
          </a:p>
          <a:p>
            <a:pPr algn="ctr"/>
            <a:r>
              <a:rPr lang="en-GB" sz="1600" dirty="0">
                <a:latin typeface="Courier New" panose="02070309020205020404" pitchFamily="49" charset="0"/>
                <a:cs typeface="Courier New" panose="02070309020205020404" pitchFamily="49" charset="0"/>
              </a:rPr>
              <a:t>paired-end FASTQ</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a:t>
            </a:r>
          </a:p>
        </p:txBody>
      </p:sp>
      <p:sp>
        <p:nvSpPr>
          <p:cNvPr id="10" name="TextBox 9">
            <a:extLst>
              <a:ext uri="{FF2B5EF4-FFF2-40B4-BE49-F238E27FC236}">
                <a16:creationId xmlns:a16="http://schemas.microsoft.com/office/drawing/2014/main" id="{E463BD45-E827-2008-7389-A7DA900AA727}"/>
              </a:ext>
            </a:extLst>
          </p:cNvPr>
          <p:cNvSpPr txBox="1"/>
          <p:nvPr/>
        </p:nvSpPr>
        <p:spPr>
          <a:xfrm>
            <a:off x="2709534" y="863079"/>
            <a:ext cx="2840661" cy="5016758"/>
          </a:xfrm>
          <a:prstGeom prst="rect">
            <a:avLst/>
          </a:prstGeom>
          <a:noFill/>
          <a:ln>
            <a:solidFill>
              <a:schemeClr val="tx1"/>
            </a:solidFill>
          </a:ln>
        </p:spPr>
        <p:txBody>
          <a:bodyPr wrap="square">
            <a:spAutoFit/>
          </a:bodyPr>
          <a:lstStyle/>
          <a:p>
            <a:pPr algn="ctr"/>
            <a:r>
              <a:rPr lang="en-GB" sz="1600" dirty="0">
                <a:latin typeface="Courier New" panose="02070309020205020404" pitchFamily="49" charset="0"/>
                <a:cs typeface="Courier New" panose="02070309020205020404" pitchFamily="49" charset="0"/>
              </a:rPr>
              <a:t>────────────────</a:t>
            </a:r>
          </a:p>
          <a:p>
            <a:pPr algn="ctr"/>
            <a:r>
              <a:rPr lang="en-GB" sz="1600" b="1" dirty="0">
                <a:latin typeface="Courier New" panose="02070309020205020404" pitchFamily="49" charset="0"/>
                <a:cs typeface="Courier New" panose="02070309020205020404" pitchFamily="49" charset="0"/>
              </a:rPr>
              <a:t>DAY 2</a:t>
            </a:r>
          </a:p>
          <a:p>
            <a:pPr algn="ctr"/>
            <a:r>
              <a:rPr lang="en-GB" sz="1600" dirty="0">
                <a:latin typeface="Courier New" panose="02070309020205020404" pitchFamily="49" charset="0"/>
                <a:cs typeface="Courier New" panose="02070309020205020404" pitchFamily="49" charset="0"/>
              </a:rPr>
              <a:t>────────────────</a:t>
            </a:r>
          </a:p>
          <a:p>
            <a:pPr algn="ctr"/>
            <a:endParaRPr lang="en-GB" sz="1600" dirty="0">
              <a:latin typeface="Courier New" panose="02070309020205020404" pitchFamily="49" charset="0"/>
              <a:cs typeface="Courier New" panose="02070309020205020404" pitchFamily="49" charset="0"/>
            </a:endParaRPr>
          </a:p>
          <a:p>
            <a:pPr algn="ctr"/>
            <a:r>
              <a:rPr lang="en-GB" sz="1600" dirty="0">
                <a:latin typeface="Courier New" panose="02070309020205020404" pitchFamily="49" charset="0"/>
                <a:cs typeface="Courier New" panose="02070309020205020404" pitchFamily="49" charset="0"/>
              </a:rPr>
              <a:t>reference indexing</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read alignment</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sorted / filtered BAM</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library </a:t>
            </a:r>
            <a:r>
              <a:rPr lang="en-GB" sz="1600" dirty="0" err="1">
                <a:latin typeface="Courier New" panose="02070309020205020404" pitchFamily="49" charset="0"/>
                <a:cs typeface="Courier New" panose="02070309020205020404" pitchFamily="49" charset="0"/>
              </a:rPr>
              <a:t>strandedness</a:t>
            </a:r>
            <a:endParaRPr lang="en-GB" sz="1600" dirty="0">
              <a:latin typeface="Courier New" panose="02070309020205020404" pitchFamily="49" charset="0"/>
              <a:cs typeface="Courier New" panose="02070309020205020404" pitchFamily="49" charset="0"/>
            </a:endParaRP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gene assignment</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RAW COUNT MATRIX</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DESeq2</a:t>
            </a:r>
          </a:p>
          <a:p>
            <a:pPr algn="ctr"/>
            <a:r>
              <a:rPr lang="en-GB" sz="1600" dirty="0">
                <a:latin typeface="Courier New" panose="02070309020205020404" pitchFamily="49" charset="0"/>
                <a:cs typeface="Courier New" panose="02070309020205020404" pitchFamily="49" charset="0"/>
              </a:rPr>
              <a:t>↓</a:t>
            </a:r>
          </a:p>
          <a:p>
            <a:pPr algn="ctr"/>
            <a:r>
              <a:rPr lang="en-GB" sz="1600" dirty="0">
                <a:latin typeface="Courier New" panose="02070309020205020404" pitchFamily="49" charset="0"/>
                <a:cs typeface="Courier New" panose="02070309020205020404" pitchFamily="49" charset="0"/>
              </a:rPr>
              <a:t>differential expression</a:t>
            </a:r>
            <a:endParaRPr lang="en-GB" sz="1600" dirty="0"/>
          </a:p>
        </p:txBody>
      </p:sp>
      <p:sp>
        <p:nvSpPr>
          <p:cNvPr id="12" name="TextBox 11">
            <a:extLst>
              <a:ext uri="{FF2B5EF4-FFF2-40B4-BE49-F238E27FC236}">
                <a16:creationId xmlns:a16="http://schemas.microsoft.com/office/drawing/2014/main" id="{B7AB6529-69B7-6DFA-9055-B6A94FB43448}"/>
              </a:ext>
            </a:extLst>
          </p:cNvPr>
          <p:cNvSpPr txBox="1"/>
          <p:nvPr/>
        </p:nvSpPr>
        <p:spPr>
          <a:xfrm>
            <a:off x="5550195" y="1353706"/>
            <a:ext cx="6641804" cy="3785652"/>
          </a:xfrm>
          <a:prstGeom prst="rect">
            <a:avLst/>
          </a:prstGeom>
          <a:noFill/>
        </p:spPr>
        <p:txBody>
          <a:bodyPr wrap="square">
            <a:spAutoFit/>
          </a:bodyPr>
          <a:lstStyle/>
          <a:p>
            <a:pPr algn="ctr"/>
            <a:r>
              <a:rPr lang="en-IT" sz="2400" dirty="0">
                <a:solidFill>
                  <a:schemeClr val="accent1">
                    <a:lumMod val="75000"/>
                  </a:schemeClr>
                </a:solidFill>
              </a:rPr>
              <a:t>Today we will connect three distinct levels:</a:t>
            </a:r>
          </a:p>
          <a:p>
            <a:pPr algn="ctr"/>
            <a:endParaRPr lang="en-IT" sz="2400" dirty="0"/>
          </a:p>
          <a:p>
            <a:pPr algn="ctr"/>
            <a:r>
              <a:rPr lang="en-IT" sz="2400" dirty="0"/>
              <a:t>Sequence level	</a:t>
            </a:r>
            <a:r>
              <a:rPr lang="en-GB" sz="2400" i="1" dirty="0">
                <a:solidFill>
                  <a:schemeClr val="bg1">
                    <a:lumMod val="50000"/>
                  </a:schemeClr>
                </a:solidFill>
              </a:rPr>
              <a:t>→ </a:t>
            </a:r>
            <a:r>
              <a:rPr lang="en-IT" sz="2400" dirty="0"/>
              <a:t>Where does each read pair map?</a:t>
            </a:r>
          </a:p>
          <a:p>
            <a:pPr algn="ctr"/>
            <a:endParaRPr lang="en-IT" sz="2400" dirty="0"/>
          </a:p>
          <a:p>
            <a:pPr algn="ctr"/>
            <a:r>
              <a:rPr lang="en-IT" sz="2400" dirty="0"/>
              <a:t>Feature level	</a:t>
            </a:r>
            <a:r>
              <a:rPr lang="en-GB" sz="2400" i="1" dirty="0">
                <a:solidFill>
                  <a:schemeClr val="bg1">
                    <a:lumMod val="50000"/>
                  </a:schemeClr>
                </a:solidFill>
              </a:rPr>
              <a:t>→ </a:t>
            </a:r>
            <a:r>
              <a:rPr lang="en-IT" sz="2400" dirty="0"/>
              <a:t>Which annotated gene generated each fragment?</a:t>
            </a:r>
          </a:p>
          <a:p>
            <a:pPr algn="ctr"/>
            <a:endParaRPr lang="en-IT" sz="2400" dirty="0"/>
          </a:p>
          <a:p>
            <a:pPr algn="ctr"/>
            <a:r>
              <a:rPr lang="en-IT" sz="2400" dirty="0"/>
              <a:t>Statistical level	</a:t>
            </a:r>
            <a:r>
              <a:rPr lang="en-GB" sz="2400" i="1" dirty="0">
                <a:solidFill>
                  <a:schemeClr val="bg1">
                    <a:lumMod val="50000"/>
                  </a:schemeClr>
                </a:solidFill>
              </a:rPr>
              <a:t> → </a:t>
            </a:r>
            <a:r>
              <a:rPr lang="en-IT" sz="2400" dirty="0"/>
              <a:t>Is the observed difference between conditions larger than expected from biological variability?</a:t>
            </a:r>
          </a:p>
        </p:txBody>
      </p:sp>
    </p:spTree>
    <p:extLst>
      <p:ext uri="{BB962C8B-B14F-4D97-AF65-F5344CB8AC3E}">
        <p14:creationId xmlns:p14="http://schemas.microsoft.com/office/powerpoint/2010/main" val="1299438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5F150-A7E2-A54C-B66D-BA71FAD06C7C}"/>
              </a:ext>
            </a:extLst>
          </p:cNvPr>
          <p:cNvSpPr>
            <a:spLocks noGrp="1"/>
          </p:cNvSpPr>
          <p:nvPr>
            <p:ph type="title"/>
          </p:nvPr>
        </p:nvSpPr>
        <p:spPr/>
        <p:txBody>
          <a:bodyPr>
            <a:normAutofit fontScale="90000"/>
          </a:bodyPr>
          <a:lstStyle/>
          <a:p>
            <a:r>
              <a:rPr lang="en-IT" dirty="0"/>
              <a:t>Day 2 starts exactly where Day 1 finished</a:t>
            </a:r>
            <a:endParaRPr lang="en-GB" dirty="0"/>
          </a:p>
        </p:txBody>
      </p:sp>
      <p:sp>
        <p:nvSpPr>
          <p:cNvPr id="4" name="Date Placeholder 3">
            <a:extLst>
              <a:ext uri="{FF2B5EF4-FFF2-40B4-BE49-F238E27FC236}">
                <a16:creationId xmlns:a16="http://schemas.microsoft.com/office/drawing/2014/main" id="{A5C58776-5988-1CAE-B585-46BC939CB069}"/>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068755A3-D791-6A4E-A92C-1CF514BBB479}"/>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F2FD714D-DEE1-5087-98EC-7F9BC79BA537}"/>
              </a:ext>
            </a:extLst>
          </p:cNvPr>
          <p:cNvSpPr>
            <a:spLocks noGrp="1"/>
          </p:cNvSpPr>
          <p:nvPr>
            <p:ph type="sldNum" sz="quarter" idx="12"/>
          </p:nvPr>
        </p:nvSpPr>
        <p:spPr/>
        <p:txBody>
          <a:bodyPr/>
          <a:lstStyle/>
          <a:p>
            <a:fld id="{62E92BA6-6E87-3343-8D2C-B7A656D628E4}" type="slidenum">
              <a:rPr lang="en-GB" smtClean="0"/>
              <a:t>3</a:t>
            </a:fld>
            <a:endParaRPr lang="en-GB"/>
          </a:p>
        </p:txBody>
      </p:sp>
      <p:sp>
        <p:nvSpPr>
          <p:cNvPr id="7" name="TextBox 6">
            <a:extLst>
              <a:ext uri="{FF2B5EF4-FFF2-40B4-BE49-F238E27FC236}">
                <a16:creationId xmlns:a16="http://schemas.microsoft.com/office/drawing/2014/main" id="{ABA24A80-97E5-C8D5-4E7D-BC326B99E313}"/>
              </a:ext>
            </a:extLst>
          </p:cNvPr>
          <p:cNvSpPr txBox="1"/>
          <p:nvPr/>
        </p:nvSpPr>
        <p:spPr>
          <a:xfrm>
            <a:off x="42582" y="868045"/>
            <a:ext cx="11990922" cy="1077218"/>
          </a:xfrm>
          <a:prstGeom prst="rect">
            <a:avLst/>
          </a:prstGeom>
          <a:noFill/>
        </p:spPr>
        <p:txBody>
          <a:bodyPr wrap="square">
            <a:spAutoFit/>
          </a:bodyPr>
          <a:lstStyle/>
          <a:p>
            <a:pPr marL="0" indent="0">
              <a:buNone/>
            </a:pPr>
            <a:r>
              <a:rPr lang="en-GB" sz="1600" b="1" dirty="0">
                <a:solidFill>
                  <a:schemeClr val="accent1">
                    <a:lumMod val="75000"/>
                  </a:schemeClr>
                </a:solidFill>
                <a:latin typeface="+mj-lt"/>
                <a:cs typeface="Courier New" panose="02070309020205020404" pitchFamily="49" charset="0"/>
              </a:rPr>
              <a:t>Open </a:t>
            </a:r>
            <a:r>
              <a:rPr lang="en-GB" sz="1600" b="1" dirty="0" err="1">
                <a:solidFill>
                  <a:schemeClr val="accent1">
                    <a:lumMod val="75000"/>
                  </a:schemeClr>
                </a:solidFill>
                <a:latin typeface="+mj-lt"/>
                <a:cs typeface="Courier New" panose="02070309020205020404" pitchFamily="49" charset="0"/>
              </a:rPr>
              <a:t>VSCode</a:t>
            </a:r>
            <a:r>
              <a:rPr lang="en-GB" sz="1600" b="1" dirty="0">
                <a:solidFill>
                  <a:schemeClr val="accent1">
                    <a:lumMod val="75000"/>
                  </a:schemeClr>
                </a:solidFill>
                <a:latin typeface="+mj-lt"/>
                <a:cs typeface="Courier New" panose="02070309020205020404" pitchFamily="49" charset="0"/>
              </a:rPr>
              <a:t> …</a:t>
            </a:r>
          </a:p>
          <a:p>
            <a:pPr marL="171450" indent="-171450">
              <a:buFont typeface="Wingdings" pitchFamily="2" charset="2"/>
              <a:buChar char="Ø"/>
            </a:pPr>
            <a:r>
              <a:rPr lang="en-GB" sz="1600" dirty="0">
                <a:latin typeface="+mj-lt"/>
                <a:cs typeface="Courier New" panose="02070309020205020404" pitchFamily="49" charset="0"/>
              </a:rPr>
              <a:t>Windows users should open Visual Studio Code connected to Ubuntu WSL, open a WSL terminal, and run the commands there.</a:t>
            </a:r>
          </a:p>
          <a:p>
            <a:pPr marL="171450" indent="-171450">
              <a:buFont typeface="Wingdings" pitchFamily="2" charset="2"/>
              <a:buChar char="Ø"/>
            </a:pPr>
            <a:r>
              <a:rPr lang="en-GB" sz="1600" dirty="0">
                <a:latin typeface="+mj-lt"/>
                <a:cs typeface="Courier New" panose="02070309020205020404" pitchFamily="49" charset="0"/>
              </a:rPr>
              <a:t>macOS and Linux users should open the </a:t>
            </a:r>
            <a:r>
              <a:rPr lang="en-GB" sz="1600" dirty="0" err="1">
                <a:latin typeface="+mj-lt"/>
                <a:cs typeface="Courier New" panose="02070309020205020404" pitchFamily="49" charset="0"/>
              </a:rPr>
              <a:t>workshop_ngs</a:t>
            </a:r>
            <a:r>
              <a:rPr lang="en-GB" sz="1600" dirty="0">
                <a:latin typeface="+mj-lt"/>
                <a:cs typeface="Courier New" panose="02070309020205020404" pitchFamily="49" charset="0"/>
              </a:rPr>
              <a:t> folder in Visual Studio Code and use the VS Code terminal.</a:t>
            </a:r>
          </a:p>
          <a:p>
            <a:pPr marL="0" indent="0">
              <a:buNone/>
            </a:pPr>
            <a:r>
              <a:rPr lang="en-GB" sz="1600" dirty="0">
                <a:latin typeface="+mj-lt"/>
                <a:cs typeface="Courier New" panose="02070309020205020404" pitchFamily="49" charset="0"/>
              </a:rPr>
              <a:t>Before running workshop commands, move to the repository root:</a:t>
            </a:r>
          </a:p>
        </p:txBody>
      </p:sp>
      <p:sp>
        <p:nvSpPr>
          <p:cNvPr id="9" name="TextBox 8">
            <a:extLst>
              <a:ext uri="{FF2B5EF4-FFF2-40B4-BE49-F238E27FC236}">
                <a16:creationId xmlns:a16="http://schemas.microsoft.com/office/drawing/2014/main" id="{92E25DDB-90AF-F3DD-4FDA-89539C43A94B}"/>
              </a:ext>
            </a:extLst>
          </p:cNvPr>
          <p:cNvSpPr txBox="1"/>
          <p:nvPr/>
        </p:nvSpPr>
        <p:spPr>
          <a:xfrm>
            <a:off x="134470" y="2067310"/>
            <a:ext cx="6205728" cy="646331"/>
          </a:xfrm>
          <a:prstGeom prst="rect">
            <a:avLst/>
          </a:prstGeom>
          <a:noFill/>
          <a:ln>
            <a:solidFill>
              <a:schemeClr val="tx1"/>
            </a:solidFill>
          </a:ln>
        </p:spPr>
        <p:txBody>
          <a:bodyPr wrap="square">
            <a:spAutoFit/>
          </a:bodyPr>
          <a:lstStyle/>
          <a:p>
            <a:r>
              <a:rPr lang="en-GB" dirty="0">
                <a:latin typeface="Courier New" panose="02070309020205020404" pitchFamily="49" charset="0"/>
                <a:cs typeface="Courier New" panose="02070309020205020404" pitchFamily="49" charset="0"/>
              </a:rPr>
              <a:t>cd ~/</a:t>
            </a:r>
            <a:r>
              <a:rPr lang="en-GB" dirty="0" err="1">
                <a:latin typeface="Courier New" panose="02070309020205020404" pitchFamily="49" charset="0"/>
                <a:cs typeface="Courier New" panose="02070309020205020404" pitchFamily="49" charset="0"/>
              </a:rPr>
              <a:t>workshop_ngs</a:t>
            </a:r>
            <a:endParaRPr lang="en-GB" dirty="0">
              <a:latin typeface="Courier New" panose="02070309020205020404" pitchFamily="49" charset="0"/>
              <a:cs typeface="Courier New" panose="02070309020205020404" pitchFamily="49" charset="0"/>
            </a:endParaRPr>
          </a:p>
          <a:p>
            <a:r>
              <a:rPr lang="en-GB" dirty="0" err="1">
                <a:latin typeface="Courier New" panose="02070309020205020404" pitchFamily="49" charset="0"/>
                <a:cs typeface="Courier New" panose="02070309020205020404" pitchFamily="49" charset="0"/>
              </a:rPr>
              <a:t>pwd</a:t>
            </a:r>
            <a:endParaRPr lang="en-GB" dirty="0">
              <a:latin typeface="Courier New" panose="02070309020205020404" pitchFamily="49" charset="0"/>
              <a:cs typeface="Courier New" panose="02070309020205020404" pitchFamily="49" charset="0"/>
            </a:endParaRPr>
          </a:p>
        </p:txBody>
      </p:sp>
      <p:sp>
        <p:nvSpPr>
          <p:cNvPr id="11" name="TextBox 10">
            <a:extLst>
              <a:ext uri="{FF2B5EF4-FFF2-40B4-BE49-F238E27FC236}">
                <a16:creationId xmlns:a16="http://schemas.microsoft.com/office/drawing/2014/main" id="{5F90E291-9228-C8DD-8372-5ACD2469D861}"/>
              </a:ext>
            </a:extLst>
          </p:cNvPr>
          <p:cNvSpPr txBox="1"/>
          <p:nvPr/>
        </p:nvSpPr>
        <p:spPr>
          <a:xfrm>
            <a:off x="134470" y="3135143"/>
            <a:ext cx="6205728" cy="830997"/>
          </a:xfrm>
          <a:prstGeom prst="rect">
            <a:avLst/>
          </a:prstGeom>
          <a:noFill/>
          <a:ln>
            <a:solidFill>
              <a:schemeClr val="tx1"/>
            </a:solidFill>
          </a:ln>
        </p:spPr>
        <p:txBody>
          <a:bodyPr wrap="square">
            <a:spAutoFit/>
          </a:bodyPr>
          <a:lstStyle/>
          <a:p>
            <a:r>
              <a:rPr lang="en-GB" sz="1600" dirty="0">
                <a:latin typeface="Courier New" panose="02070309020205020404" pitchFamily="49" charset="0"/>
                <a:cs typeface="Courier New" panose="02070309020205020404" pitchFamily="49" charset="0"/>
              </a:rPr>
              <a:t>ls -</a:t>
            </a:r>
            <a:r>
              <a:rPr lang="en-GB" sz="1600" dirty="0" err="1">
                <a:latin typeface="Courier New" panose="02070309020205020404" pitchFamily="49" charset="0"/>
                <a:cs typeface="Courier New" panose="02070309020205020404" pitchFamily="49" charset="0"/>
              </a:rPr>
              <a:t>lh</a:t>
            </a:r>
            <a:r>
              <a:rPr lang="en-GB" sz="1600" dirty="0">
                <a:latin typeface="Courier New" panose="02070309020205020404" pitchFamily="49" charset="0"/>
                <a:cs typeface="Courier New" panose="02070309020205020404" pitchFamily="49" charset="0"/>
              </a:rPr>
              <a:t> results/day1_qc/</a:t>
            </a:r>
            <a:r>
              <a:rPr lang="en-GB" sz="1600" dirty="0" err="1">
                <a:latin typeface="Courier New" panose="02070309020205020404" pitchFamily="49" charset="0"/>
                <a:cs typeface="Courier New" panose="02070309020205020404" pitchFamily="49" charset="0"/>
              </a:rPr>
              <a:t>trimmed_fastq</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rnaseq</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trimmed.fastq.gz</a:t>
            </a:r>
            <a:endParaRPr lang="en-GB" sz="1600"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AAC0539C-6172-60C2-BBBF-69385027C694}"/>
              </a:ext>
            </a:extLst>
          </p:cNvPr>
          <p:cNvSpPr txBox="1"/>
          <p:nvPr/>
        </p:nvSpPr>
        <p:spPr>
          <a:xfrm>
            <a:off x="134470" y="4235629"/>
            <a:ext cx="6205728" cy="2062103"/>
          </a:xfrm>
          <a:prstGeom prst="rect">
            <a:avLst/>
          </a:prstGeom>
          <a:noFill/>
          <a:ln>
            <a:solidFill>
              <a:schemeClr val="tx1"/>
            </a:solidFill>
          </a:ln>
        </p:spPr>
        <p:txBody>
          <a:bodyPr wrap="square">
            <a:spAutoFit/>
          </a:bodyPr>
          <a:lstStyle/>
          <a:p>
            <a:r>
              <a:rPr lang="en-GB" sz="1600" dirty="0">
                <a:latin typeface="Courier New" panose="02070309020205020404" pitchFamily="49" charset="0"/>
                <a:cs typeface="Courier New" panose="02070309020205020404" pitchFamily="49" charset="0"/>
              </a:rPr>
              <a:t>ls -</a:t>
            </a:r>
            <a:r>
              <a:rPr lang="en-GB" sz="1600" dirty="0" err="1">
                <a:latin typeface="Courier New" panose="02070309020205020404" pitchFamily="49" charset="0"/>
                <a:cs typeface="Courier New" panose="02070309020205020404" pitchFamily="49" charset="0"/>
              </a:rPr>
              <a:t>lh</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reference_genome</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genome.fa</a:t>
            </a:r>
            <a:endParaRPr lang="en-GB" sz="1600" dirty="0">
              <a:latin typeface="Courier New" panose="02070309020205020404" pitchFamily="49" charset="0"/>
              <a:cs typeface="Courier New" panose="02070309020205020404" pitchFamily="49" charset="0"/>
            </a:endParaRPr>
          </a:p>
          <a:p>
            <a:r>
              <a:rPr lang="en-GB" sz="1600" dirty="0">
                <a:latin typeface="Courier New" panose="02070309020205020404" pitchFamily="49" charset="0"/>
                <a:cs typeface="Courier New" panose="02070309020205020404" pitchFamily="49" charset="0"/>
              </a:rPr>
              <a:t>ls -</a:t>
            </a:r>
            <a:r>
              <a:rPr lang="en-GB" sz="1600" dirty="0" err="1">
                <a:latin typeface="Courier New" panose="02070309020205020404" pitchFamily="49" charset="0"/>
                <a:cs typeface="Courier New" panose="02070309020205020404" pitchFamily="49" charset="0"/>
              </a:rPr>
              <a:t>lh</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reference_genome</a:t>
            </a:r>
            <a:r>
              <a:rPr lang="en-GB" sz="1600" dirty="0">
                <a:latin typeface="Courier New" panose="02070309020205020404" pitchFamily="49" charset="0"/>
                <a:cs typeface="Courier New" panose="02070309020205020404" pitchFamily="49" charset="0"/>
              </a:rPr>
              <a:t>/annotation.gff3</a:t>
            </a:r>
          </a:p>
          <a:p>
            <a:r>
              <a:rPr lang="en-GB" sz="1600" dirty="0">
                <a:latin typeface="Courier New" panose="02070309020205020404" pitchFamily="49" charset="0"/>
                <a:cs typeface="Courier New" panose="02070309020205020404" pitchFamily="49" charset="0"/>
              </a:rPr>
              <a:t>ls -</a:t>
            </a:r>
            <a:r>
              <a:rPr lang="en-GB" sz="1600" dirty="0" err="1">
                <a:latin typeface="Courier New" panose="02070309020205020404" pitchFamily="49" charset="0"/>
                <a:cs typeface="Courier New" panose="02070309020205020404" pitchFamily="49" charset="0"/>
              </a:rPr>
              <a:t>lh</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reference_genome</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genes.bed</a:t>
            </a:r>
            <a:endParaRPr lang="en-GB" sz="1600" dirty="0">
              <a:latin typeface="Courier New" panose="02070309020205020404" pitchFamily="49" charset="0"/>
              <a:cs typeface="Courier New" panose="02070309020205020404" pitchFamily="49" charset="0"/>
            </a:endParaRPr>
          </a:p>
          <a:p>
            <a:r>
              <a:rPr lang="en-GB" sz="1600" dirty="0">
                <a:latin typeface="Courier New" panose="02070309020205020404" pitchFamily="49" charset="0"/>
                <a:cs typeface="Courier New" panose="02070309020205020404" pitchFamily="49" charset="0"/>
              </a:rPr>
              <a:t>grep '^&gt;' </a:t>
            </a:r>
            <a:r>
              <a:rPr lang="en-GB" sz="1600" dirty="0" err="1">
                <a:latin typeface="Courier New" panose="02070309020205020404" pitchFamily="49" charset="0"/>
                <a:cs typeface="Courier New" panose="02070309020205020404" pitchFamily="49" charset="0"/>
              </a:rPr>
              <a:t>reference_genome</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genome.fa</a:t>
            </a:r>
            <a:r>
              <a:rPr lang="en-GB" sz="1600" dirty="0">
                <a:latin typeface="Courier New" panose="02070309020205020404" pitchFamily="49" charset="0"/>
                <a:cs typeface="Courier New" panose="02070309020205020404" pitchFamily="49" charset="0"/>
              </a:rPr>
              <a:t> | grep 'NZ_AP026446.1'</a:t>
            </a:r>
          </a:p>
          <a:p>
            <a:r>
              <a:rPr lang="en-GB" sz="1600" dirty="0">
                <a:latin typeface="Courier New" panose="02070309020205020404" pitchFamily="49" charset="0"/>
                <a:cs typeface="Courier New" panose="02070309020205020404" pitchFamily="49" charset="0"/>
              </a:rPr>
              <a:t>grep -v '^#' </a:t>
            </a:r>
            <a:r>
              <a:rPr lang="en-GB" sz="1600" dirty="0" err="1">
                <a:latin typeface="Courier New" panose="02070309020205020404" pitchFamily="49" charset="0"/>
                <a:cs typeface="Courier New" panose="02070309020205020404" pitchFamily="49" charset="0"/>
              </a:rPr>
              <a:t>reference_genome</a:t>
            </a:r>
            <a:r>
              <a:rPr lang="en-GB" sz="1600" dirty="0">
                <a:latin typeface="Courier New" panose="02070309020205020404" pitchFamily="49" charset="0"/>
                <a:cs typeface="Courier New" panose="02070309020205020404" pitchFamily="49" charset="0"/>
              </a:rPr>
              <a:t>/annotation.gff3 | head -1</a:t>
            </a:r>
          </a:p>
          <a:p>
            <a:r>
              <a:rPr lang="en-GB" sz="1600" dirty="0">
                <a:latin typeface="Courier New" panose="02070309020205020404" pitchFamily="49" charset="0"/>
                <a:cs typeface="Courier New" panose="02070309020205020404" pitchFamily="49" charset="0"/>
              </a:rPr>
              <a:t>head -1 </a:t>
            </a:r>
            <a:r>
              <a:rPr lang="en-GB" sz="1600" dirty="0" err="1">
                <a:latin typeface="Courier New" panose="02070309020205020404" pitchFamily="49" charset="0"/>
                <a:cs typeface="Courier New" panose="02070309020205020404" pitchFamily="49" charset="0"/>
              </a:rPr>
              <a:t>reference_genome</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genes.bed</a:t>
            </a:r>
            <a:endParaRPr lang="en-GB" sz="1600" dirty="0">
              <a:latin typeface="Courier New" panose="02070309020205020404" pitchFamily="49" charset="0"/>
              <a:cs typeface="Courier New" panose="02070309020205020404" pitchFamily="49" charset="0"/>
            </a:endParaRPr>
          </a:p>
        </p:txBody>
      </p:sp>
      <p:sp>
        <p:nvSpPr>
          <p:cNvPr id="15" name="TextBox 14">
            <a:extLst>
              <a:ext uri="{FF2B5EF4-FFF2-40B4-BE49-F238E27FC236}">
                <a16:creationId xmlns:a16="http://schemas.microsoft.com/office/drawing/2014/main" id="{F88F22B0-E0E2-B4FD-CB1B-5CA078F4E80E}"/>
              </a:ext>
            </a:extLst>
          </p:cNvPr>
          <p:cNvSpPr txBox="1"/>
          <p:nvPr/>
        </p:nvSpPr>
        <p:spPr>
          <a:xfrm>
            <a:off x="356974" y="2761417"/>
            <a:ext cx="5760720" cy="369332"/>
          </a:xfrm>
          <a:prstGeom prst="rect">
            <a:avLst/>
          </a:prstGeom>
          <a:noFill/>
        </p:spPr>
        <p:txBody>
          <a:bodyPr wrap="square">
            <a:spAutoFit/>
          </a:bodyPr>
          <a:lstStyle/>
          <a:p>
            <a:r>
              <a:rPr lang="en-IT" dirty="0"/>
              <a:t>Check that the RNA-seq trimmed FASTQ files are present:</a:t>
            </a:r>
            <a:endParaRPr lang="en-GB" dirty="0"/>
          </a:p>
        </p:txBody>
      </p:sp>
      <p:sp>
        <p:nvSpPr>
          <p:cNvPr id="16" name="TextBox 15">
            <a:extLst>
              <a:ext uri="{FF2B5EF4-FFF2-40B4-BE49-F238E27FC236}">
                <a16:creationId xmlns:a16="http://schemas.microsoft.com/office/drawing/2014/main" id="{18465032-2399-F2FF-0B5A-8A0B7DDCD82E}"/>
              </a:ext>
            </a:extLst>
          </p:cNvPr>
          <p:cNvSpPr txBox="1"/>
          <p:nvPr/>
        </p:nvSpPr>
        <p:spPr>
          <a:xfrm>
            <a:off x="134470" y="3916219"/>
            <a:ext cx="6205728" cy="369332"/>
          </a:xfrm>
          <a:prstGeom prst="rect">
            <a:avLst/>
          </a:prstGeom>
          <a:noFill/>
        </p:spPr>
        <p:txBody>
          <a:bodyPr wrap="square">
            <a:spAutoFit/>
          </a:bodyPr>
          <a:lstStyle/>
          <a:p>
            <a:r>
              <a:rPr lang="en-IT" dirty="0"/>
              <a:t>Check that the reference genome and annotation are present:</a:t>
            </a:r>
            <a:endParaRPr lang="en-GB" dirty="0"/>
          </a:p>
        </p:txBody>
      </p:sp>
      <p:sp>
        <p:nvSpPr>
          <p:cNvPr id="18" name="TextBox 17">
            <a:extLst>
              <a:ext uri="{FF2B5EF4-FFF2-40B4-BE49-F238E27FC236}">
                <a16:creationId xmlns:a16="http://schemas.microsoft.com/office/drawing/2014/main" id="{B7A616AA-354C-DD02-E424-9AD981BD9704}"/>
              </a:ext>
            </a:extLst>
          </p:cNvPr>
          <p:cNvSpPr txBox="1"/>
          <p:nvPr/>
        </p:nvSpPr>
        <p:spPr>
          <a:xfrm>
            <a:off x="7592568" y="3298670"/>
            <a:ext cx="3761232" cy="584775"/>
          </a:xfrm>
          <a:prstGeom prst="rect">
            <a:avLst/>
          </a:prstGeom>
          <a:noFill/>
          <a:ln>
            <a:solidFill>
              <a:schemeClr val="tx1"/>
            </a:solidFill>
          </a:ln>
        </p:spPr>
        <p:txBody>
          <a:bodyPr wrap="square">
            <a:spAutoFit/>
          </a:bodyPr>
          <a:lstStyle/>
          <a:p>
            <a:r>
              <a:rPr lang="en-GB" sz="1600" dirty="0" err="1">
                <a:latin typeface="Courier New" panose="02070309020205020404" pitchFamily="49" charset="0"/>
                <a:cs typeface="Courier New" panose="02070309020205020404" pitchFamily="49" charset="0"/>
              </a:rPr>
              <a:t>mkdir</a:t>
            </a:r>
            <a:r>
              <a:rPr lang="en-GB" sz="1600" dirty="0">
                <a:latin typeface="Courier New" panose="02070309020205020404" pitchFamily="49" charset="0"/>
                <a:cs typeface="Courier New" panose="02070309020205020404" pitchFamily="49" charset="0"/>
              </a:rPr>
              <a:t> -p scripts/day2_rnaseq</a:t>
            </a:r>
          </a:p>
          <a:p>
            <a:r>
              <a:rPr lang="en-GB" sz="1600" dirty="0" err="1">
                <a:latin typeface="Courier New" panose="02070309020205020404" pitchFamily="49" charset="0"/>
                <a:cs typeface="Courier New" panose="02070309020205020404" pitchFamily="49" charset="0"/>
              </a:rPr>
              <a:t>mkdir</a:t>
            </a:r>
            <a:r>
              <a:rPr lang="en-GB" sz="1600" dirty="0">
                <a:latin typeface="Courier New" panose="02070309020205020404" pitchFamily="49" charset="0"/>
                <a:cs typeface="Courier New" panose="02070309020205020404" pitchFamily="49" charset="0"/>
              </a:rPr>
              <a:t> -p results/logs/day2</a:t>
            </a:r>
          </a:p>
        </p:txBody>
      </p:sp>
      <p:sp>
        <p:nvSpPr>
          <p:cNvPr id="20" name="TextBox 19">
            <a:extLst>
              <a:ext uri="{FF2B5EF4-FFF2-40B4-BE49-F238E27FC236}">
                <a16:creationId xmlns:a16="http://schemas.microsoft.com/office/drawing/2014/main" id="{C2C16D08-ABB3-E40D-9249-51D696E1002B}"/>
              </a:ext>
            </a:extLst>
          </p:cNvPr>
          <p:cNvSpPr txBox="1"/>
          <p:nvPr/>
        </p:nvSpPr>
        <p:spPr>
          <a:xfrm>
            <a:off x="7866888" y="2762970"/>
            <a:ext cx="3212592" cy="367779"/>
          </a:xfrm>
          <a:prstGeom prst="rect">
            <a:avLst/>
          </a:prstGeom>
          <a:noFill/>
        </p:spPr>
        <p:txBody>
          <a:bodyPr wrap="square">
            <a:spAutoFit/>
          </a:bodyPr>
          <a:lstStyle/>
          <a:p>
            <a:r>
              <a:rPr lang="en-IT" sz="1800" b="0" i="0" dirty="0">
                <a:solidFill>
                  <a:schemeClr val="tx1"/>
                </a:solidFill>
                <a:effectLst/>
                <a:latin typeface="+mn-lt"/>
              </a:rPr>
              <a:t>Prepare the Day 2 folders:</a:t>
            </a:r>
            <a:endParaRPr lang="en-GB" dirty="0"/>
          </a:p>
        </p:txBody>
      </p:sp>
    </p:spTree>
    <p:extLst>
      <p:ext uri="{BB962C8B-B14F-4D97-AF65-F5344CB8AC3E}">
        <p14:creationId xmlns:p14="http://schemas.microsoft.com/office/powerpoint/2010/main" val="168895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A23C1A7-6405-AE88-BDF7-00A8FF1BD4C1}"/>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4947BAA4-4A91-615F-F706-EB427F2A70BE}"/>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0A82D104-32AC-2AEB-CEF7-3E66B027EC03}"/>
              </a:ext>
            </a:extLst>
          </p:cNvPr>
          <p:cNvSpPr>
            <a:spLocks noGrp="1"/>
          </p:cNvSpPr>
          <p:nvPr>
            <p:ph type="sldNum" sz="quarter" idx="12"/>
          </p:nvPr>
        </p:nvSpPr>
        <p:spPr/>
        <p:txBody>
          <a:bodyPr/>
          <a:lstStyle/>
          <a:p>
            <a:fld id="{62E92BA6-6E87-3343-8D2C-B7A656D628E4}" type="slidenum">
              <a:rPr lang="en-GB" smtClean="0"/>
              <a:t>4</a:t>
            </a:fld>
            <a:endParaRPr lang="en-GB"/>
          </a:p>
        </p:txBody>
      </p:sp>
    </p:spTree>
    <p:extLst>
      <p:ext uri="{BB962C8B-B14F-4D97-AF65-F5344CB8AC3E}">
        <p14:creationId xmlns:p14="http://schemas.microsoft.com/office/powerpoint/2010/main" val="831820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99049-D746-AB96-3824-E6700F1A3829}"/>
              </a:ext>
            </a:extLst>
          </p:cNvPr>
          <p:cNvSpPr>
            <a:spLocks noGrp="1"/>
          </p:cNvSpPr>
          <p:nvPr>
            <p:ph type="title"/>
          </p:nvPr>
        </p:nvSpPr>
        <p:spPr>
          <a:xfrm>
            <a:off x="134470" y="122282"/>
            <a:ext cx="9680090" cy="833766"/>
          </a:xfrm>
        </p:spPr>
        <p:txBody>
          <a:bodyPr>
            <a:noAutofit/>
          </a:bodyPr>
          <a:lstStyle/>
          <a:p>
            <a:r>
              <a:rPr lang="en-IT" sz="3600" b="1" dirty="0"/>
              <a:t>Reference-based RNA-seq FASTQ mapping</a:t>
            </a:r>
            <a:br>
              <a:rPr lang="en-IT" sz="3600" b="1" dirty="0"/>
            </a:br>
            <a:endParaRPr lang="en-GB" sz="3600" dirty="0"/>
          </a:p>
        </p:txBody>
      </p:sp>
      <p:sp>
        <p:nvSpPr>
          <p:cNvPr id="3" name="Content Placeholder 2">
            <a:extLst>
              <a:ext uri="{FF2B5EF4-FFF2-40B4-BE49-F238E27FC236}">
                <a16:creationId xmlns:a16="http://schemas.microsoft.com/office/drawing/2014/main" id="{9FDD377E-BB52-1E2B-AF10-A594EB137130}"/>
              </a:ext>
            </a:extLst>
          </p:cNvPr>
          <p:cNvSpPr>
            <a:spLocks noGrp="1"/>
          </p:cNvSpPr>
          <p:nvPr>
            <p:ph idx="1"/>
          </p:nvPr>
        </p:nvSpPr>
        <p:spPr>
          <a:xfrm>
            <a:off x="398929" y="956049"/>
            <a:ext cx="11192435" cy="1397008"/>
          </a:xfrm>
        </p:spPr>
        <p:txBody>
          <a:bodyPr/>
          <a:lstStyle/>
          <a:p>
            <a:pPr marL="0" indent="0">
              <a:buNone/>
            </a:pPr>
            <a:r>
              <a:rPr lang="en-IT" dirty="0"/>
              <a:t>RNA-seq mapping asks where each sequenced read, or read pair, fits on a reference sequence. The input is FASTQ. The output is an alignment file that records the genomic position and alignment details for each read.</a:t>
            </a:r>
            <a:endParaRPr lang="en-GB" dirty="0"/>
          </a:p>
        </p:txBody>
      </p:sp>
      <p:sp>
        <p:nvSpPr>
          <p:cNvPr id="4" name="Date Placeholder 3">
            <a:extLst>
              <a:ext uri="{FF2B5EF4-FFF2-40B4-BE49-F238E27FC236}">
                <a16:creationId xmlns:a16="http://schemas.microsoft.com/office/drawing/2014/main" id="{BEF1D5EE-BD85-C27D-1465-717F414E58D4}"/>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0F0CFEC4-4F66-4DE6-E019-DEA31D1717CF}"/>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66418AA7-4439-07E9-CE33-5612835A742E}"/>
              </a:ext>
            </a:extLst>
          </p:cNvPr>
          <p:cNvSpPr>
            <a:spLocks noGrp="1"/>
          </p:cNvSpPr>
          <p:nvPr>
            <p:ph type="sldNum" sz="quarter" idx="12"/>
          </p:nvPr>
        </p:nvSpPr>
        <p:spPr/>
        <p:txBody>
          <a:bodyPr/>
          <a:lstStyle/>
          <a:p>
            <a:fld id="{62E92BA6-6E87-3343-8D2C-B7A656D628E4}" type="slidenum">
              <a:rPr lang="en-GB" smtClean="0"/>
              <a:t>5</a:t>
            </a:fld>
            <a:endParaRPr lang="en-GB"/>
          </a:p>
        </p:txBody>
      </p:sp>
      <p:sp>
        <p:nvSpPr>
          <p:cNvPr id="7" name="TextBox 6">
            <a:extLst>
              <a:ext uri="{FF2B5EF4-FFF2-40B4-BE49-F238E27FC236}">
                <a16:creationId xmlns:a16="http://schemas.microsoft.com/office/drawing/2014/main" id="{5FCE998C-9F1C-762B-FBA9-B6D853482C52}"/>
              </a:ext>
            </a:extLst>
          </p:cNvPr>
          <p:cNvSpPr txBox="1"/>
          <p:nvPr/>
        </p:nvSpPr>
        <p:spPr>
          <a:xfrm>
            <a:off x="398929" y="2353057"/>
            <a:ext cx="5322996" cy="1569660"/>
          </a:xfrm>
          <a:prstGeom prst="rect">
            <a:avLst/>
          </a:prstGeom>
          <a:noFill/>
        </p:spPr>
        <p:txBody>
          <a:bodyPr wrap="none" rtlCol="0">
            <a:spAutoFit/>
          </a:bodyPr>
          <a:lstStyle/>
          <a:p>
            <a:r>
              <a:rPr lang="en-GB" sz="2400" dirty="0">
                <a:solidFill>
                  <a:schemeClr val="accent1">
                    <a:lumMod val="75000"/>
                  </a:schemeClr>
                </a:solidFill>
              </a:rPr>
              <a:t>Ingredients for read mapping:</a:t>
            </a:r>
          </a:p>
          <a:p>
            <a:pPr marL="285750" lvl="0" indent="-285750">
              <a:buFont typeface="Wingdings" pitchFamily="2" charset="2"/>
              <a:buChar char="Ø"/>
            </a:pPr>
            <a:r>
              <a:rPr lang="en-IT" sz="2400" dirty="0"/>
              <a:t> trimmed FASTQ files from Day 1</a:t>
            </a:r>
          </a:p>
          <a:p>
            <a:pPr marL="285750" lvl="0" indent="-285750">
              <a:buFont typeface="Wingdings" pitchFamily="2" charset="2"/>
              <a:buChar char="Ø"/>
            </a:pPr>
            <a:r>
              <a:rPr lang="en-IT" sz="2400" dirty="0"/>
              <a:t> a reference genome FASTA</a:t>
            </a:r>
          </a:p>
          <a:p>
            <a:pPr marL="285750" lvl="0" indent="-285750">
              <a:buFont typeface="Wingdings" pitchFamily="2" charset="2"/>
              <a:buChar char="Ø"/>
            </a:pPr>
            <a:r>
              <a:rPr lang="en-IT" sz="2400" dirty="0"/>
              <a:t> an aligner </a:t>
            </a:r>
            <a:r>
              <a:rPr lang="en-IT" sz="2400" dirty="0">
                <a:solidFill>
                  <a:srgbClr val="FF0000"/>
                </a:solidFill>
              </a:rPr>
              <a:t>index</a:t>
            </a:r>
            <a:r>
              <a:rPr lang="en-IT" sz="2400" dirty="0"/>
              <a:t> built from that FASTA</a:t>
            </a:r>
          </a:p>
        </p:txBody>
      </p:sp>
      <p:sp>
        <p:nvSpPr>
          <p:cNvPr id="8" name="TextBox 7">
            <a:extLst>
              <a:ext uri="{FF2B5EF4-FFF2-40B4-BE49-F238E27FC236}">
                <a16:creationId xmlns:a16="http://schemas.microsoft.com/office/drawing/2014/main" id="{A4F065D0-484C-08D7-DC5E-3DDC028D7C62}"/>
              </a:ext>
            </a:extLst>
          </p:cNvPr>
          <p:cNvSpPr txBox="1"/>
          <p:nvPr/>
        </p:nvSpPr>
        <p:spPr>
          <a:xfrm>
            <a:off x="6179123" y="2506660"/>
            <a:ext cx="5400679" cy="1200329"/>
          </a:xfrm>
          <a:prstGeom prst="rect">
            <a:avLst/>
          </a:prstGeom>
          <a:noFill/>
          <a:ln>
            <a:solidFill>
              <a:schemeClr val="tx1"/>
            </a:solidFill>
          </a:ln>
        </p:spPr>
        <p:txBody>
          <a:bodyPr wrap="square" rtlCol="0">
            <a:spAutoFit/>
          </a:bodyPr>
          <a:lstStyle/>
          <a:p>
            <a:r>
              <a:rPr lang="en-IT" i="1" dirty="0"/>
              <a:t>must search for possible locations for millions of reads. Searching the FASTA sequence from beginning to end for every read would be inefficient, so indexes are compact files that allows aligner to search positions efficiently.</a:t>
            </a:r>
            <a:endParaRPr lang="en-GB" i="1" dirty="0"/>
          </a:p>
        </p:txBody>
      </p:sp>
      <p:sp>
        <p:nvSpPr>
          <p:cNvPr id="12" name="TextBox 11">
            <a:extLst>
              <a:ext uri="{FF2B5EF4-FFF2-40B4-BE49-F238E27FC236}">
                <a16:creationId xmlns:a16="http://schemas.microsoft.com/office/drawing/2014/main" id="{BBC64342-F539-E61D-2463-A3B4A78DED20}"/>
              </a:ext>
            </a:extLst>
          </p:cNvPr>
          <p:cNvSpPr txBox="1"/>
          <p:nvPr/>
        </p:nvSpPr>
        <p:spPr>
          <a:xfrm>
            <a:off x="4145919" y="4504944"/>
            <a:ext cx="4733544" cy="954107"/>
          </a:xfrm>
          <a:prstGeom prst="rect">
            <a:avLst/>
          </a:prstGeom>
          <a:noFill/>
        </p:spPr>
        <p:txBody>
          <a:bodyPr wrap="square">
            <a:spAutoFit/>
          </a:bodyPr>
          <a:lstStyle/>
          <a:p>
            <a:pPr algn="ctr"/>
            <a:r>
              <a:rPr lang="en-IT" sz="2800" dirty="0"/>
              <a:t>An alignment is an </a:t>
            </a:r>
            <a:r>
              <a:rPr lang="en-IT" sz="2800" b="1" dirty="0">
                <a:solidFill>
                  <a:srgbClr val="FF0000"/>
                </a:solidFill>
              </a:rPr>
              <a:t>inference</a:t>
            </a:r>
            <a:r>
              <a:rPr lang="en-IT" sz="2800" dirty="0"/>
              <a:t>, not simply a string match.</a:t>
            </a:r>
            <a:endParaRPr lang="en-GB" sz="2800" dirty="0"/>
          </a:p>
        </p:txBody>
      </p:sp>
    </p:spTree>
    <p:extLst>
      <p:ext uri="{BB962C8B-B14F-4D97-AF65-F5344CB8AC3E}">
        <p14:creationId xmlns:p14="http://schemas.microsoft.com/office/powerpoint/2010/main" val="2081795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572D0-4F4E-B378-7858-110D38655721}"/>
              </a:ext>
            </a:extLst>
          </p:cNvPr>
          <p:cNvSpPr>
            <a:spLocks noGrp="1"/>
          </p:cNvSpPr>
          <p:nvPr>
            <p:ph type="title"/>
          </p:nvPr>
        </p:nvSpPr>
        <p:spPr/>
        <p:txBody>
          <a:bodyPr>
            <a:normAutofit fontScale="90000"/>
          </a:bodyPr>
          <a:lstStyle/>
          <a:p>
            <a:r>
              <a:rPr lang="en-GB" dirty="0"/>
              <a:t>Several aligner serve different purposes:</a:t>
            </a:r>
          </a:p>
        </p:txBody>
      </p:sp>
      <p:sp>
        <p:nvSpPr>
          <p:cNvPr id="3" name="Content Placeholder 2">
            <a:extLst>
              <a:ext uri="{FF2B5EF4-FFF2-40B4-BE49-F238E27FC236}">
                <a16:creationId xmlns:a16="http://schemas.microsoft.com/office/drawing/2014/main" id="{A5516380-0574-6B70-9A24-FE96CB3580B2}"/>
              </a:ext>
            </a:extLst>
          </p:cNvPr>
          <p:cNvSpPr>
            <a:spLocks noGrp="1"/>
          </p:cNvSpPr>
          <p:nvPr>
            <p:ph idx="1"/>
          </p:nvPr>
        </p:nvSpPr>
        <p:spPr>
          <a:xfrm>
            <a:off x="398929" y="956049"/>
            <a:ext cx="11192435" cy="1043440"/>
          </a:xfrm>
        </p:spPr>
        <p:txBody>
          <a:bodyPr/>
          <a:lstStyle/>
          <a:p>
            <a:pPr marL="0" indent="0">
              <a:buNone/>
            </a:pPr>
            <a:r>
              <a:rPr lang="en-IT" dirty="0"/>
              <a:t>The alignment strategy depends on both the biological structure of the target and the analytical aim!</a:t>
            </a:r>
            <a:endParaRPr lang="en-GB" dirty="0"/>
          </a:p>
        </p:txBody>
      </p:sp>
      <p:sp>
        <p:nvSpPr>
          <p:cNvPr id="4" name="Date Placeholder 3">
            <a:extLst>
              <a:ext uri="{FF2B5EF4-FFF2-40B4-BE49-F238E27FC236}">
                <a16:creationId xmlns:a16="http://schemas.microsoft.com/office/drawing/2014/main" id="{19C26856-3131-BAA2-211F-41518BDC3721}"/>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B4262A9E-8E5B-D700-5327-3359341BA2C8}"/>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FE524976-86C9-7791-8CBC-BEE8CE8272A0}"/>
              </a:ext>
            </a:extLst>
          </p:cNvPr>
          <p:cNvSpPr>
            <a:spLocks noGrp="1"/>
          </p:cNvSpPr>
          <p:nvPr>
            <p:ph type="sldNum" sz="quarter" idx="12"/>
          </p:nvPr>
        </p:nvSpPr>
        <p:spPr/>
        <p:txBody>
          <a:bodyPr/>
          <a:lstStyle/>
          <a:p>
            <a:fld id="{62E92BA6-6E87-3343-8D2C-B7A656D628E4}" type="slidenum">
              <a:rPr lang="en-GB" smtClean="0"/>
              <a:t>6</a:t>
            </a:fld>
            <a:endParaRPr lang="en-GB"/>
          </a:p>
        </p:txBody>
      </p:sp>
      <p:sp>
        <p:nvSpPr>
          <p:cNvPr id="7" name="TextBox 6">
            <a:extLst>
              <a:ext uri="{FF2B5EF4-FFF2-40B4-BE49-F238E27FC236}">
                <a16:creationId xmlns:a16="http://schemas.microsoft.com/office/drawing/2014/main" id="{CD85ED58-A6E6-1032-E07A-18EE303E6933}"/>
              </a:ext>
            </a:extLst>
          </p:cNvPr>
          <p:cNvSpPr txBox="1"/>
          <p:nvPr/>
        </p:nvSpPr>
        <p:spPr>
          <a:xfrm>
            <a:off x="3843458" y="2265843"/>
            <a:ext cx="1327864" cy="461665"/>
          </a:xfrm>
          <a:prstGeom prst="rect">
            <a:avLst/>
          </a:prstGeom>
          <a:noFill/>
        </p:spPr>
        <p:txBody>
          <a:bodyPr wrap="none" rtlCol="0">
            <a:spAutoFit/>
          </a:bodyPr>
          <a:lstStyle/>
          <a:p>
            <a:pPr algn="r"/>
            <a:r>
              <a:rPr lang="en-GB" sz="2400" dirty="0"/>
              <a:t>We have:</a:t>
            </a:r>
          </a:p>
        </p:txBody>
      </p:sp>
      <p:sp>
        <p:nvSpPr>
          <p:cNvPr id="9" name="TextBox 8">
            <a:extLst>
              <a:ext uri="{FF2B5EF4-FFF2-40B4-BE49-F238E27FC236}">
                <a16:creationId xmlns:a16="http://schemas.microsoft.com/office/drawing/2014/main" id="{7AF242E3-B29D-99C0-14A4-2EE35E4F276D}"/>
              </a:ext>
            </a:extLst>
          </p:cNvPr>
          <p:cNvSpPr txBox="1"/>
          <p:nvPr/>
        </p:nvSpPr>
        <p:spPr>
          <a:xfrm>
            <a:off x="6449568" y="1365759"/>
            <a:ext cx="4114800" cy="923330"/>
          </a:xfrm>
          <a:prstGeom prst="rect">
            <a:avLst/>
          </a:prstGeom>
          <a:noFill/>
        </p:spPr>
        <p:txBody>
          <a:bodyPr wrap="square">
            <a:spAutoFit/>
          </a:bodyPr>
          <a:lstStyle/>
          <a:p>
            <a:r>
              <a:rPr lang="en-IT" sz="1800" b="0" i="0" dirty="0">
                <a:solidFill>
                  <a:schemeClr val="tx1"/>
                </a:solidFill>
                <a:effectLst/>
                <a:latin typeface="+mn-lt"/>
              </a:rPr>
              <a:t>Full aligners try to place each read or read pair at one or more genomic or transcriptomic coordinates.</a:t>
            </a:r>
            <a:endParaRPr lang="en-GB" dirty="0"/>
          </a:p>
        </p:txBody>
      </p:sp>
      <p:sp>
        <p:nvSpPr>
          <p:cNvPr id="10" name="TextBox 9">
            <a:extLst>
              <a:ext uri="{FF2B5EF4-FFF2-40B4-BE49-F238E27FC236}">
                <a16:creationId xmlns:a16="http://schemas.microsoft.com/office/drawing/2014/main" id="{14BF9239-86D8-C556-B08F-9DFCE94DCF5C}"/>
              </a:ext>
            </a:extLst>
          </p:cNvPr>
          <p:cNvSpPr txBox="1"/>
          <p:nvPr/>
        </p:nvSpPr>
        <p:spPr>
          <a:xfrm>
            <a:off x="6565392" y="2320691"/>
            <a:ext cx="5400679" cy="2308324"/>
          </a:xfrm>
          <a:prstGeom prst="rect">
            <a:avLst/>
          </a:prstGeom>
          <a:noFill/>
          <a:ln>
            <a:solidFill>
              <a:schemeClr val="tx1"/>
            </a:solidFill>
          </a:ln>
        </p:spPr>
        <p:txBody>
          <a:bodyPr wrap="square" rtlCol="0">
            <a:spAutoFit/>
          </a:bodyPr>
          <a:lstStyle/>
          <a:p>
            <a:r>
              <a:rPr lang="en-GB" sz="2400" dirty="0">
                <a:solidFill>
                  <a:srgbClr val="FF0000"/>
                </a:solidFill>
              </a:rPr>
              <a:t>Method</a:t>
            </a:r>
            <a:r>
              <a:rPr lang="en-GB" sz="2400" dirty="0"/>
              <a:t>: Seed-and-extend:</a:t>
            </a:r>
          </a:p>
          <a:p>
            <a:endParaRPr lang="en-GB" sz="2400" dirty="0"/>
          </a:p>
          <a:p>
            <a:pPr marL="285750" lvl="0" indent="-285750">
              <a:buFont typeface="Wingdings" pitchFamily="2" charset="2"/>
              <a:buChar char="v"/>
            </a:pPr>
            <a:r>
              <a:rPr lang="en-IT" sz="1600" dirty="0"/>
              <a:t>split or sample short exact pieces of the read called seeds;</a:t>
            </a:r>
          </a:p>
          <a:p>
            <a:pPr marL="285750" lvl="0" indent="-285750">
              <a:buFont typeface="Wingdings" pitchFamily="2" charset="2"/>
              <a:buChar char="v"/>
            </a:pPr>
            <a:r>
              <a:rPr lang="en-IT" sz="1600" dirty="0"/>
              <a:t>use the index to find seeds’s candidate reference positions </a:t>
            </a:r>
          </a:p>
          <a:p>
            <a:pPr marL="285750" lvl="0" indent="-285750">
              <a:buFont typeface="Wingdings" pitchFamily="2" charset="2"/>
              <a:buChar char="v"/>
            </a:pPr>
            <a:r>
              <a:rPr lang="en-IT" sz="1600" dirty="0"/>
              <a:t>extend them across the full read;</a:t>
            </a:r>
          </a:p>
          <a:p>
            <a:pPr marL="285750" lvl="0" indent="-285750">
              <a:buFont typeface="Wingdings" pitchFamily="2" charset="2"/>
              <a:buChar char="v"/>
            </a:pPr>
            <a:r>
              <a:rPr lang="en-IT" sz="1600" dirty="0"/>
              <a:t>score each alignment using matches, mismatches, gaps, clipping, base qualities, paired-end consistency;</a:t>
            </a:r>
          </a:p>
          <a:p>
            <a:pPr marL="285750" lvl="0" indent="-285750">
              <a:buFont typeface="Wingdings" pitchFamily="2" charset="2"/>
              <a:buChar char="v"/>
            </a:pPr>
            <a:r>
              <a:rPr lang="en-IT" sz="1600" dirty="0"/>
              <a:t>report the best alignment or alignments</a:t>
            </a:r>
          </a:p>
        </p:txBody>
      </p:sp>
      <p:cxnSp>
        <p:nvCxnSpPr>
          <p:cNvPr id="12" name="Straight Connector 11">
            <a:extLst>
              <a:ext uri="{FF2B5EF4-FFF2-40B4-BE49-F238E27FC236}">
                <a16:creationId xmlns:a16="http://schemas.microsoft.com/office/drawing/2014/main" id="{DE709350-5735-5EF5-53D6-BDAE2D990A23}"/>
              </a:ext>
            </a:extLst>
          </p:cNvPr>
          <p:cNvCxnSpPr>
            <a:cxnSpLocks/>
          </p:cNvCxnSpPr>
          <p:nvPr/>
        </p:nvCxnSpPr>
        <p:spPr>
          <a:xfrm flipV="1">
            <a:off x="5062964" y="2820339"/>
            <a:ext cx="1386604" cy="44374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CCEA42A-7761-BB91-4C4B-CF32C0D83D07}"/>
              </a:ext>
            </a:extLst>
          </p:cNvPr>
          <p:cNvSpPr txBox="1"/>
          <p:nvPr/>
        </p:nvSpPr>
        <p:spPr>
          <a:xfrm>
            <a:off x="690490" y="5280478"/>
            <a:ext cx="4785360" cy="923330"/>
          </a:xfrm>
          <a:prstGeom prst="rect">
            <a:avLst/>
          </a:prstGeom>
          <a:noFill/>
          <a:ln>
            <a:solidFill>
              <a:schemeClr val="tx1"/>
            </a:solidFill>
          </a:ln>
        </p:spPr>
        <p:txBody>
          <a:bodyPr wrap="square">
            <a:spAutoFit/>
          </a:bodyPr>
          <a:lstStyle/>
          <a:p>
            <a:r>
              <a:rPr lang="en-IT" sz="1800" b="0" i="0" dirty="0">
                <a:solidFill>
                  <a:schemeClr val="tx1"/>
                </a:solidFill>
                <a:effectLst/>
                <a:latin typeface="+mn-lt"/>
              </a:rPr>
              <a:t>They infer which transcript or set of transcripts is compatible with each read or fragment. This is very fast and useful for transcript quantification.</a:t>
            </a:r>
            <a:endParaRPr lang="en-GB" dirty="0"/>
          </a:p>
        </p:txBody>
      </p:sp>
      <p:cxnSp>
        <p:nvCxnSpPr>
          <p:cNvPr id="15" name="Straight Connector 14">
            <a:extLst>
              <a:ext uri="{FF2B5EF4-FFF2-40B4-BE49-F238E27FC236}">
                <a16:creationId xmlns:a16="http://schemas.microsoft.com/office/drawing/2014/main" id="{19C5AFA5-03D7-5070-58D2-849CF68417B2}"/>
              </a:ext>
            </a:extLst>
          </p:cNvPr>
          <p:cNvCxnSpPr>
            <a:cxnSpLocks/>
          </p:cNvCxnSpPr>
          <p:nvPr/>
        </p:nvCxnSpPr>
        <p:spPr>
          <a:xfrm>
            <a:off x="2257398" y="4525430"/>
            <a:ext cx="0" cy="60250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38F17FE-2BE2-EF88-A63B-E3ABC82C740B}"/>
              </a:ext>
            </a:extLst>
          </p:cNvPr>
          <p:cNvSpPr txBox="1"/>
          <p:nvPr/>
        </p:nvSpPr>
        <p:spPr>
          <a:xfrm>
            <a:off x="2532793" y="2933953"/>
            <a:ext cx="2638529" cy="461665"/>
          </a:xfrm>
          <a:prstGeom prst="rect">
            <a:avLst/>
          </a:prstGeom>
          <a:noFill/>
        </p:spPr>
        <p:txBody>
          <a:bodyPr wrap="square">
            <a:spAutoFit/>
          </a:bodyPr>
          <a:lstStyle/>
          <a:p>
            <a:pPr algn="r"/>
            <a:r>
              <a:rPr lang="en-GB" sz="2400" i="1" dirty="0"/>
              <a:t>Genome aligner tools</a:t>
            </a:r>
          </a:p>
        </p:txBody>
      </p:sp>
      <p:sp>
        <p:nvSpPr>
          <p:cNvPr id="16" name="TextBox 15">
            <a:extLst>
              <a:ext uri="{FF2B5EF4-FFF2-40B4-BE49-F238E27FC236}">
                <a16:creationId xmlns:a16="http://schemas.microsoft.com/office/drawing/2014/main" id="{C49E1549-5591-C619-F033-AB6BCC1217DA}"/>
              </a:ext>
            </a:extLst>
          </p:cNvPr>
          <p:cNvSpPr txBox="1"/>
          <p:nvPr/>
        </p:nvSpPr>
        <p:spPr>
          <a:xfrm>
            <a:off x="225929" y="3602062"/>
            <a:ext cx="4945393" cy="830997"/>
          </a:xfrm>
          <a:prstGeom prst="rect">
            <a:avLst/>
          </a:prstGeom>
          <a:noFill/>
        </p:spPr>
        <p:txBody>
          <a:bodyPr wrap="square">
            <a:spAutoFit/>
          </a:bodyPr>
          <a:lstStyle/>
          <a:p>
            <a:pPr algn="r"/>
            <a:r>
              <a:rPr lang="en-GB" sz="2400" dirty="0"/>
              <a:t>-</a:t>
            </a:r>
          </a:p>
          <a:p>
            <a:pPr algn="r"/>
            <a:r>
              <a:rPr lang="en-IT" sz="2400" i="1" dirty="0"/>
              <a:t>Pseudoalignment or quasi-alignment tools</a:t>
            </a:r>
            <a:endParaRPr lang="en-GB" sz="2400" i="1" dirty="0"/>
          </a:p>
        </p:txBody>
      </p:sp>
    </p:spTree>
    <p:extLst>
      <p:ext uri="{BB962C8B-B14F-4D97-AF65-F5344CB8AC3E}">
        <p14:creationId xmlns:p14="http://schemas.microsoft.com/office/powerpoint/2010/main" val="182759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4" grpId="0" animBg="1"/>
      <p:bldP spid="11"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20C6C-1572-E0CB-AD6A-168D60BBFC40}"/>
              </a:ext>
            </a:extLst>
          </p:cNvPr>
          <p:cNvSpPr>
            <a:spLocks noGrp="1"/>
          </p:cNvSpPr>
          <p:nvPr>
            <p:ph type="title"/>
          </p:nvPr>
        </p:nvSpPr>
        <p:spPr>
          <a:xfrm>
            <a:off x="367340" y="122282"/>
            <a:ext cx="11959129" cy="519627"/>
          </a:xfrm>
        </p:spPr>
        <p:txBody>
          <a:bodyPr>
            <a:noAutofit/>
          </a:bodyPr>
          <a:lstStyle/>
          <a:p>
            <a:r>
              <a:rPr lang="en-GB" sz="3600" i="1" dirty="0"/>
              <a:t>Aligners..</a:t>
            </a:r>
          </a:p>
        </p:txBody>
      </p:sp>
      <p:sp>
        <p:nvSpPr>
          <p:cNvPr id="4" name="Date Placeholder 3">
            <a:extLst>
              <a:ext uri="{FF2B5EF4-FFF2-40B4-BE49-F238E27FC236}">
                <a16:creationId xmlns:a16="http://schemas.microsoft.com/office/drawing/2014/main" id="{AA5E6959-2E94-BEDA-4CB5-CD50CA3723AA}"/>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EF450703-9EB0-7CC5-0B54-0C71E0425050}"/>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65BEBBE0-B173-1C66-096B-E8374CDAC72F}"/>
              </a:ext>
            </a:extLst>
          </p:cNvPr>
          <p:cNvSpPr>
            <a:spLocks noGrp="1"/>
          </p:cNvSpPr>
          <p:nvPr>
            <p:ph type="sldNum" sz="quarter" idx="12"/>
          </p:nvPr>
        </p:nvSpPr>
        <p:spPr/>
        <p:txBody>
          <a:bodyPr/>
          <a:lstStyle/>
          <a:p>
            <a:fld id="{62E92BA6-6E87-3343-8D2C-B7A656D628E4}" type="slidenum">
              <a:rPr lang="en-GB" smtClean="0"/>
              <a:t>7</a:t>
            </a:fld>
            <a:endParaRPr lang="en-GB"/>
          </a:p>
        </p:txBody>
      </p:sp>
      <p:pic>
        <p:nvPicPr>
          <p:cNvPr id="8" name="Picture 7">
            <a:extLst>
              <a:ext uri="{FF2B5EF4-FFF2-40B4-BE49-F238E27FC236}">
                <a16:creationId xmlns:a16="http://schemas.microsoft.com/office/drawing/2014/main" id="{0180140D-DDE1-5B6E-B4A0-DB078D364A88}"/>
              </a:ext>
            </a:extLst>
          </p:cNvPr>
          <p:cNvPicPr>
            <a:picLocks noChangeAspect="1"/>
          </p:cNvPicPr>
          <p:nvPr/>
        </p:nvPicPr>
        <p:blipFill>
          <a:blip r:embed="rId2"/>
          <a:stretch>
            <a:fillRect/>
          </a:stretch>
        </p:blipFill>
        <p:spPr>
          <a:xfrm>
            <a:off x="367341" y="641909"/>
            <a:ext cx="5618865" cy="5819851"/>
          </a:xfrm>
          <a:prstGeom prst="rect">
            <a:avLst/>
          </a:prstGeom>
          <a:ln>
            <a:solidFill>
              <a:schemeClr val="tx1"/>
            </a:solidFill>
          </a:ln>
        </p:spPr>
      </p:pic>
      <p:pic>
        <p:nvPicPr>
          <p:cNvPr id="10" name="Picture 9">
            <a:extLst>
              <a:ext uri="{FF2B5EF4-FFF2-40B4-BE49-F238E27FC236}">
                <a16:creationId xmlns:a16="http://schemas.microsoft.com/office/drawing/2014/main" id="{E29A7F35-7F01-CB7B-A8E7-B3B74DE33A63}"/>
              </a:ext>
            </a:extLst>
          </p:cNvPr>
          <p:cNvPicPr>
            <a:picLocks noChangeAspect="1"/>
          </p:cNvPicPr>
          <p:nvPr/>
        </p:nvPicPr>
        <p:blipFill>
          <a:blip r:embed="rId3"/>
          <a:stretch>
            <a:fillRect/>
          </a:stretch>
        </p:blipFill>
        <p:spPr>
          <a:xfrm>
            <a:off x="5893564" y="1101230"/>
            <a:ext cx="6040896" cy="2327770"/>
          </a:xfrm>
          <a:prstGeom prst="rect">
            <a:avLst/>
          </a:prstGeom>
          <a:ln>
            <a:solidFill>
              <a:schemeClr val="tx1"/>
            </a:solidFill>
          </a:ln>
        </p:spPr>
      </p:pic>
      <p:sp>
        <p:nvSpPr>
          <p:cNvPr id="11" name="TextBox 10">
            <a:extLst>
              <a:ext uri="{FF2B5EF4-FFF2-40B4-BE49-F238E27FC236}">
                <a16:creationId xmlns:a16="http://schemas.microsoft.com/office/drawing/2014/main" id="{E030C81A-8078-E45B-3E98-06D594A1B6B3}"/>
              </a:ext>
            </a:extLst>
          </p:cNvPr>
          <p:cNvSpPr txBox="1"/>
          <p:nvPr/>
        </p:nvSpPr>
        <p:spPr>
          <a:xfrm>
            <a:off x="5986205" y="579182"/>
            <a:ext cx="2438681" cy="584775"/>
          </a:xfrm>
          <a:prstGeom prst="rect">
            <a:avLst/>
          </a:prstGeom>
          <a:noFill/>
        </p:spPr>
        <p:txBody>
          <a:bodyPr wrap="none" rtlCol="0">
            <a:spAutoFit/>
          </a:bodyPr>
          <a:lstStyle/>
          <a:p>
            <a:r>
              <a:rPr lang="en-IT" sz="3200" i="1" dirty="0"/>
              <a:t>Pseudoaligners</a:t>
            </a:r>
            <a:endParaRPr lang="en-GB" sz="3200" dirty="0"/>
          </a:p>
        </p:txBody>
      </p:sp>
      <p:sp>
        <p:nvSpPr>
          <p:cNvPr id="13" name="TextBox 12">
            <a:extLst>
              <a:ext uri="{FF2B5EF4-FFF2-40B4-BE49-F238E27FC236}">
                <a16:creationId xmlns:a16="http://schemas.microsoft.com/office/drawing/2014/main" id="{F7B4DCED-AD7F-4EC8-6091-601276D8F9E2}"/>
              </a:ext>
            </a:extLst>
          </p:cNvPr>
          <p:cNvSpPr txBox="1"/>
          <p:nvPr/>
        </p:nvSpPr>
        <p:spPr>
          <a:xfrm>
            <a:off x="6639311" y="4091307"/>
            <a:ext cx="4986230" cy="1200329"/>
          </a:xfrm>
          <a:prstGeom prst="rect">
            <a:avLst/>
          </a:prstGeom>
          <a:noFill/>
        </p:spPr>
        <p:txBody>
          <a:bodyPr wrap="square">
            <a:spAutoFit/>
          </a:bodyPr>
          <a:lstStyle/>
          <a:p>
            <a:r>
              <a:rPr lang="en-IT" dirty="0"/>
              <a:t>Eukaryotic RNA-seq requires explicit handling of </a:t>
            </a:r>
            <a:r>
              <a:rPr lang="en-IT" b="1" dirty="0">
                <a:solidFill>
                  <a:srgbClr val="FF0000"/>
                </a:solidFill>
              </a:rPr>
              <a:t>exon–exon junctions. Splice-aware aligners </a:t>
            </a:r>
            <a:r>
              <a:rPr lang="en-IT" dirty="0"/>
              <a:t>such as STAR and HISAT2 are specifically designed to identify and align reads spanning these junctions.</a:t>
            </a:r>
            <a:endParaRPr lang="en-GB" dirty="0"/>
          </a:p>
        </p:txBody>
      </p:sp>
    </p:spTree>
    <p:extLst>
      <p:ext uri="{BB962C8B-B14F-4D97-AF65-F5344CB8AC3E}">
        <p14:creationId xmlns:p14="http://schemas.microsoft.com/office/powerpoint/2010/main" val="217078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C7A26-5D08-E94B-AA51-16718BB3ECCF}"/>
              </a:ext>
            </a:extLst>
          </p:cNvPr>
          <p:cNvSpPr>
            <a:spLocks noGrp="1"/>
          </p:cNvSpPr>
          <p:nvPr>
            <p:ph type="title"/>
          </p:nvPr>
        </p:nvSpPr>
        <p:spPr/>
        <p:txBody>
          <a:bodyPr>
            <a:normAutofit fontScale="90000"/>
          </a:bodyPr>
          <a:lstStyle/>
          <a:p>
            <a:r>
              <a:rPr lang="en-GB" dirty="0"/>
              <a:t>Indexing</a:t>
            </a:r>
          </a:p>
        </p:txBody>
      </p:sp>
      <p:sp>
        <p:nvSpPr>
          <p:cNvPr id="3" name="Content Placeholder 2">
            <a:extLst>
              <a:ext uri="{FF2B5EF4-FFF2-40B4-BE49-F238E27FC236}">
                <a16:creationId xmlns:a16="http://schemas.microsoft.com/office/drawing/2014/main" id="{DA782F39-7A4D-0B50-0EB4-7284877E908D}"/>
              </a:ext>
            </a:extLst>
          </p:cNvPr>
          <p:cNvSpPr>
            <a:spLocks noGrp="1"/>
          </p:cNvSpPr>
          <p:nvPr>
            <p:ph idx="1"/>
          </p:nvPr>
        </p:nvSpPr>
        <p:spPr>
          <a:xfrm>
            <a:off x="275362" y="771382"/>
            <a:ext cx="11192435" cy="1502947"/>
          </a:xfrm>
        </p:spPr>
        <p:txBody>
          <a:bodyPr>
            <a:normAutofit/>
          </a:bodyPr>
          <a:lstStyle/>
          <a:p>
            <a:pPr marL="0" indent="0">
              <a:buNone/>
            </a:pPr>
            <a:r>
              <a:rPr lang="en-GB" sz="2400" dirty="0"/>
              <a:t>Genome-wide aligner require genome indexing </a:t>
            </a:r>
          </a:p>
          <a:p>
            <a:pPr marL="0" indent="0">
              <a:buNone/>
            </a:pPr>
            <a:r>
              <a:rPr lang="en-GB" sz="2400" dirty="0"/>
              <a:t>Each aligner has its own indexing design as is aimed for fast search of seeds (chunks of reads) in the genome.</a:t>
            </a:r>
          </a:p>
        </p:txBody>
      </p:sp>
      <p:sp>
        <p:nvSpPr>
          <p:cNvPr id="4" name="Date Placeholder 3">
            <a:extLst>
              <a:ext uri="{FF2B5EF4-FFF2-40B4-BE49-F238E27FC236}">
                <a16:creationId xmlns:a16="http://schemas.microsoft.com/office/drawing/2014/main" id="{3117883D-1AA4-859C-3094-253B3B8A1190}"/>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4A687115-4C18-C669-46A8-4C78768CC224}"/>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5A3D09BA-5E36-721B-41DB-5001C567D56B}"/>
              </a:ext>
            </a:extLst>
          </p:cNvPr>
          <p:cNvSpPr>
            <a:spLocks noGrp="1"/>
          </p:cNvSpPr>
          <p:nvPr>
            <p:ph type="sldNum" sz="quarter" idx="12"/>
          </p:nvPr>
        </p:nvSpPr>
        <p:spPr/>
        <p:txBody>
          <a:bodyPr/>
          <a:lstStyle/>
          <a:p>
            <a:fld id="{62E92BA6-6E87-3343-8D2C-B7A656D628E4}" type="slidenum">
              <a:rPr lang="en-GB" smtClean="0"/>
              <a:t>8</a:t>
            </a:fld>
            <a:endParaRPr lang="en-GB"/>
          </a:p>
        </p:txBody>
      </p:sp>
      <p:sp>
        <p:nvSpPr>
          <p:cNvPr id="7" name="TextBox 6">
            <a:extLst>
              <a:ext uri="{FF2B5EF4-FFF2-40B4-BE49-F238E27FC236}">
                <a16:creationId xmlns:a16="http://schemas.microsoft.com/office/drawing/2014/main" id="{2A6C0747-D12A-83AF-28B4-3A0279AD4808}"/>
              </a:ext>
            </a:extLst>
          </p:cNvPr>
          <p:cNvSpPr txBox="1"/>
          <p:nvPr/>
        </p:nvSpPr>
        <p:spPr>
          <a:xfrm>
            <a:off x="398929" y="2036588"/>
            <a:ext cx="4006610" cy="646331"/>
          </a:xfrm>
          <a:prstGeom prst="rect">
            <a:avLst/>
          </a:prstGeom>
          <a:noFill/>
        </p:spPr>
        <p:txBody>
          <a:bodyPr wrap="none" rtlCol="0">
            <a:spAutoFit/>
          </a:bodyPr>
          <a:lstStyle/>
          <a:p>
            <a:r>
              <a:rPr lang="en-GB" dirty="0"/>
              <a:t>We will generate this index once and </a:t>
            </a:r>
          </a:p>
          <a:p>
            <a:r>
              <a:rPr lang="en-GB" dirty="0"/>
              <a:t>we will be able to reuse it. So in </a:t>
            </a:r>
            <a:r>
              <a:rPr lang="en-GB" dirty="0" err="1"/>
              <a:t>VSCode</a:t>
            </a:r>
            <a:r>
              <a:rPr lang="en-GB" dirty="0"/>
              <a:t>:</a:t>
            </a:r>
          </a:p>
        </p:txBody>
      </p:sp>
      <p:sp>
        <p:nvSpPr>
          <p:cNvPr id="9" name="TextBox 8">
            <a:extLst>
              <a:ext uri="{FF2B5EF4-FFF2-40B4-BE49-F238E27FC236}">
                <a16:creationId xmlns:a16="http://schemas.microsoft.com/office/drawing/2014/main" id="{6F888B21-FD16-F04D-CA54-A8AE4B79ED33}"/>
              </a:ext>
            </a:extLst>
          </p:cNvPr>
          <p:cNvSpPr txBox="1"/>
          <p:nvPr/>
        </p:nvSpPr>
        <p:spPr>
          <a:xfrm>
            <a:off x="4884381" y="2067365"/>
            <a:ext cx="5804163" cy="584775"/>
          </a:xfrm>
          <a:prstGeom prst="rect">
            <a:avLst/>
          </a:prstGeom>
          <a:noFill/>
        </p:spPr>
        <p:txBody>
          <a:bodyPr wrap="square">
            <a:spAutoFit/>
          </a:bodyPr>
          <a:lstStyle/>
          <a:p>
            <a:r>
              <a:rPr lang="en-IT" sz="1600" b="0" i="0" dirty="0">
                <a:solidFill>
                  <a:schemeClr val="tx1"/>
                </a:solidFill>
                <a:effectLst/>
                <a:latin typeface="Courier New" panose="02070309020205020404" pitchFamily="49" charset="0"/>
                <a:cs typeface="Courier New" panose="02070309020205020404" pitchFamily="49" charset="0"/>
              </a:rPr>
              <a:t>Create:</a:t>
            </a:r>
          </a:p>
          <a:p>
            <a:r>
              <a:rPr lang="en-IT" sz="1600" b="0" i="0" dirty="0">
                <a:solidFill>
                  <a:srgbClr val="A72AA7"/>
                </a:solidFill>
                <a:effectLst/>
                <a:latin typeface="Courier New" panose="02070309020205020404" pitchFamily="49" charset="0"/>
                <a:cs typeface="Courier New" panose="02070309020205020404" pitchFamily="49" charset="0"/>
              </a:rPr>
              <a:t>scripts/day2_rnaseq/01_build_bowtie2_index.sh</a:t>
            </a:r>
            <a:endParaRPr lang="en-GB" sz="1600" dirty="0">
              <a:solidFill>
                <a:srgbClr val="A72AA7"/>
              </a:solidFill>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32850F35-3B82-BA12-AB6D-68B97D85D392}"/>
              </a:ext>
            </a:extLst>
          </p:cNvPr>
          <p:cNvSpPr txBox="1"/>
          <p:nvPr/>
        </p:nvSpPr>
        <p:spPr>
          <a:xfrm>
            <a:off x="398929" y="2932302"/>
            <a:ext cx="6603090" cy="3046988"/>
          </a:xfrm>
          <a:prstGeom prst="rect">
            <a:avLst/>
          </a:prstGeom>
          <a:noFill/>
          <a:ln>
            <a:solidFill>
              <a:schemeClr val="tx1"/>
            </a:solidFill>
          </a:ln>
        </p:spPr>
        <p:txBody>
          <a:bodyPr wrap="none" rtlCol="0">
            <a:spAutoFit/>
          </a:bodyPr>
          <a:lstStyle/>
          <a:p>
            <a:r>
              <a:rPr lang="en-GB" sz="1600" dirty="0">
                <a:solidFill>
                  <a:srgbClr val="A72AA7"/>
                </a:solidFill>
                <a:latin typeface="Courier New" panose="02070309020205020404" pitchFamily="49" charset="0"/>
                <a:cs typeface="Courier New" panose="02070309020205020404" pitchFamily="49" charset="0"/>
              </a:rPr>
              <a:t>#!/</a:t>
            </a:r>
            <a:r>
              <a:rPr lang="en-GB" sz="1600" dirty="0" err="1">
                <a:solidFill>
                  <a:srgbClr val="A72AA7"/>
                </a:solidFill>
                <a:latin typeface="Courier New" panose="02070309020205020404" pitchFamily="49" charset="0"/>
                <a:cs typeface="Courier New" panose="02070309020205020404" pitchFamily="49" charset="0"/>
              </a:rPr>
              <a:t>usr</a:t>
            </a:r>
            <a:r>
              <a:rPr lang="en-GB" sz="1600" dirty="0">
                <a:solidFill>
                  <a:srgbClr val="A72AA7"/>
                </a:solidFill>
                <a:latin typeface="Courier New" panose="02070309020205020404" pitchFamily="49" charset="0"/>
                <a:cs typeface="Courier New" panose="02070309020205020404" pitchFamily="49" charset="0"/>
              </a:rPr>
              <a:t>/bin/env bash</a:t>
            </a:r>
          </a:p>
          <a:p>
            <a:r>
              <a:rPr lang="en-GB" sz="1600" dirty="0">
                <a:solidFill>
                  <a:srgbClr val="A72AA7"/>
                </a:solidFill>
                <a:latin typeface="Courier New" panose="02070309020205020404" pitchFamily="49" charset="0"/>
                <a:cs typeface="Courier New" panose="02070309020205020404" pitchFamily="49" charset="0"/>
              </a:rPr>
              <a:t>set -</a:t>
            </a:r>
            <a:r>
              <a:rPr lang="en-GB" sz="1600" dirty="0" err="1">
                <a:solidFill>
                  <a:srgbClr val="A72AA7"/>
                </a:solidFill>
                <a:latin typeface="Courier New" panose="02070309020205020404" pitchFamily="49" charset="0"/>
                <a:cs typeface="Courier New" panose="02070309020205020404" pitchFamily="49" charset="0"/>
              </a:rPr>
              <a:t>euo</a:t>
            </a:r>
            <a:r>
              <a:rPr lang="en-GB" sz="1600" dirty="0">
                <a:solidFill>
                  <a:srgbClr val="A72AA7"/>
                </a:solidFill>
                <a:latin typeface="Courier New" panose="02070309020205020404" pitchFamily="49" charset="0"/>
                <a:cs typeface="Courier New" panose="02070309020205020404" pitchFamily="49" charset="0"/>
              </a:rPr>
              <a:t> </a:t>
            </a:r>
            <a:r>
              <a:rPr lang="en-GB" sz="1600" dirty="0" err="1">
                <a:solidFill>
                  <a:srgbClr val="A72AA7"/>
                </a:solidFill>
                <a:latin typeface="Courier New" panose="02070309020205020404" pitchFamily="49" charset="0"/>
                <a:cs typeface="Courier New" panose="02070309020205020404" pitchFamily="49" charset="0"/>
              </a:rPr>
              <a:t>pipefail</a:t>
            </a:r>
            <a:endParaRPr lang="en-GB" sz="1600" dirty="0">
              <a:solidFill>
                <a:srgbClr val="A72AA7"/>
              </a:solidFill>
              <a:latin typeface="Courier New" panose="02070309020205020404" pitchFamily="49" charset="0"/>
              <a:cs typeface="Courier New" panose="02070309020205020404" pitchFamily="49" charset="0"/>
            </a:endParaRPr>
          </a:p>
          <a:p>
            <a:endParaRPr lang="en-GB" sz="1600" dirty="0">
              <a:solidFill>
                <a:srgbClr val="A72AA7"/>
              </a:solidFill>
              <a:latin typeface="Courier New" panose="02070309020205020404" pitchFamily="49" charset="0"/>
              <a:cs typeface="Courier New" panose="02070309020205020404" pitchFamily="49" charset="0"/>
            </a:endParaRPr>
          </a:p>
          <a:p>
            <a:r>
              <a:rPr lang="en-GB" sz="1600" dirty="0">
                <a:solidFill>
                  <a:srgbClr val="A72AA7"/>
                </a:solidFill>
                <a:latin typeface="Courier New" panose="02070309020205020404" pitchFamily="49" charset="0"/>
                <a:cs typeface="Courier New" panose="02070309020205020404" pitchFamily="49" charset="0"/>
              </a:rPr>
              <a:t>genome="</a:t>
            </a:r>
            <a:r>
              <a:rPr lang="en-GB" sz="1600" dirty="0" err="1">
                <a:solidFill>
                  <a:srgbClr val="A72AA7"/>
                </a:solidFill>
                <a:latin typeface="Courier New" panose="02070309020205020404" pitchFamily="49" charset="0"/>
                <a:cs typeface="Courier New" panose="02070309020205020404" pitchFamily="49" charset="0"/>
              </a:rPr>
              <a:t>reference_genome</a:t>
            </a:r>
            <a:r>
              <a:rPr lang="en-GB" sz="1600" dirty="0">
                <a:solidFill>
                  <a:srgbClr val="A72AA7"/>
                </a:solidFill>
                <a:latin typeface="Courier New" panose="02070309020205020404" pitchFamily="49" charset="0"/>
                <a:cs typeface="Courier New" panose="02070309020205020404" pitchFamily="49" charset="0"/>
              </a:rPr>
              <a:t>/</a:t>
            </a:r>
            <a:r>
              <a:rPr lang="en-GB" sz="1600" dirty="0" err="1">
                <a:solidFill>
                  <a:srgbClr val="A72AA7"/>
                </a:solidFill>
                <a:latin typeface="Courier New" panose="02070309020205020404" pitchFamily="49" charset="0"/>
                <a:cs typeface="Courier New" panose="02070309020205020404" pitchFamily="49" charset="0"/>
              </a:rPr>
              <a:t>genome.fa</a:t>
            </a:r>
            <a:r>
              <a:rPr lang="en-GB" sz="1600" dirty="0">
                <a:solidFill>
                  <a:srgbClr val="A72AA7"/>
                </a:solidFill>
                <a:latin typeface="Courier New" panose="02070309020205020404" pitchFamily="49" charset="0"/>
                <a:cs typeface="Courier New" panose="02070309020205020404" pitchFamily="49" charset="0"/>
              </a:rPr>
              <a:t>"</a:t>
            </a:r>
          </a:p>
          <a:p>
            <a:r>
              <a:rPr lang="en-GB" sz="1600" dirty="0" err="1">
                <a:solidFill>
                  <a:srgbClr val="A72AA7"/>
                </a:solidFill>
                <a:latin typeface="Courier New" panose="02070309020205020404" pitchFamily="49" charset="0"/>
                <a:cs typeface="Courier New" panose="02070309020205020404" pitchFamily="49" charset="0"/>
              </a:rPr>
              <a:t>index_prefix</a:t>
            </a:r>
            <a:r>
              <a:rPr lang="en-GB" sz="1600" dirty="0">
                <a:solidFill>
                  <a:srgbClr val="A72AA7"/>
                </a:solidFill>
                <a:latin typeface="Courier New" panose="02070309020205020404" pitchFamily="49" charset="0"/>
                <a:cs typeface="Courier New" panose="02070309020205020404" pitchFamily="49" charset="0"/>
              </a:rPr>
              <a:t>="</a:t>
            </a:r>
            <a:r>
              <a:rPr lang="en-GB" sz="1600" dirty="0" err="1">
                <a:solidFill>
                  <a:srgbClr val="A72AA7"/>
                </a:solidFill>
                <a:latin typeface="Courier New" panose="02070309020205020404" pitchFamily="49" charset="0"/>
                <a:cs typeface="Courier New" panose="02070309020205020404" pitchFamily="49" charset="0"/>
              </a:rPr>
              <a:t>reference_genome</a:t>
            </a:r>
            <a:r>
              <a:rPr lang="en-GB" sz="1600" dirty="0">
                <a:solidFill>
                  <a:srgbClr val="A72AA7"/>
                </a:solidFill>
                <a:latin typeface="Courier New" panose="02070309020205020404" pitchFamily="49" charset="0"/>
                <a:cs typeface="Courier New" panose="02070309020205020404" pitchFamily="49" charset="0"/>
              </a:rPr>
              <a:t>/bowtie2_index/genome"</a:t>
            </a:r>
          </a:p>
          <a:p>
            <a:endParaRPr lang="en-GB" sz="1600" dirty="0">
              <a:solidFill>
                <a:srgbClr val="A72AA7"/>
              </a:solidFill>
              <a:latin typeface="Courier New" panose="02070309020205020404" pitchFamily="49" charset="0"/>
              <a:cs typeface="Courier New" panose="02070309020205020404" pitchFamily="49" charset="0"/>
            </a:endParaRPr>
          </a:p>
          <a:p>
            <a:r>
              <a:rPr lang="en-GB" sz="1600" dirty="0" err="1">
                <a:solidFill>
                  <a:srgbClr val="A72AA7"/>
                </a:solidFill>
                <a:latin typeface="Courier New" panose="02070309020205020404" pitchFamily="49" charset="0"/>
                <a:cs typeface="Courier New" panose="02070309020205020404" pitchFamily="49" charset="0"/>
              </a:rPr>
              <a:t>mkdir</a:t>
            </a:r>
            <a:r>
              <a:rPr lang="en-GB" sz="1600" dirty="0">
                <a:solidFill>
                  <a:srgbClr val="A72AA7"/>
                </a:solidFill>
                <a:latin typeface="Courier New" panose="02070309020205020404" pitchFamily="49" charset="0"/>
                <a:cs typeface="Courier New" panose="02070309020205020404" pitchFamily="49" charset="0"/>
              </a:rPr>
              <a:t> -p </a:t>
            </a:r>
            <a:r>
              <a:rPr lang="en-GB" sz="1600" dirty="0" err="1">
                <a:solidFill>
                  <a:srgbClr val="A72AA7"/>
                </a:solidFill>
                <a:latin typeface="Courier New" panose="02070309020205020404" pitchFamily="49" charset="0"/>
                <a:cs typeface="Courier New" panose="02070309020205020404" pitchFamily="49" charset="0"/>
              </a:rPr>
              <a:t>reference_genome</a:t>
            </a:r>
            <a:r>
              <a:rPr lang="en-GB" sz="1600" dirty="0">
                <a:solidFill>
                  <a:srgbClr val="A72AA7"/>
                </a:solidFill>
                <a:latin typeface="Courier New" panose="02070309020205020404" pitchFamily="49" charset="0"/>
                <a:cs typeface="Courier New" panose="02070309020205020404" pitchFamily="49" charset="0"/>
              </a:rPr>
              <a:t>/bowtie2_index</a:t>
            </a:r>
          </a:p>
          <a:p>
            <a:endParaRPr lang="en-GB" sz="1600" dirty="0">
              <a:solidFill>
                <a:srgbClr val="A72AA7"/>
              </a:solidFill>
              <a:latin typeface="Courier New" panose="02070309020205020404" pitchFamily="49" charset="0"/>
              <a:cs typeface="Courier New" panose="02070309020205020404" pitchFamily="49" charset="0"/>
            </a:endParaRPr>
          </a:p>
          <a:p>
            <a:r>
              <a:rPr lang="en-GB" sz="1600" dirty="0">
                <a:solidFill>
                  <a:srgbClr val="A72AA7"/>
                </a:solidFill>
                <a:latin typeface="Courier New" panose="02070309020205020404" pitchFamily="49" charset="0"/>
                <a:cs typeface="Courier New" panose="02070309020205020404" pitchFamily="49" charset="0"/>
              </a:rPr>
              <a:t>bowtie2-build \</a:t>
            </a:r>
          </a:p>
          <a:p>
            <a:r>
              <a:rPr lang="en-GB" sz="1600" dirty="0">
                <a:solidFill>
                  <a:srgbClr val="A72AA7"/>
                </a:solidFill>
                <a:latin typeface="Courier New" panose="02070309020205020404" pitchFamily="49" charset="0"/>
                <a:cs typeface="Courier New" panose="02070309020205020404" pitchFamily="49" charset="0"/>
              </a:rPr>
              <a:t>  --threads 2 \</a:t>
            </a:r>
          </a:p>
          <a:p>
            <a:r>
              <a:rPr lang="en-GB" sz="1600" dirty="0">
                <a:solidFill>
                  <a:srgbClr val="A72AA7"/>
                </a:solidFill>
                <a:latin typeface="Courier New" panose="02070309020205020404" pitchFamily="49" charset="0"/>
                <a:cs typeface="Courier New" panose="02070309020205020404" pitchFamily="49" charset="0"/>
              </a:rPr>
              <a:t>  "${genome}" \</a:t>
            </a:r>
          </a:p>
          <a:p>
            <a:r>
              <a:rPr lang="en-GB" sz="1600" dirty="0">
                <a:solidFill>
                  <a:srgbClr val="A72AA7"/>
                </a:solidFill>
                <a:latin typeface="Courier New" panose="02070309020205020404" pitchFamily="49" charset="0"/>
                <a:cs typeface="Courier New" panose="02070309020205020404" pitchFamily="49" charset="0"/>
              </a:rPr>
              <a:t>  "${</a:t>
            </a:r>
            <a:r>
              <a:rPr lang="en-GB" sz="1600" dirty="0" err="1">
                <a:solidFill>
                  <a:srgbClr val="A72AA7"/>
                </a:solidFill>
                <a:latin typeface="Courier New" panose="02070309020205020404" pitchFamily="49" charset="0"/>
                <a:cs typeface="Courier New" panose="02070309020205020404" pitchFamily="49" charset="0"/>
              </a:rPr>
              <a:t>index_prefix</a:t>
            </a:r>
            <a:r>
              <a:rPr lang="en-GB" sz="1600" dirty="0">
                <a:solidFill>
                  <a:srgbClr val="A72AA7"/>
                </a:solidFill>
                <a:latin typeface="Courier New" panose="02070309020205020404" pitchFamily="49" charset="0"/>
                <a:cs typeface="Courier New" panose="02070309020205020404" pitchFamily="49" charset="0"/>
              </a:rPr>
              <a:t>}"</a:t>
            </a:r>
          </a:p>
        </p:txBody>
      </p:sp>
      <p:sp>
        <p:nvSpPr>
          <p:cNvPr id="11" name="TextBox 10">
            <a:extLst>
              <a:ext uri="{FF2B5EF4-FFF2-40B4-BE49-F238E27FC236}">
                <a16:creationId xmlns:a16="http://schemas.microsoft.com/office/drawing/2014/main" id="{7A33EC62-5137-106B-33F8-F7BA8AE1FC9D}"/>
              </a:ext>
            </a:extLst>
          </p:cNvPr>
          <p:cNvSpPr txBox="1"/>
          <p:nvPr/>
        </p:nvSpPr>
        <p:spPr>
          <a:xfrm>
            <a:off x="5486401" y="4579879"/>
            <a:ext cx="6603090" cy="1569660"/>
          </a:xfrm>
          <a:prstGeom prst="rect">
            <a:avLst/>
          </a:prstGeom>
          <a:solidFill>
            <a:schemeClr val="bg1"/>
          </a:solidFill>
          <a:ln>
            <a:solidFill>
              <a:schemeClr val="tx1"/>
            </a:solidFill>
          </a:ln>
        </p:spPr>
        <p:txBody>
          <a:bodyPr wrap="none" rtlCol="0">
            <a:spAutoFit/>
          </a:bodyPr>
          <a:lstStyle/>
          <a:p>
            <a:r>
              <a:rPr lang="en-GB" sz="1600" dirty="0">
                <a:solidFill>
                  <a:schemeClr val="accent3">
                    <a:lumMod val="75000"/>
                  </a:schemeClr>
                </a:solidFill>
                <a:latin typeface="Courier New" panose="02070309020205020404" pitchFamily="49" charset="0"/>
                <a:cs typeface="Courier New" panose="02070309020205020404" pitchFamily="49" charset="0"/>
              </a:rPr>
              <a:t>docker run --rm \</a:t>
            </a:r>
          </a:p>
          <a:p>
            <a:r>
              <a:rPr lang="en-GB" sz="1600" dirty="0">
                <a:solidFill>
                  <a:schemeClr val="accent3">
                    <a:lumMod val="75000"/>
                  </a:schemeClr>
                </a:solidFill>
                <a:latin typeface="Courier New" panose="02070309020205020404" pitchFamily="49" charset="0"/>
                <a:cs typeface="Courier New" panose="02070309020205020404" pitchFamily="49" charset="0"/>
              </a:rPr>
              <a:t>  --user "$(id -u):$(id -g)" \</a:t>
            </a:r>
          </a:p>
          <a:p>
            <a:r>
              <a:rPr lang="en-GB" sz="1600" dirty="0">
                <a:solidFill>
                  <a:schemeClr val="accent3">
                    <a:lumMod val="75000"/>
                  </a:schemeClr>
                </a:solidFill>
                <a:latin typeface="Courier New" panose="02070309020205020404" pitchFamily="49" charset="0"/>
                <a:cs typeface="Courier New" panose="02070309020205020404" pitchFamily="49" charset="0"/>
              </a:rPr>
              <a:t>  -v "$PWD:/work" \</a:t>
            </a:r>
          </a:p>
          <a:p>
            <a:r>
              <a:rPr lang="en-GB" sz="1600" dirty="0">
                <a:solidFill>
                  <a:schemeClr val="accent3">
                    <a:lumMod val="75000"/>
                  </a:schemeClr>
                </a:solidFill>
                <a:latin typeface="Courier New" panose="02070309020205020404" pitchFamily="49" charset="0"/>
                <a:cs typeface="Courier New" panose="02070309020205020404" pitchFamily="49" charset="0"/>
              </a:rPr>
              <a:t>  -w /work \</a:t>
            </a:r>
          </a:p>
          <a:p>
            <a:r>
              <a:rPr lang="en-GB" sz="1600" dirty="0">
                <a:solidFill>
                  <a:schemeClr val="accent3">
                    <a:lumMod val="75000"/>
                  </a:schemeClr>
                </a:solidFill>
                <a:latin typeface="Courier New" panose="02070309020205020404" pitchFamily="49" charset="0"/>
                <a:cs typeface="Courier New" panose="02070309020205020404" pitchFamily="49" charset="0"/>
              </a:rPr>
              <a:t>  </a:t>
            </a:r>
            <a:r>
              <a:rPr lang="en-GB" sz="1600" dirty="0" err="1">
                <a:solidFill>
                  <a:schemeClr val="accent3">
                    <a:lumMod val="75000"/>
                  </a:schemeClr>
                </a:solidFill>
                <a:latin typeface="Courier New" panose="02070309020205020404" pitchFamily="49" charset="0"/>
                <a:cs typeface="Courier New" panose="02070309020205020404" pitchFamily="49" charset="0"/>
              </a:rPr>
              <a:t>docker.io</a:t>
            </a:r>
            <a:r>
              <a:rPr lang="en-GB" sz="1600" dirty="0">
                <a:solidFill>
                  <a:schemeClr val="accent3">
                    <a:lumMod val="75000"/>
                  </a:schemeClr>
                </a:solidFill>
                <a:latin typeface="Courier New" panose="02070309020205020404" pitchFamily="49" charset="0"/>
                <a:cs typeface="Courier New" panose="02070309020205020404" pitchFamily="49" charset="0"/>
              </a:rPr>
              <a:t>/</a:t>
            </a:r>
            <a:r>
              <a:rPr lang="en-GB" sz="1600" dirty="0" err="1">
                <a:solidFill>
                  <a:schemeClr val="accent3">
                    <a:lumMod val="75000"/>
                  </a:schemeClr>
                </a:solidFill>
                <a:latin typeface="Courier New" panose="02070309020205020404" pitchFamily="49" charset="0"/>
                <a:cs typeface="Courier New" panose="02070309020205020404" pitchFamily="49" charset="0"/>
              </a:rPr>
              <a:t>fgualdr</a:t>
            </a:r>
            <a:r>
              <a:rPr lang="en-GB" sz="1600" dirty="0">
                <a:solidFill>
                  <a:schemeClr val="accent3">
                    <a:lumMod val="75000"/>
                  </a:schemeClr>
                </a:solidFill>
                <a:latin typeface="Courier New" panose="02070309020205020404" pitchFamily="49" charset="0"/>
                <a:cs typeface="Courier New" panose="02070309020205020404" pitchFamily="49" charset="0"/>
              </a:rPr>
              <a:t>/ngs-bowtie2-samtools \</a:t>
            </a:r>
          </a:p>
          <a:p>
            <a:r>
              <a:rPr lang="en-GB" sz="1600" dirty="0">
                <a:solidFill>
                  <a:schemeClr val="accent3">
                    <a:lumMod val="75000"/>
                  </a:schemeClr>
                </a:solidFill>
                <a:latin typeface="Courier New" panose="02070309020205020404" pitchFamily="49" charset="0"/>
                <a:cs typeface="Courier New" panose="02070309020205020404" pitchFamily="49" charset="0"/>
              </a:rPr>
              <a:t>  bash scripts/day2_rnaseq/01_build_bowtie2_index.sh</a:t>
            </a:r>
          </a:p>
        </p:txBody>
      </p:sp>
      <p:sp>
        <p:nvSpPr>
          <p:cNvPr id="12" name="TextBox 11">
            <a:extLst>
              <a:ext uri="{FF2B5EF4-FFF2-40B4-BE49-F238E27FC236}">
                <a16:creationId xmlns:a16="http://schemas.microsoft.com/office/drawing/2014/main" id="{419558FA-6C33-6EC7-A598-F0024B2A8165}"/>
              </a:ext>
            </a:extLst>
          </p:cNvPr>
          <p:cNvSpPr txBox="1"/>
          <p:nvPr/>
        </p:nvSpPr>
        <p:spPr>
          <a:xfrm>
            <a:off x="10580020" y="4210547"/>
            <a:ext cx="1611980" cy="369332"/>
          </a:xfrm>
          <a:prstGeom prst="rect">
            <a:avLst/>
          </a:prstGeom>
          <a:noFill/>
        </p:spPr>
        <p:txBody>
          <a:bodyPr wrap="none" rtlCol="0">
            <a:spAutoFit/>
          </a:bodyPr>
          <a:lstStyle/>
          <a:p>
            <a:r>
              <a:rPr lang="en-GB" dirty="0"/>
              <a:t>In the Terminal:</a:t>
            </a:r>
          </a:p>
        </p:txBody>
      </p:sp>
    </p:spTree>
    <p:extLst>
      <p:ext uri="{BB962C8B-B14F-4D97-AF65-F5344CB8AC3E}">
        <p14:creationId xmlns:p14="http://schemas.microsoft.com/office/powerpoint/2010/main" val="4205909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6EAFB-E43A-0E1F-8408-FED15DEF9229}"/>
              </a:ext>
            </a:extLst>
          </p:cNvPr>
          <p:cNvSpPr>
            <a:spLocks noGrp="1"/>
          </p:cNvSpPr>
          <p:nvPr>
            <p:ph type="title"/>
          </p:nvPr>
        </p:nvSpPr>
        <p:spPr/>
        <p:txBody>
          <a:bodyPr>
            <a:normAutofit fontScale="90000"/>
          </a:bodyPr>
          <a:lstStyle/>
          <a:p>
            <a:r>
              <a:rPr lang="en-GB" dirty="0"/>
              <a:t>Mapping sorting indexing filtering!</a:t>
            </a:r>
          </a:p>
        </p:txBody>
      </p:sp>
      <p:sp>
        <p:nvSpPr>
          <p:cNvPr id="3" name="Content Placeholder 2">
            <a:extLst>
              <a:ext uri="{FF2B5EF4-FFF2-40B4-BE49-F238E27FC236}">
                <a16:creationId xmlns:a16="http://schemas.microsoft.com/office/drawing/2014/main" id="{152874EC-0F6C-FE82-D8CA-9BA9957A8C08}"/>
              </a:ext>
            </a:extLst>
          </p:cNvPr>
          <p:cNvSpPr>
            <a:spLocks noGrp="1"/>
          </p:cNvSpPr>
          <p:nvPr>
            <p:ph idx="1"/>
          </p:nvPr>
        </p:nvSpPr>
        <p:spPr>
          <a:xfrm>
            <a:off x="398929" y="956049"/>
            <a:ext cx="4630271" cy="2227416"/>
          </a:xfrm>
        </p:spPr>
        <p:txBody>
          <a:bodyPr>
            <a:noAutofit/>
          </a:bodyPr>
          <a:lstStyle/>
          <a:p>
            <a:r>
              <a:rPr lang="en-GB" dirty="0">
                <a:solidFill>
                  <a:schemeClr val="accent4">
                    <a:lumMod val="75000"/>
                  </a:schemeClr>
                </a:solidFill>
              </a:rPr>
              <a:t>We now have:</a:t>
            </a:r>
          </a:p>
          <a:p>
            <a:pPr>
              <a:buFontTx/>
              <a:buChar char="-"/>
            </a:pPr>
            <a:r>
              <a:rPr lang="en-GB" i="1" dirty="0"/>
              <a:t>The genome</a:t>
            </a:r>
          </a:p>
          <a:p>
            <a:pPr>
              <a:buFontTx/>
              <a:buChar char="-"/>
            </a:pPr>
            <a:r>
              <a:rPr lang="en-GB" i="1" dirty="0"/>
              <a:t>The index of the genome</a:t>
            </a:r>
          </a:p>
          <a:p>
            <a:pPr>
              <a:buFontTx/>
              <a:buChar char="-"/>
            </a:pPr>
            <a:r>
              <a:rPr lang="en-GB" i="1" dirty="0"/>
              <a:t>The trimmed </a:t>
            </a:r>
            <a:r>
              <a:rPr lang="en-GB" i="1" dirty="0" err="1"/>
              <a:t>fastq</a:t>
            </a:r>
            <a:endParaRPr lang="en-GB" i="1" dirty="0"/>
          </a:p>
        </p:txBody>
      </p:sp>
      <p:sp>
        <p:nvSpPr>
          <p:cNvPr id="4" name="Date Placeholder 3">
            <a:extLst>
              <a:ext uri="{FF2B5EF4-FFF2-40B4-BE49-F238E27FC236}">
                <a16:creationId xmlns:a16="http://schemas.microsoft.com/office/drawing/2014/main" id="{B50D35B3-0DB6-03A3-7ED8-9C1C2B1A8F42}"/>
              </a:ext>
            </a:extLst>
          </p:cNvPr>
          <p:cNvSpPr>
            <a:spLocks noGrp="1"/>
          </p:cNvSpPr>
          <p:nvPr>
            <p:ph type="dt" sz="half" idx="10"/>
          </p:nvPr>
        </p:nvSpPr>
        <p:spPr/>
        <p:txBody>
          <a:bodyPr/>
          <a:lstStyle/>
          <a:p>
            <a:fld id="{761DFEEA-1162-B343-ACBF-B3E92F6AC390}" type="datetime1">
              <a:rPr lang="it-IT" smtClean="0"/>
              <a:t>23/09/26</a:t>
            </a:fld>
            <a:endParaRPr lang="en-GB" dirty="0"/>
          </a:p>
        </p:txBody>
      </p:sp>
      <p:sp>
        <p:nvSpPr>
          <p:cNvPr id="5" name="Footer Placeholder 4">
            <a:extLst>
              <a:ext uri="{FF2B5EF4-FFF2-40B4-BE49-F238E27FC236}">
                <a16:creationId xmlns:a16="http://schemas.microsoft.com/office/drawing/2014/main" id="{5BE266E8-AC95-B963-1637-BF76E4FC54AB}"/>
              </a:ext>
            </a:extLst>
          </p:cNvPr>
          <p:cNvSpPr>
            <a:spLocks noGrp="1"/>
          </p:cNvSpPr>
          <p:nvPr>
            <p:ph type="ftr" sz="quarter" idx="11"/>
          </p:nvPr>
        </p:nvSpPr>
        <p:spPr/>
        <p:txBody>
          <a:bodyPr/>
          <a:lstStyle/>
          <a:p>
            <a:r>
              <a:rPr lang="en-GB" dirty="0"/>
              <a:t>Day 1: Reproducible NGS Data Analysis on Personal Laptops</a:t>
            </a:r>
          </a:p>
        </p:txBody>
      </p:sp>
      <p:sp>
        <p:nvSpPr>
          <p:cNvPr id="6" name="Slide Number Placeholder 5">
            <a:extLst>
              <a:ext uri="{FF2B5EF4-FFF2-40B4-BE49-F238E27FC236}">
                <a16:creationId xmlns:a16="http://schemas.microsoft.com/office/drawing/2014/main" id="{AB29DD55-B735-ADEB-30C7-25469B58787D}"/>
              </a:ext>
            </a:extLst>
          </p:cNvPr>
          <p:cNvSpPr>
            <a:spLocks noGrp="1"/>
          </p:cNvSpPr>
          <p:nvPr>
            <p:ph type="sldNum" sz="quarter" idx="12"/>
          </p:nvPr>
        </p:nvSpPr>
        <p:spPr/>
        <p:txBody>
          <a:bodyPr/>
          <a:lstStyle/>
          <a:p>
            <a:fld id="{62E92BA6-6E87-3343-8D2C-B7A656D628E4}" type="slidenum">
              <a:rPr lang="en-GB" smtClean="0"/>
              <a:t>9</a:t>
            </a:fld>
            <a:endParaRPr lang="en-GB" dirty="0"/>
          </a:p>
        </p:txBody>
      </p:sp>
      <p:sp>
        <p:nvSpPr>
          <p:cNvPr id="11" name="Right Brace 10">
            <a:extLst>
              <a:ext uri="{FF2B5EF4-FFF2-40B4-BE49-F238E27FC236}">
                <a16:creationId xmlns:a16="http://schemas.microsoft.com/office/drawing/2014/main" id="{194B6DAC-7575-5CD5-1D44-3C4360189103}"/>
              </a:ext>
            </a:extLst>
          </p:cNvPr>
          <p:cNvSpPr/>
          <p:nvPr/>
        </p:nvSpPr>
        <p:spPr>
          <a:xfrm>
            <a:off x="4361935" y="956049"/>
            <a:ext cx="271849" cy="198485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TextBox 11">
            <a:extLst>
              <a:ext uri="{FF2B5EF4-FFF2-40B4-BE49-F238E27FC236}">
                <a16:creationId xmlns:a16="http://schemas.microsoft.com/office/drawing/2014/main" id="{8F46AB79-D904-41A4-4762-B9872DCA4EED}"/>
              </a:ext>
            </a:extLst>
          </p:cNvPr>
          <p:cNvSpPr txBox="1"/>
          <p:nvPr/>
        </p:nvSpPr>
        <p:spPr>
          <a:xfrm>
            <a:off x="6230470" y="708272"/>
            <a:ext cx="3325013" cy="523220"/>
          </a:xfrm>
          <a:prstGeom prst="rect">
            <a:avLst/>
          </a:prstGeom>
          <a:noFill/>
        </p:spPr>
        <p:txBody>
          <a:bodyPr wrap="none" rtlCol="0">
            <a:spAutoFit/>
          </a:bodyPr>
          <a:lstStyle/>
          <a:p>
            <a:r>
              <a:rPr lang="en-GB" sz="2800" u="sng" dirty="0"/>
              <a:t>Perform the mapping:</a:t>
            </a:r>
          </a:p>
        </p:txBody>
      </p:sp>
      <p:sp>
        <p:nvSpPr>
          <p:cNvPr id="13" name="TextBox 12">
            <a:extLst>
              <a:ext uri="{FF2B5EF4-FFF2-40B4-BE49-F238E27FC236}">
                <a16:creationId xmlns:a16="http://schemas.microsoft.com/office/drawing/2014/main" id="{156C2201-B62C-5ACF-2C5F-7CB67C9D42CD}"/>
              </a:ext>
            </a:extLst>
          </p:cNvPr>
          <p:cNvSpPr txBox="1"/>
          <p:nvPr/>
        </p:nvSpPr>
        <p:spPr>
          <a:xfrm>
            <a:off x="5360773" y="1297855"/>
            <a:ext cx="5585254" cy="1754326"/>
          </a:xfrm>
          <a:prstGeom prst="rect">
            <a:avLst/>
          </a:prstGeom>
          <a:noFill/>
        </p:spPr>
        <p:txBody>
          <a:bodyPr wrap="square" rtlCol="0">
            <a:spAutoFit/>
          </a:bodyPr>
          <a:lstStyle/>
          <a:p>
            <a:r>
              <a:rPr lang="en-IT" dirty="0"/>
              <a:t>RNA-seq mapping asks where each sequenced read, or read pair, fits on a reference sequence. </a:t>
            </a:r>
          </a:p>
          <a:p>
            <a:endParaRPr lang="en-IT" dirty="0"/>
          </a:p>
          <a:p>
            <a:r>
              <a:rPr lang="en-IT" dirty="0"/>
              <a:t>From a FASTQ as input we want an alignment file that records the genomic position and alignment details for each read.</a:t>
            </a:r>
            <a:endParaRPr lang="en-GB" dirty="0"/>
          </a:p>
        </p:txBody>
      </p:sp>
      <p:sp>
        <p:nvSpPr>
          <p:cNvPr id="14" name="Content Placeholder 2">
            <a:extLst>
              <a:ext uri="{FF2B5EF4-FFF2-40B4-BE49-F238E27FC236}">
                <a16:creationId xmlns:a16="http://schemas.microsoft.com/office/drawing/2014/main" id="{7CC1AEAE-A3F0-C1A1-D0E6-99524FF08103}"/>
              </a:ext>
            </a:extLst>
          </p:cNvPr>
          <p:cNvSpPr txBox="1">
            <a:spLocks/>
          </p:cNvSpPr>
          <p:nvPr/>
        </p:nvSpPr>
        <p:spPr>
          <a:xfrm>
            <a:off x="325080" y="3415733"/>
            <a:ext cx="11541839" cy="1401477"/>
          </a:xfrm>
          <a:prstGeom prst="rect">
            <a:avLst/>
          </a:prstGeom>
          <a:ln>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a:latin typeface="Courier New" panose="02070309020205020404" pitchFamily="49" charset="0"/>
                <a:cs typeface="Courier New" panose="02070309020205020404" pitchFamily="49" charset="0"/>
              </a:rPr>
              <a:t>@ERR11479310.7235242</a:t>
            </a:r>
          </a:p>
          <a:p>
            <a:pPr marL="0" indent="0">
              <a:buNone/>
            </a:pPr>
            <a:r>
              <a:rPr lang="en-GB" sz="1600" dirty="0">
                <a:latin typeface="Courier New" panose="02070309020205020404" pitchFamily="49" charset="0"/>
                <a:cs typeface="Courier New" panose="02070309020205020404" pitchFamily="49" charset="0"/>
              </a:rPr>
              <a:t>ATTGAAAAAGAAATCTTGGCGCTAGTCAAACAAAATCCTAAAGTTAGCCTCATAGAATATGAAAATTACTTTAGCCAACTCAAATACAACCCTAACG…</a:t>
            </a:r>
          </a:p>
          <a:p>
            <a:pPr marL="0" indent="0">
              <a:buFont typeface="Arial" panose="020B0604020202020204" pitchFamily="34" charset="0"/>
              <a:buNone/>
            </a:pPr>
            <a:r>
              <a:rPr lang="en-GB" sz="1600" dirty="0">
                <a:latin typeface="Courier New" panose="02070309020205020404" pitchFamily="49" charset="0"/>
                <a:cs typeface="Courier New" panose="02070309020205020404" pitchFamily="49" charset="0"/>
              </a:rPr>
              <a:t>+</a:t>
            </a:r>
          </a:p>
          <a:p>
            <a:pPr marL="0" indent="0">
              <a:buNone/>
            </a:pPr>
            <a:r>
              <a:rPr lang="en-GB" sz="1600" dirty="0">
                <a:latin typeface="Courier New" panose="02070309020205020404" pitchFamily="49" charset="0"/>
                <a:cs typeface="Courier New" panose="02070309020205020404" pitchFamily="49" charset="0"/>
              </a:rPr>
              <a:t>FFFFFFF:FFF:FFFFFFFFFFFFFF:FF:FFF,FF:FFFFFFF:FFF:FFFFFFF:FFFF:FFFF:F,FFFFFFF:FFFFF:FFFFFF:F,FFFF,…</a:t>
            </a:r>
          </a:p>
        </p:txBody>
      </p:sp>
      <p:sp>
        <p:nvSpPr>
          <p:cNvPr id="15" name="TextBox 14">
            <a:extLst>
              <a:ext uri="{FF2B5EF4-FFF2-40B4-BE49-F238E27FC236}">
                <a16:creationId xmlns:a16="http://schemas.microsoft.com/office/drawing/2014/main" id="{E86C38CF-B6C0-4FA4-5451-CC991BE6614F}"/>
              </a:ext>
            </a:extLst>
          </p:cNvPr>
          <p:cNvSpPr txBox="1"/>
          <p:nvPr/>
        </p:nvSpPr>
        <p:spPr>
          <a:xfrm>
            <a:off x="325080" y="3052181"/>
            <a:ext cx="1021806" cy="369332"/>
          </a:xfrm>
          <a:prstGeom prst="rect">
            <a:avLst/>
          </a:prstGeom>
          <a:noFill/>
        </p:spPr>
        <p:txBody>
          <a:bodyPr wrap="square" rtlCol="0">
            <a:spAutoFit/>
          </a:bodyPr>
          <a:lstStyle/>
          <a:p>
            <a:r>
              <a:rPr lang="en-GB" dirty="0"/>
              <a:t>FASTQ:</a:t>
            </a:r>
          </a:p>
        </p:txBody>
      </p:sp>
      <p:sp>
        <p:nvSpPr>
          <p:cNvPr id="19" name="TextBox 18">
            <a:extLst>
              <a:ext uri="{FF2B5EF4-FFF2-40B4-BE49-F238E27FC236}">
                <a16:creationId xmlns:a16="http://schemas.microsoft.com/office/drawing/2014/main" id="{687D7683-7BF8-03E7-7514-545B7B1257ED}"/>
              </a:ext>
            </a:extLst>
          </p:cNvPr>
          <p:cNvSpPr txBox="1"/>
          <p:nvPr/>
        </p:nvSpPr>
        <p:spPr>
          <a:xfrm>
            <a:off x="135923" y="5351180"/>
            <a:ext cx="11920151" cy="830997"/>
          </a:xfrm>
          <a:prstGeom prst="rect">
            <a:avLst/>
          </a:prstGeom>
          <a:noFill/>
          <a:ln>
            <a:solidFill>
              <a:schemeClr val="tx1"/>
            </a:solidFill>
          </a:ln>
        </p:spPr>
        <p:txBody>
          <a:bodyPr wrap="square">
            <a:spAutoFit/>
          </a:bodyPr>
          <a:lstStyle/>
          <a:p>
            <a:r>
              <a:rPr lang="en-GB" sz="1200" dirty="0">
                <a:latin typeface="Courier New" panose="02070309020205020404" pitchFamily="49" charset="0"/>
                <a:cs typeface="Courier New" panose="02070309020205020404" pitchFamily="49" charset="0"/>
              </a:rPr>
              <a:t>ERR11479310.7235242     99      NZ_AP026446.1   119     23      34M6I110M       =       195     226     ATTGAAAAAGAAATCTTGGCGCTAGTCAAACAAAATCCTAAAGTTAGCCTCATAGAATATGAAAATTACTTTAGCCAACTCAAATACAACCCTAACG	FFFFFFF:FFF:FFFFFFFFFFFFFF:FF:FFF,FF:FFFFFFF:FFF:FFFFFFF:FFFF:FFFF:F,FFFFFFF:FFFFF:FFFFFF:F,FFFF,	</a:t>
            </a:r>
            <a:r>
              <a:rPr lang="en-GB" sz="1200" dirty="0" err="1">
                <a:latin typeface="Courier New" panose="02070309020205020404" pitchFamily="49" charset="0"/>
                <a:cs typeface="Courier New" panose="02070309020205020404" pitchFamily="49" charset="0"/>
              </a:rPr>
              <a:t>AS:i</a:t>
            </a:r>
            <a:r>
              <a:rPr lang="en-GB" sz="1200" dirty="0">
                <a:latin typeface="Courier New" panose="02070309020205020404" pitchFamily="49" charset="0"/>
                <a:cs typeface="Courier New" panose="02070309020205020404" pitchFamily="49" charset="0"/>
              </a:rPr>
              <a:t>:-64        XN:i:0  XM:i:9  XO:i:1  XG:i:6  NM:i:15 MD:Z:24A8G16G10G3G5G35C11C10T13 </a:t>
            </a:r>
            <a:r>
              <a:rPr lang="en-GB" sz="1200" dirty="0" err="1">
                <a:latin typeface="Courier New" panose="02070309020205020404" pitchFamily="49" charset="0"/>
                <a:cs typeface="Courier New" panose="02070309020205020404" pitchFamily="49" charset="0"/>
              </a:rPr>
              <a:t>YS:i</a:t>
            </a:r>
            <a:r>
              <a:rPr lang="en-GB" sz="1200" dirty="0">
                <a:latin typeface="Courier New" panose="02070309020205020404" pitchFamily="49" charset="0"/>
                <a:cs typeface="Courier New" panose="02070309020205020404" pitchFamily="49" charset="0"/>
              </a:rPr>
              <a:t>:-25        YT:Z:CP</a:t>
            </a:r>
          </a:p>
        </p:txBody>
      </p:sp>
      <p:sp>
        <p:nvSpPr>
          <p:cNvPr id="20" name="TextBox 19">
            <a:extLst>
              <a:ext uri="{FF2B5EF4-FFF2-40B4-BE49-F238E27FC236}">
                <a16:creationId xmlns:a16="http://schemas.microsoft.com/office/drawing/2014/main" id="{7C5E4C7D-0F63-2C6B-98E7-D65D1FF2CC5D}"/>
              </a:ext>
            </a:extLst>
          </p:cNvPr>
          <p:cNvSpPr txBox="1"/>
          <p:nvPr/>
        </p:nvSpPr>
        <p:spPr>
          <a:xfrm>
            <a:off x="325080" y="4899529"/>
            <a:ext cx="6705915" cy="369332"/>
          </a:xfrm>
          <a:prstGeom prst="rect">
            <a:avLst/>
          </a:prstGeom>
          <a:noFill/>
        </p:spPr>
        <p:txBody>
          <a:bodyPr wrap="square" rtlCol="0">
            <a:spAutoFit/>
          </a:bodyPr>
          <a:lstStyle/>
          <a:p>
            <a:r>
              <a:rPr lang="en-GB" dirty="0"/>
              <a:t>Alignment file SAM – its binary format is termed BAM</a:t>
            </a:r>
          </a:p>
        </p:txBody>
      </p:sp>
    </p:spTree>
    <p:extLst>
      <p:ext uri="{BB962C8B-B14F-4D97-AF65-F5344CB8AC3E}">
        <p14:creationId xmlns:p14="http://schemas.microsoft.com/office/powerpoint/2010/main" val="292250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9" grpId="0" animBg="1"/>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9A83C28-C232-809F-88C9-C966F327FCAC}"/>
              </a:ext>
            </a:extLst>
          </p:cNvPr>
          <p:cNvSpPr>
            <a:spLocks noGrp="1"/>
          </p:cNvSpPr>
          <p:nvPr>
            <p:ph type="sldNum" sz="quarter" idx="12"/>
          </p:nvPr>
        </p:nvSpPr>
        <p:spPr/>
        <p:txBody>
          <a:bodyPr/>
          <a:lstStyle/>
          <a:p>
            <a:fld id="{62E92BA6-6E87-3343-8D2C-B7A656D628E4}" type="slidenum">
              <a:rPr lang="en-GB" smtClean="0"/>
              <a:t>10</a:t>
            </a:fld>
            <a:endParaRPr lang="en-GB"/>
          </a:p>
        </p:txBody>
      </p:sp>
      <p:sp>
        <p:nvSpPr>
          <p:cNvPr id="8" name="TextBox 7">
            <a:extLst>
              <a:ext uri="{FF2B5EF4-FFF2-40B4-BE49-F238E27FC236}">
                <a16:creationId xmlns:a16="http://schemas.microsoft.com/office/drawing/2014/main" id="{BED1F344-7F89-2466-7547-210D13CD3936}"/>
              </a:ext>
            </a:extLst>
          </p:cNvPr>
          <p:cNvSpPr txBox="1"/>
          <p:nvPr/>
        </p:nvSpPr>
        <p:spPr>
          <a:xfrm>
            <a:off x="149312" y="0"/>
            <a:ext cx="10353932" cy="6721475"/>
          </a:xfrm>
          <a:prstGeom prst="rect">
            <a:avLst/>
          </a:prstGeom>
          <a:noFill/>
          <a:ln>
            <a:solidFill>
              <a:schemeClr val="tx1"/>
            </a:solidFill>
          </a:ln>
        </p:spPr>
        <p:txBody>
          <a:bodyPr wrap="square">
            <a:spAutoFit/>
          </a:bodyPr>
          <a:lstStyle/>
          <a:p>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usr</a:t>
            </a:r>
            <a:r>
              <a:rPr lang="en-GB" sz="1400" dirty="0">
                <a:solidFill>
                  <a:srgbClr val="A72AA7"/>
                </a:solidFill>
                <a:latin typeface="Courier New" panose="02070309020205020404" pitchFamily="49" charset="0"/>
                <a:cs typeface="Courier New" panose="02070309020205020404" pitchFamily="49" charset="0"/>
              </a:rPr>
              <a:t>/bin/env bash</a:t>
            </a:r>
          </a:p>
          <a:p>
            <a:r>
              <a:rPr lang="en-GB" sz="1400" dirty="0">
                <a:solidFill>
                  <a:srgbClr val="A72AA7"/>
                </a:solidFill>
                <a:latin typeface="Courier New" panose="02070309020205020404" pitchFamily="49" charset="0"/>
                <a:cs typeface="Courier New" panose="02070309020205020404" pitchFamily="49" charset="0"/>
              </a:rPr>
              <a:t>set -</a:t>
            </a:r>
            <a:r>
              <a:rPr lang="en-GB" sz="1400" dirty="0" err="1">
                <a:solidFill>
                  <a:srgbClr val="A72AA7"/>
                </a:solidFill>
                <a:latin typeface="Courier New" panose="02070309020205020404" pitchFamily="49" charset="0"/>
                <a:cs typeface="Courier New" panose="02070309020205020404" pitchFamily="49" charset="0"/>
              </a:rPr>
              <a:t>euo</a:t>
            </a:r>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pipefail</a:t>
            </a:r>
            <a:endParaRPr lang="en-GB" sz="1400" dirty="0">
              <a:solidFill>
                <a:srgbClr val="A72AA7"/>
              </a:solidFill>
              <a:latin typeface="Courier New" panose="02070309020205020404" pitchFamily="49" charset="0"/>
              <a:cs typeface="Courier New" panose="02070309020205020404" pitchFamily="49" charset="0"/>
            </a:endParaRPr>
          </a:p>
          <a:p>
            <a:endParaRPr lang="en-GB" sz="1400" dirty="0">
              <a:solidFill>
                <a:srgbClr val="A72AA7"/>
              </a:solidFill>
              <a:latin typeface="Courier New" panose="02070309020205020404" pitchFamily="49" charset="0"/>
              <a:cs typeface="Courier New" panose="02070309020205020404" pitchFamily="49" charset="0"/>
            </a:endParaRPr>
          </a:p>
          <a:p>
            <a:r>
              <a:rPr lang="en-GB" sz="1400" dirty="0" err="1">
                <a:solidFill>
                  <a:srgbClr val="A72AA7"/>
                </a:solidFill>
                <a:latin typeface="Courier New" panose="02070309020205020404" pitchFamily="49" charset="0"/>
                <a:cs typeface="Courier New" panose="02070309020205020404" pitchFamily="49" charset="0"/>
              </a:rPr>
              <a:t>fastq_dir</a:t>
            </a:r>
            <a:r>
              <a:rPr lang="en-GB" sz="1400" dirty="0">
                <a:solidFill>
                  <a:srgbClr val="A72AA7"/>
                </a:solidFill>
                <a:latin typeface="Courier New" panose="02070309020205020404" pitchFamily="49" charset="0"/>
                <a:cs typeface="Courier New" panose="02070309020205020404" pitchFamily="49" charset="0"/>
              </a:rPr>
              <a:t>="results/day1_qc/</a:t>
            </a:r>
            <a:r>
              <a:rPr lang="en-GB" sz="1400" dirty="0" err="1">
                <a:solidFill>
                  <a:srgbClr val="A72AA7"/>
                </a:solidFill>
                <a:latin typeface="Courier New" panose="02070309020205020404" pitchFamily="49" charset="0"/>
                <a:cs typeface="Courier New" panose="02070309020205020404" pitchFamily="49" charset="0"/>
              </a:rPr>
              <a:t>trimmed_fastq</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rnaseq</a:t>
            </a:r>
            <a:r>
              <a:rPr lang="en-GB" sz="1400" dirty="0">
                <a:solidFill>
                  <a:srgbClr val="A72AA7"/>
                </a:solidFill>
                <a:latin typeface="Courier New" panose="02070309020205020404" pitchFamily="49" charset="0"/>
                <a:cs typeface="Courier New" panose="02070309020205020404" pitchFamily="49" charset="0"/>
              </a:rPr>
              <a:t>"</a:t>
            </a:r>
          </a:p>
          <a:p>
            <a:r>
              <a:rPr lang="en-GB" sz="1400" dirty="0" err="1">
                <a:solidFill>
                  <a:srgbClr val="A72AA7"/>
                </a:solidFill>
                <a:latin typeface="Courier New" panose="02070309020205020404" pitchFamily="49" charset="0"/>
                <a:cs typeface="Courier New" panose="02070309020205020404" pitchFamily="49" charset="0"/>
              </a:rPr>
              <a:t>index_prefix</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reference_genome</a:t>
            </a:r>
            <a:r>
              <a:rPr lang="en-GB" sz="1400" dirty="0">
                <a:solidFill>
                  <a:srgbClr val="A72AA7"/>
                </a:solidFill>
                <a:latin typeface="Courier New" panose="02070309020205020404" pitchFamily="49" charset="0"/>
                <a:cs typeface="Courier New" panose="02070309020205020404" pitchFamily="49" charset="0"/>
              </a:rPr>
              <a:t>/bowtie2_index/genome"</a:t>
            </a:r>
          </a:p>
          <a:p>
            <a:r>
              <a:rPr lang="en-GB" sz="1400" dirty="0" err="1">
                <a:solidFill>
                  <a:srgbClr val="A72AA7"/>
                </a:solidFill>
                <a:latin typeface="Courier New" panose="02070309020205020404" pitchFamily="49" charset="0"/>
                <a:cs typeface="Courier New" panose="02070309020205020404" pitchFamily="49" charset="0"/>
              </a:rPr>
              <a:t>bam_dir</a:t>
            </a:r>
            <a:r>
              <a:rPr lang="en-GB" sz="1400" dirty="0">
                <a:solidFill>
                  <a:srgbClr val="A72AA7"/>
                </a:solidFill>
                <a:latin typeface="Courier New" panose="02070309020205020404" pitchFamily="49" charset="0"/>
                <a:cs typeface="Courier New" panose="02070309020205020404" pitchFamily="49" charset="0"/>
              </a:rPr>
              <a:t>="results/day2_rnaseq/bam"</a:t>
            </a:r>
          </a:p>
          <a:p>
            <a:r>
              <a:rPr lang="en-GB" sz="1400" dirty="0" err="1">
                <a:solidFill>
                  <a:srgbClr val="A72AA7"/>
                </a:solidFill>
                <a:latin typeface="Courier New" panose="02070309020205020404" pitchFamily="49" charset="0"/>
                <a:cs typeface="Courier New" panose="02070309020205020404" pitchFamily="49" charset="0"/>
              </a:rPr>
              <a:t>log_dir</a:t>
            </a:r>
            <a:r>
              <a:rPr lang="en-GB" sz="1400" dirty="0">
                <a:solidFill>
                  <a:srgbClr val="A72AA7"/>
                </a:solidFill>
                <a:latin typeface="Courier New" panose="02070309020205020404" pitchFamily="49" charset="0"/>
                <a:cs typeface="Courier New" panose="02070309020205020404" pitchFamily="49" charset="0"/>
              </a:rPr>
              <a:t>="results/logs/day2"</a:t>
            </a:r>
          </a:p>
          <a:p>
            <a:endParaRPr lang="en-GB" sz="1400" dirty="0">
              <a:solidFill>
                <a:srgbClr val="A72AA7"/>
              </a:solidFill>
              <a:latin typeface="Courier New" panose="02070309020205020404" pitchFamily="49" charset="0"/>
              <a:cs typeface="Courier New" panose="02070309020205020404" pitchFamily="49" charset="0"/>
            </a:endParaRPr>
          </a:p>
          <a:p>
            <a:r>
              <a:rPr lang="en-GB" sz="1400" dirty="0" err="1">
                <a:solidFill>
                  <a:srgbClr val="A72AA7"/>
                </a:solidFill>
                <a:latin typeface="Courier New" panose="02070309020205020404" pitchFamily="49" charset="0"/>
                <a:cs typeface="Courier New" panose="02070309020205020404" pitchFamily="49" charset="0"/>
              </a:rPr>
              <a:t>mkdir</a:t>
            </a:r>
            <a:r>
              <a:rPr lang="en-GB" sz="1400" dirty="0">
                <a:solidFill>
                  <a:srgbClr val="A72AA7"/>
                </a:solidFill>
                <a:latin typeface="Courier New" panose="02070309020205020404" pitchFamily="49" charset="0"/>
                <a:cs typeface="Courier New" panose="02070309020205020404" pitchFamily="49" charset="0"/>
              </a:rPr>
              <a:t> -p "${</a:t>
            </a:r>
            <a:r>
              <a:rPr lang="en-GB" sz="1400" dirty="0" err="1">
                <a:solidFill>
                  <a:srgbClr val="A72AA7"/>
                </a:solidFill>
                <a:latin typeface="Courier New" panose="02070309020205020404" pitchFamily="49" charset="0"/>
                <a:cs typeface="Courier New" panose="02070309020205020404" pitchFamily="49" charset="0"/>
              </a:rPr>
              <a:t>bam_dir</a:t>
            </a:r>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log_dir</a:t>
            </a:r>
            <a:r>
              <a:rPr lang="en-GB" sz="1400" dirty="0">
                <a:solidFill>
                  <a:srgbClr val="A72AA7"/>
                </a:solidFill>
                <a:latin typeface="Courier New" panose="02070309020205020404" pitchFamily="49" charset="0"/>
                <a:cs typeface="Courier New" panose="02070309020205020404" pitchFamily="49" charset="0"/>
              </a:rPr>
              <a:t>}"</a:t>
            </a:r>
          </a:p>
          <a:p>
            <a:endParaRPr lang="en-GB" sz="1400" dirty="0">
              <a:solidFill>
                <a:srgbClr val="A72AA7"/>
              </a:solidFill>
              <a:latin typeface="Courier New" panose="02070309020205020404" pitchFamily="49" charset="0"/>
              <a:cs typeface="Courier New" panose="02070309020205020404" pitchFamily="49" charset="0"/>
            </a:endParaRPr>
          </a:p>
          <a:p>
            <a:r>
              <a:rPr lang="en-GB" sz="1400" dirty="0">
                <a:solidFill>
                  <a:srgbClr val="A72AA7"/>
                </a:solidFill>
                <a:latin typeface="Courier New" panose="02070309020205020404" pitchFamily="49" charset="0"/>
                <a:cs typeface="Courier New" panose="02070309020205020404" pitchFamily="49" charset="0"/>
              </a:rPr>
              <a:t>for read1 in "${</a:t>
            </a:r>
            <a:r>
              <a:rPr lang="en-GB" sz="1400" dirty="0" err="1">
                <a:solidFill>
                  <a:srgbClr val="A72AA7"/>
                </a:solidFill>
                <a:latin typeface="Courier New" panose="02070309020205020404" pitchFamily="49" charset="0"/>
                <a:cs typeface="Courier New" panose="02070309020205020404" pitchFamily="49" charset="0"/>
              </a:rPr>
              <a:t>fastq_dir</a:t>
            </a:r>
            <a:r>
              <a:rPr lang="en-GB" sz="1400" dirty="0">
                <a:solidFill>
                  <a:srgbClr val="A72AA7"/>
                </a:solidFill>
                <a:latin typeface="Courier New" panose="02070309020205020404" pitchFamily="49" charset="0"/>
                <a:cs typeface="Courier New" panose="02070309020205020404" pitchFamily="49" charset="0"/>
              </a:rPr>
              <a:t>}"/*_R1.trimmed.fastq.gz</a:t>
            </a:r>
          </a:p>
          <a:p>
            <a:r>
              <a:rPr lang="en-GB" sz="1400" dirty="0">
                <a:solidFill>
                  <a:srgbClr val="A72AA7"/>
                </a:solidFill>
                <a:latin typeface="Courier New" panose="02070309020205020404" pitchFamily="49" charset="0"/>
                <a:cs typeface="Courier New" panose="02070309020205020404" pitchFamily="49" charset="0"/>
              </a:rPr>
              <a:t>do</a:t>
            </a:r>
          </a:p>
          <a:p>
            <a:r>
              <a:rPr lang="en-GB" sz="1400" dirty="0">
                <a:solidFill>
                  <a:srgbClr val="A72AA7"/>
                </a:solidFill>
                <a:latin typeface="Courier New" panose="02070309020205020404" pitchFamily="49" charset="0"/>
                <a:cs typeface="Courier New" panose="02070309020205020404" pitchFamily="49" charset="0"/>
              </a:rPr>
              <a:t>  read2="${read1/_R1.trimmed.fastq.gz/_R2.trimmed.fastq.gz}"</a:t>
            </a:r>
          </a:p>
          <a:p>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sample_id</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basename</a:t>
            </a:r>
            <a:r>
              <a:rPr lang="en-GB" sz="1400" dirty="0">
                <a:solidFill>
                  <a:srgbClr val="A72AA7"/>
                </a:solidFill>
                <a:latin typeface="Courier New" panose="02070309020205020404" pitchFamily="49" charset="0"/>
                <a:cs typeface="Courier New" panose="02070309020205020404" pitchFamily="49" charset="0"/>
              </a:rPr>
              <a:t> "${read1}" _R1.trimmed.fastq.gz)"</a:t>
            </a:r>
          </a:p>
          <a:p>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sam_file</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bam_dir</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sample_id</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sam</a:t>
            </a:r>
            <a:r>
              <a:rPr lang="en-GB" sz="1400" dirty="0">
                <a:solidFill>
                  <a:srgbClr val="A72AA7"/>
                </a:solidFill>
                <a:latin typeface="Courier New" panose="02070309020205020404" pitchFamily="49" charset="0"/>
                <a:cs typeface="Courier New" panose="02070309020205020404" pitchFamily="49" charset="0"/>
              </a:rPr>
              <a:t>"</a:t>
            </a:r>
          </a:p>
          <a:p>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bam_file</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bam_dir</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sample_id</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sorted.bam</a:t>
            </a:r>
            <a:r>
              <a:rPr lang="en-GB" sz="1400" dirty="0">
                <a:solidFill>
                  <a:srgbClr val="A72AA7"/>
                </a:solidFill>
                <a:latin typeface="Courier New" panose="02070309020205020404" pitchFamily="49" charset="0"/>
                <a:cs typeface="Courier New" panose="02070309020205020404" pitchFamily="49" charset="0"/>
              </a:rPr>
              <a:t>"</a:t>
            </a:r>
          </a:p>
          <a:p>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filtered_bam</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bam_dir</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sample_id</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filtered.bam</a:t>
            </a:r>
            <a:r>
              <a:rPr lang="en-GB" sz="1400" dirty="0">
                <a:solidFill>
                  <a:srgbClr val="A72AA7"/>
                </a:solidFill>
                <a:latin typeface="Courier New" panose="02070309020205020404" pitchFamily="49" charset="0"/>
                <a:cs typeface="Courier New" panose="02070309020205020404" pitchFamily="49" charset="0"/>
              </a:rPr>
              <a:t>"</a:t>
            </a:r>
          </a:p>
          <a:p>
            <a:r>
              <a:rPr lang="en-GB" sz="1400" dirty="0">
                <a:solidFill>
                  <a:srgbClr val="A72AA7"/>
                </a:solidFill>
                <a:latin typeface="Courier New" panose="02070309020205020404" pitchFamily="49" charset="0"/>
                <a:cs typeface="Courier New" panose="02070309020205020404" pitchFamily="49" charset="0"/>
              </a:rPr>
              <a:t>  </a:t>
            </a:r>
            <a:r>
              <a:rPr lang="en-GB" sz="1400" dirty="0">
                <a:solidFill>
                  <a:schemeClr val="tx1">
                    <a:lumMod val="95000"/>
                    <a:lumOff val="5000"/>
                  </a:schemeClr>
                </a:solidFill>
                <a:latin typeface="Courier New" panose="02070309020205020404" pitchFamily="49" charset="0"/>
                <a:cs typeface="Courier New" panose="02070309020205020404" pitchFamily="49" charset="0"/>
              </a:rPr>
              <a:t>bowtie2</a:t>
            </a:r>
            <a:r>
              <a:rPr lang="en-GB" sz="1400" dirty="0">
                <a:solidFill>
                  <a:srgbClr val="A72AA7"/>
                </a:solidFill>
                <a:latin typeface="Courier New" panose="02070309020205020404" pitchFamily="49" charset="0"/>
                <a:cs typeface="Courier New" panose="02070309020205020404" pitchFamily="49" charset="0"/>
              </a:rPr>
              <a:t> \</a:t>
            </a:r>
          </a:p>
          <a:p>
            <a:r>
              <a:rPr lang="en-GB" sz="1400" dirty="0">
                <a:solidFill>
                  <a:srgbClr val="A72AA7"/>
                </a:solidFill>
                <a:latin typeface="Courier New" panose="02070309020205020404" pitchFamily="49" charset="0"/>
                <a:cs typeface="Courier New" panose="02070309020205020404" pitchFamily="49" charset="0"/>
              </a:rPr>
              <a:t>    -x "${</a:t>
            </a:r>
            <a:r>
              <a:rPr lang="en-GB" sz="1400" dirty="0" err="1">
                <a:solidFill>
                  <a:srgbClr val="A72AA7"/>
                </a:solidFill>
                <a:latin typeface="Courier New" panose="02070309020205020404" pitchFamily="49" charset="0"/>
                <a:cs typeface="Courier New" panose="02070309020205020404" pitchFamily="49" charset="0"/>
              </a:rPr>
              <a:t>index_prefix</a:t>
            </a:r>
            <a:r>
              <a:rPr lang="en-GB" sz="1400" dirty="0">
                <a:solidFill>
                  <a:srgbClr val="A72AA7"/>
                </a:solidFill>
                <a:latin typeface="Courier New" panose="02070309020205020404" pitchFamily="49" charset="0"/>
                <a:cs typeface="Courier New" panose="02070309020205020404" pitchFamily="49" charset="0"/>
              </a:rPr>
              <a:t>}" \</a:t>
            </a:r>
          </a:p>
          <a:p>
            <a:r>
              <a:rPr lang="en-GB" sz="1400" dirty="0">
                <a:solidFill>
                  <a:srgbClr val="A72AA7"/>
                </a:solidFill>
                <a:latin typeface="Courier New" panose="02070309020205020404" pitchFamily="49" charset="0"/>
                <a:cs typeface="Courier New" panose="02070309020205020404" pitchFamily="49" charset="0"/>
              </a:rPr>
              <a:t>    -1 "${read1}" -2 "${read2}" -p 2 -S "${</a:t>
            </a:r>
            <a:r>
              <a:rPr lang="en-GB" sz="1400" dirty="0" err="1">
                <a:solidFill>
                  <a:srgbClr val="A72AA7"/>
                </a:solidFill>
                <a:latin typeface="Courier New" panose="02070309020205020404" pitchFamily="49" charset="0"/>
                <a:cs typeface="Courier New" panose="02070309020205020404" pitchFamily="49" charset="0"/>
              </a:rPr>
              <a:t>sam_file</a:t>
            </a:r>
            <a:r>
              <a:rPr lang="en-GB" sz="1400" dirty="0">
                <a:solidFill>
                  <a:srgbClr val="A72AA7"/>
                </a:solidFill>
                <a:latin typeface="Courier New" panose="02070309020205020404" pitchFamily="49" charset="0"/>
                <a:cs typeface="Courier New" panose="02070309020205020404" pitchFamily="49" charset="0"/>
              </a:rPr>
              <a:t>}" 2&gt; "${</a:t>
            </a:r>
            <a:r>
              <a:rPr lang="en-GB" sz="1400" dirty="0" err="1">
                <a:solidFill>
                  <a:srgbClr val="A72AA7"/>
                </a:solidFill>
                <a:latin typeface="Courier New" panose="02070309020205020404" pitchFamily="49" charset="0"/>
                <a:cs typeface="Courier New" panose="02070309020205020404" pitchFamily="49" charset="0"/>
              </a:rPr>
              <a:t>log_dir</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sample_id</a:t>
            </a:r>
            <a:r>
              <a:rPr lang="en-GB" sz="1400" dirty="0">
                <a:solidFill>
                  <a:srgbClr val="A72AA7"/>
                </a:solidFill>
                <a:latin typeface="Courier New" panose="02070309020205020404" pitchFamily="49" charset="0"/>
                <a:cs typeface="Courier New" panose="02070309020205020404" pitchFamily="49" charset="0"/>
              </a:rPr>
              <a:t>}.bowtie2.log"</a:t>
            </a:r>
          </a:p>
          <a:p>
            <a:endParaRPr lang="en-GB" sz="1400" dirty="0">
              <a:solidFill>
                <a:srgbClr val="A72AA7"/>
              </a:solidFill>
              <a:latin typeface="Courier New" panose="02070309020205020404" pitchFamily="49" charset="0"/>
              <a:cs typeface="Courier New" panose="02070309020205020404" pitchFamily="49" charset="0"/>
            </a:endParaRPr>
          </a:p>
          <a:p>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chemeClr val="tx1">
                    <a:lumMod val="95000"/>
                    <a:lumOff val="5000"/>
                  </a:schemeClr>
                </a:solidFill>
                <a:latin typeface="Courier New" panose="02070309020205020404" pitchFamily="49" charset="0"/>
                <a:cs typeface="Courier New" panose="02070309020205020404" pitchFamily="49" charset="0"/>
              </a:rPr>
              <a:t>samtools</a:t>
            </a:r>
            <a:r>
              <a:rPr lang="en-GB" sz="1400" dirty="0">
                <a:solidFill>
                  <a:srgbClr val="A72AA7"/>
                </a:solidFill>
                <a:latin typeface="Courier New" panose="02070309020205020404" pitchFamily="49" charset="0"/>
                <a:cs typeface="Courier New" panose="02070309020205020404" pitchFamily="49" charset="0"/>
              </a:rPr>
              <a:t> sort -@ 2 -o "${</a:t>
            </a:r>
            <a:r>
              <a:rPr lang="en-GB" sz="1400" dirty="0" err="1">
                <a:solidFill>
                  <a:srgbClr val="A72AA7"/>
                </a:solidFill>
                <a:latin typeface="Courier New" panose="02070309020205020404" pitchFamily="49" charset="0"/>
                <a:cs typeface="Courier New" panose="02070309020205020404" pitchFamily="49" charset="0"/>
              </a:rPr>
              <a:t>bam_file</a:t>
            </a:r>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sam_file</a:t>
            </a:r>
            <a:r>
              <a:rPr lang="en-GB" sz="1400" dirty="0">
                <a:solidFill>
                  <a:srgbClr val="A72AA7"/>
                </a:solidFill>
                <a:latin typeface="Courier New" panose="02070309020205020404" pitchFamily="49" charset="0"/>
                <a:cs typeface="Courier New" panose="02070309020205020404" pitchFamily="49" charset="0"/>
              </a:rPr>
              <a:t>}"</a:t>
            </a:r>
          </a:p>
          <a:p>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chemeClr val="tx1">
                    <a:lumMod val="95000"/>
                    <a:lumOff val="5000"/>
                  </a:schemeClr>
                </a:solidFill>
                <a:latin typeface="Courier New" panose="02070309020205020404" pitchFamily="49" charset="0"/>
                <a:cs typeface="Courier New" panose="02070309020205020404" pitchFamily="49" charset="0"/>
              </a:rPr>
              <a:t>samtools</a:t>
            </a:r>
            <a:r>
              <a:rPr lang="en-GB" sz="1400" dirty="0">
                <a:solidFill>
                  <a:srgbClr val="A72AA7"/>
                </a:solidFill>
                <a:latin typeface="Courier New" panose="02070309020205020404" pitchFamily="49" charset="0"/>
                <a:cs typeface="Courier New" panose="02070309020205020404" pitchFamily="49" charset="0"/>
              </a:rPr>
              <a:t> index "${</a:t>
            </a:r>
            <a:r>
              <a:rPr lang="en-GB" sz="1400" dirty="0" err="1">
                <a:solidFill>
                  <a:srgbClr val="A72AA7"/>
                </a:solidFill>
                <a:latin typeface="Courier New" panose="02070309020205020404" pitchFamily="49" charset="0"/>
                <a:cs typeface="Courier New" panose="02070309020205020404" pitchFamily="49" charset="0"/>
              </a:rPr>
              <a:t>bam_file</a:t>
            </a:r>
            <a:r>
              <a:rPr lang="en-GB" sz="1400" dirty="0">
                <a:solidFill>
                  <a:srgbClr val="A72AA7"/>
                </a:solidFill>
                <a:latin typeface="Courier New" panose="02070309020205020404" pitchFamily="49" charset="0"/>
                <a:cs typeface="Courier New" panose="02070309020205020404" pitchFamily="49" charset="0"/>
              </a:rPr>
              <a:t>}"</a:t>
            </a:r>
          </a:p>
          <a:p>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chemeClr val="tx1">
                    <a:lumMod val="95000"/>
                    <a:lumOff val="5000"/>
                  </a:schemeClr>
                </a:solidFill>
                <a:latin typeface="Courier New" panose="02070309020205020404" pitchFamily="49" charset="0"/>
                <a:cs typeface="Courier New" panose="02070309020205020404" pitchFamily="49" charset="0"/>
              </a:rPr>
              <a:t>samtools</a:t>
            </a:r>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flagstat</a:t>
            </a:r>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bam_file</a:t>
            </a:r>
            <a:r>
              <a:rPr lang="en-GB" sz="1400" dirty="0">
                <a:solidFill>
                  <a:srgbClr val="A72AA7"/>
                </a:solidFill>
                <a:latin typeface="Courier New" panose="02070309020205020404" pitchFamily="49" charset="0"/>
                <a:cs typeface="Courier New" panose="02070309020205020404" pitchFamily="49" charset="0"/>
              </a:rPr>
              <a:t>}" &gt; "${</a:t>
            </a:r>
            <a:r>
              <a:rPr lang="en-GB" sz="1400" dirty="0" err="1">
                <a:solidFill>
                  <a:srgbClr val="A72AA7"/>
                </a:solidFill>
                <a:latin typeface="Courier New" panose="02070309020205020404" pitchFamily="49" charset="0"/>
                <a:cs typeface="Courier New" panose="02070309020205020404" pitchFamily="49" charset="0"/>
              </a:rPr>
              <a:t>log_dir</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sample_id</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flagstat.txt</a:t>
            </a:r>
            <a:r>
              <a:rPr lang="en-GB" sz="1400" dirty="0">
                <a:solidFill>
                  <a:srgbClr val="A72AA7"/>
                </a:solidFill>
                <a:latin typeface="Courier New" panose="02070309020205020404" pitchFamily="49" charset="0"/>
                <a:cs typeface="Courier New" panose="02070309020205020404" pitchFamily="49" charset="0"/>
              </a:rPr>
              <a:t>"</a:t>
            </a:r>
          </a:p>
          <a:p>
            <a:endParaRPr lang="en-GB" sz="1400" dirty="0">
              <a:solidFill>
                <a:srgbClr val="A72AA7"/>
              </a:solidFill>
              <a:latin typeface="Courier New" panose="02070309020205020404" pitchFamily="49" charset="0"/>
              <a:cs typeface="Courier New" panose="02070309020205020404" pitchFamily="49" charset="0"/>
            </a:endParaRPr>
          </a:p>
          <a:p>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chemeClr val="tx1">
                    <a:lumMod val="95000"/>
                    <a:lumOff val="5000"/>
                  </a:schemeClr>
                </a:solidFill>
                <a:latin typeface="Courier New" panose="02070309020205020404" pitchFamily="49" charset="0"/>
                <a:cs typeface="Courier New" panose="02070309020205020404" pitchFamily="49" charset="0"/>
              </a:rPr>
              <a:t>samtools</a:t>
            </a:r>
            <a:r>
              <a:rPr lang="en-GB" sz="1400" dirty="0">
                <a:solidFill>
                  <a:srgbClr val="A72AA7"/>
                </a:solidFill>
                <a:latin typeface="Courier New" panose="02070309020205020404" pitchFamily="49" charset="0"/>
                <a:cs typeface="Courier New" panose="02070309020205020404" pitchFamily="49" charset="0"/>
              </a:rPr>
              <a:t> view -@ 2 -b -q 10 -f 2 -F 2828 -o "${</a:t>
            </a:r>
            <a:r>
              <a:rPr lang="en-GB" sz="1400" dirty="0" err="1">
                <a:solidFill>
                  <a:srgbClr val="A72AA7"/>
                </a:solidFill>
                <a:latin typeface="Courier New" panose="02070309020205020404" pitchFamily="49" charset="0"/>
                <a:cs typeface="Courier New" panose="02070309020205020404" pitchFamily="49" charset="0"/>
              </a:rPr>
              <a:t>filtered_bam</a:t>
            </a:r>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bam_file</a:t>
            </a:r>
            <a:r>
              <a:rPr lang="en-GB" sz="1400" dirty="0">
                <a:solidFill>
                  <a:srgbClr val="A72AA7"/>
                </a:solidFill>
                <a:latin typeface="Courier New" panose="02070309020205020404" pitchFamily="49" charset="0"/>
                <a:cs typeface="Courier New" panose="02070309020205020404" pitchFamily="49" charset="0"/>
              </a:rPr>
              <a:t>}"</a:t>
            </a:r>
          </a:p>
          <a:p>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chemeClr val="tx1">
                    <a:lumMod val="95000"/>
                    <a:lumOff val="5000"/>
                  </a:schemeClr>
                </a:solidFill>
                <a:latin typeface="Courier New" panose="02070309020205020404" pitchFamily="49" charset="0"/>
                <a:cs typeface="Courier New" panose="02070309020205020404" pitchFamily="49" charset="0"/>
              </a:rPr>
              <a:t>samtools</a:t>
            </a:r>
            <a:r>
              <a:rPr lang="en-GB" sz="1400" dirty="0">
                <a:solidFill>
                  <a:srgbClr val="A72AA7"/>
                </a:solidFill>
                <a:latin typeface="Courier New" panose="02070309020205020404" pitchFamily="49" charset="0"/>
                <a:cs typeface="Courier New" panose="02070309020205020404" pitchFamily="49" charset="0"/>
              </a:rPr>
              <a:t> index "${</a:t>
            </a:r>
            <a:r>
              <a:rPr lang="en-GB" sz="1400" dirty="0" err="1">
                <a:solidFill>
                  <a:srgbClr val="A72AA7"/>
                </a:solidFill>
                <a:latin typeface="Courier New" panose="02070309020205020404" pitchFamily="49" charset="0"/>
                <a:cs typeface="Courier New" panose="02070309020205020404" pitchFamily="49" charset="0"/>
              </a:rPr>
              <a:t>filtered_bam</a:t>
            </a:r>
            <a:r>
              <a:rPr lang="en-GB" sz="1400" dirty="0">
                <a:solidFill>
                  <a:srgbClr val="A72AA7"/>
                </a:solidFill>
                <a:latin typeface="Courier New" panose="02070309020205020404" pitchFamily="49" charset="0"/>
                <a:cs typeface="Courier New" panose="02070309020205020404" pitchFamily="49" charset="0"/>
              </a:rPr>
              <a:t>}”</a:t>
            </a:r>
          </a:p>
          <a:p>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chemeClr val="tx1">
                    <a:lumMod val="95000"/>
                    <a:lumOff val="5000"/>
                  </a:schemeClr>
                </a:solidFill>
                <a:latin typeface="Courier New" panose="02070309020205020404" pitchFamily="49" charset="0"/>
                <a:cs typeface="Courier New" panose="02070309020205020404" pitchFamily="49" charset="0"/>
              </a:rPr>
              <a:t>samtools</a:t>
            </a:r>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flagstat</a:t>
            </a:r>
            <a:r>
              <a:rPr lang="en-GB" sz="1400" dirty="0">
                <a:solidFill>
                  <a:srgbClr val="A72AA7"/>
                </a:solidFill>
                <a:latin typeface="Courier New" panose="02070309020205020404" pitchFamily="49" charset="0"/>
                <a:cs typeface="Courier New" panose="02070309020205020404" pitchFamily="49" charset="0"/>
              </a:rPr>
              <a:t> "${</a:t>
            </a:r>
            <a:r>
              <a:rPr lang="en-GB" sz="1400" dirty="0" err="1">
                <a:solidFill>
                  <a:srgbClr val="A72AA7"/>
                </a:solidFill>
                <a:latin typeface="Courier New" panose="02070309020205020404" pitchFamily="49" charset="0"/>
                <a:cs typeface="Courier New" panose="02070309020205020404" pitchFamily="49" charset="0"/>
              </a:rPr>
              <a:t>filtered_bam</a:t>
            </a:r>
            <a:r>
              <a:rPr lang="en-GB" sz="1400" dirty="0">
                <a:solidFill>
                  <a:srgbClr val="A72AA7"/>
                </a:solidFill>
                <a:latin typeface="Courier New" panose="02070309020205020404" pitchFamily="49" charset="0"/>
                <a:cs typeface="Courier New" panose="02070309020205020404" pitchFamily="49" charset="0"/>
              </a:rPr>
              <a:t>}" &gt; "${</a:t>
            </a:r>
            <a:r>
              <a:rPr lang="en-GB" sz="1400" dirty="0" err="1">
                <a:solidFill>
                  <a:srgbClr val="A72AA7"/>
                </a:solidFill>
                <a:latin typeface="Courier New" panose="02070309020205020404" pitchFamily="49" charset="0"/>
                <a:cs typeface="Courier New" panose="02070309020205020404" pitchFamily="49" charset="0"/>
              </a:rPr>
              <a:t>log_dir</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sample_id</a:t>
            </a:r>
            <a:r>
              <a:rPr lang="en-GB" sz="1400" dirty="0">
                <a:solidFill>
                  <a:srgbClr val="A72AA7"/>
                </a:solidFill>
                <a:latin typeface="Courier New" panose="02070309020205020404" pitchFamily="49" charset="0"/>
                <a:cs typeface="Courier New" panose="02070309020205020404" pitchFamily="49" charset="0"/>
              </a:rPr>
              <a:t>}.</a:t>
            </a:r>
            <a:r>
              <a:rPr lang="en-GB" sz="1400" dirty="0" err="1">
                <a:solidFill>
                  <a:srgbClr val="A72AA7"/>
                </a:solidFill>
                <a:latin typeface="Courier New" panose="02070309020205020404" pitchFamily="49" charset="0"/>
                <a:cs typeface="Courier New" panose="02070309020205020404" pitchFamily="49" charset="0"/>
              </a:rPr>
              <a:t>filtered.flagstat.txt</a:t>
            </a:r>
            <a:r>
              <a:rPr lang="en-GB" sz="1400" dirty="0">
                <a:solidFill>
                  <a:srgbClr val="A72AA7"/>
                </a:solidFill>
                <a:latin typeface="Courier New" panose="02070309020205020404" pitchFamily="49" charset="0"/>
                <a:cs typeface="Courier New" panose="02070309020205020404" pitchFamily="49" charset="0"/>
              </a:rPr>
              <a:t>"</a:t>
            </a:r>
          </a:p>
          <a:p>
            <a:endParaRPr lang="en-GB" sz="1400" dirty="0">
              <a:solidFill>
                <a:srgbClr val="A72AA7"/>
              </a:solidFill>
              <a:latin typeface="Courier New" panose="02070309020205020404" pitchFamily="49" charset="0"/>
              <a:cs typeface="Courier New" panose="02070309020205020404" pitchFamily="49" charset="0"/>
            </a:endParaRPr>
          </a:p>
          <a:p>
            <a:r>
              <a:rPr lang="en-GB" sz="1400" dirty="0">
                <a:solidFill>
                  <a:srgbClr val="A72AA7"/>
                </a:solidFill>
                <a:latin typeface="Courier New" panose="02070309020205020404" pitchFamily="49" charset="0"/>
                <a:cs typeface="Courier New" panose="02070309020205020404" pitchFamily="49" charset="0"/>
              </a:rPr>
              <a:t>  rm -f "${</a:t>
            </a:r>
            <a:r>
              <a:rPr lang="en-GB" sz="1400" dirty="0" err="1">
                <a:solidFill>
                  <a:srgbClr val="A72AA7"/>
                </a:solidFill>
                <a:latin typeface="Courier New" panose="02070309020205020404" pitchFamily="49" charset="0"/>
                <a:cs typeface="Courier New" panose="02070309020205020404" pitchFamily="49" charset="0"/>
              </a:rPr>
              <a:t>sam_file</a:t>
            </a:r>
            <a:r>
              <a:rPr lang="en-GB" sz="1400" dirty="0">
                <a:solidFill>
                  <a:srgbClr val="A72AA7"/>
                </a:solidFill>
                <a:latin typeface="Courier New" panose="02070309020205020404" pitchFamily="49" charset="0"/>
                <a:cs typeface="Courier New" panose="02070309020205020404" pitchFamily="49" charset="0"/>
              </a:rPr>
              <a:t>}"</a:t>
            </a:r>
          </a:p>
          <a:p>
            <a:r>
              <a:rPr lang="en-GB" sz="1400" dirty="0">
                <a:solidFill>
                  <a:srgbClr val="A72AA7"/>
                </a:solidFill>
                <a:latin typeface="Courier New" panose="02070309020205020404" pitchFamily="49" charset="0"/>
                <a:cs typeface="Courier New" panose="02070309020205020404" pitchFamily="49" charset="0"/>
              </a:rPr>
              <a:t>done</a:t>
            </a:r>
          </a:p>
        </p:txBody>
      </p:sp>
      <p:sp>
        <p:nvSpPr>
          <p:cNvPr id="9" name="TextBox 8">
            <a:extLst>
              <a:ext uri="{FF2B5EF4-FFF2-40B4-BE49-F238E27FC236}">
                <a16:creationId xmlns:a16="http://schemas.microsoft.com/office/drawing/2014/main" id="{FE0CAB8C-9DD2-9BD9-3F65-83C0708A9C52}"/>
              </a:ext>
            </a:extLst>
          </p:cNvPr>
          <p:cNvSpPr txBox="1"/>
          <p:nvPr/>
        </p:nvSpPr>
        <p:spPr>
          <a:xfrm>
            <a:off x="4425130" y="235379"/>
            <a:ext cx="7766870" cy="369332"/>
          </a:xfrm>
          <a:prstGeom prst="rect">
            <a:avLst/>
          </a:prstGeom>
          <a:solidFill>
            <a:schemeClr val="bg1"/>
          </a:solidFill>
          <a:ln>
            <a:solidFill>
              <a:schemeClr val="tx1"/>
            </a:solidFill>
          </a:ln>
        </p:spPr>
        <p:txBody>
          <a:bodyPr wrap="none" rtlCol="0">
            <a:spAutoFit/>
          </a:bodyPr>
          <a:lstStyle/>
          <a:p>
            <a:r>
              <a:rPr lang="en-IT" dirty="0">
                <a:latin typeface="Courier New" panose="02070309020205020404" pitchFamily="49" charset="0"/>
                <a:cs typeface="Courier New" panose="02070309020205020404" pitchFamily="49" charset="0"/>
              </a:rPr>
              <a:t>Create </a:t>
            </a:r>
            <a:r>
              <a:rPr lang="en-IT" dirty="0">
                <a:solidFill>
                  <a:srgbClr val="A72AA7"/>
                </a:solidFill>
                <a:latin typeface="Courier New" panose="02070309020205020404" pitchFamily="49" charset="0"/>
                <a:cs typeface="Courier New" panose="02070309020205020404" pitchFamily="49" charset="0"/>
              </a:rPr>
              <a:t>scripts/day2_rnaseq/02_map_bowtie2_sort_index.sh</a:t>
            </a:r>
            <a:endParaRPr lang="en-GB" dirty="0">
              <a:solidFill>
                <a:srgbClr val="A72AA7"/>
              </a:solidFill>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90DC898F-5C2D-ADD0-74FF-C2570392CDE6}"/>
              </a:ext>
            </a:extLst>
          </p:cNvPr>
          <p:cNvSpPr txBox="1"/>
          <p:nvPr/>
        </p:nvSpPr>
        <p:spPr>
          <a:xfrm>
            <a:off x="5585256" y="2046744"/>
            <a:ext cx="6973384" cy="1569660"/>
          </a:xfrm>
          <a:prstGeom prst="rect">
            <a:avLst/>
          </a:prstGeom>
          <a:solidFill>
            <a:schemeClr val="bg1"/>
          </a:solidFill>
          <a:ln>
            <a:solidFill>
              <a:schemeClr val="tx1"/>
            </a:solidFill>
          </a:ln>
        </p:spPr>
        <p:txBody>
          <a:bodyPr wrap="none" rtlCol="0">
            <a:spAutoFit/>
          </a:bodyPr>
          <a:lstStyle/>
          <a:p>
            <a:r>
              <a:rPr lang="en-GB" sz="1600" dirty="0">
                <a:solidFill>
                  <a:schemeClr val="accent3">
                    <a:lumMod val="75000"/>
                  </a:schemeClr>
                </a:solidFill>
                <a:latin typeface="Courier New" panose="02070309020205020404" pitchFamily="49" charset="0"/>
                <a:cs typeface="Courier New" panose="02070309020205020404" pitchFamily="49" charset="0"/>
              </a:rPr>
              <a:t>docker run --rm \</a:t>
            </a:r>
          </a:p>
          <a:p>
            <a:r>
              <a:rPr lang="en-GB" sz="1600" dirty="0">
                <a:solidFill>
                  <a:schemeClr val="accent3">
                    <a:lumMod val="75000"/>
                  </a:schemeClr>
                </a:solidFill>
                <a:latin typeface="Courier New" panose="02070309020205020404" pitchFamily="49" charset="0"/>
                <a:cs typeface="Courier New" panose="02070309020205020404" pitchFamily="49" charset="0"/>
              </a:rPr>
              <a:t>  --user "$(id -u):$(id -g)" \</a:t>
            </a:r>
          </a:p>
          <a:p>
            <a:r>
              <a:rPr lang="en-GB" sz="1600" dirty="0">
                <a:solidFill>
                  <a:schemeClr val="accent3">
                    <a:lumMod val="75000"/>
                  </a:schemeClr>
                </a:solidFill>
                <a:latin typeface="Courier New" panose="02070309020205020404" pitchFamily="49" charset="0"/>
                <a:cs typeface="Courier New" panose="02070309020205020404" pitchFamily="49" charset="0"/>
              </a:rPr>
              <a:t>  -v "$PWD:/work" \</a:t>
            </a:r>
          </a:p>
          <a:p>
            <a:r>
              <a:rPr lang="en-GB" sz="1600" dirty="0">
                <a:solidFill>
                  <a:schemeClr val="accent3">
                    <a:lumMod val="75000"/>
                  </a:schemeClr>
                </a:solidFill>
                <a:latin typeface="Courier New" panose="02070309020205020404" pitchFamily="49" charset="0"/>
                <a:cs typeface="Courier New" panose="02070309020205020404" pitchFamily="49" charset="0"/>
              </a:rPr>
              <a:t>  -w /work \</a:t>
            </a:r>
          </a:p>
          <a:p>
            <a:r>
              <a:rPr lang="en-GB" sz="1600" dirty="0">
                <a:solidFill>
                  <a:schemeClr val="accent3">
                    <a:lumMod val="75000"/>
                  </a:schemeClr>
                </a:solidFill>
                <a:latin typeface="Courier New" panose="02070309020205020404" pitchFamily="49" charset="0"/>
                <a:cs typeface="Courier New" panose="02070309020205020404" pitchFamily="49" charset="0"/>
              </a:rPr>
              <a:t>  </a:t>
            </a:r>
            <a:r>
              <a:rPr lang="en-GB" sz="1600" dirty="0" err="1">
                <a:solidFill>
                  <a:schemeClr val="accent3">
                    <a:lumMod val="75000"/>
                  </a:schemeClr>
                </a:solidFill>
                <a:latin typeface="Courier New" panose="02070309020205020404" pitchFamily="49" charset="0"/>
                <a:cs typeface="Courier New" panose="02070309020205020404" pitchFamily="49" charset="0"/>
              </a:rPr>
              <a:t>docker.io</a:t>
            </a:r>
            <a:r>
              <a:rPr lang="en-GB" sz="1600" dirty="0">
                <a:solidFill>
                  <a:schemeClr val="accent3">
                    <a:lumMod val="75000"/>
                  </a:schemeClr>
                </a:solidFill>
                <a:latin typeface="Courier New" panose="02070309020205020404" pitchFamily="49" charset="0"/>
                <a:cs typeface="Courier New" panose="02070309020205020404" pitchFamily="49" charset="0"/>
              </a:rPr>
              <a:t>/</a:t>
            </a:r>
            <a:r>
              <a:rPr lang="en-GB" sz="1600" dirty="0" err="1">
                <a:solidFill>
                  <a:schemeClr val="accent3">
                    <a:lumMod val="75000"/>
                  </a:schemeClr>
                </a:solidFill>
                <a:latin typeface="Courier New" panose="02070309020205020404" pitchFamily="49" charset="0"/>
                <a:cs typeface="Courier New" panose="02070309020205020404" pitchFamily="49" charset="0"/>
              </a:rPr>
              <a:t>fgualdr</a:t>
            </a:r>
            <a:r>
              <a:rPr lang="en-GB" sz="1600" dirty="0">
                <a:solidFill>
                  <a:schemeClr val="accent3">
                    <a:lumMod val="75000"/>
                  </a:schemeClr>
                </a:solidFill>
                <a:latin typeface="Courier New" panose="02070309020205020404" pitchFamily="49" charset="0"/>
                <a:cs typeface="Courier New" panose="02070309020205020404" pitchFamily="49" charset="0"/>
              </a:rPr>
              <a:t>/ngs-bowtie2-samtools \</a:t>
            </a:r>
          </a:p>
          <a:p>
            <a:r>
              <a:rPr lang="en-GB" sz="1600" dirty="0">
                <a:solidFill>
                  <a:schemeClr val="accent3">
                    <a:lumMod val="75000"/>
                  </a:schemeClr>
                </a:solidFill>
                <a:latin typeface="Courier New" panose="02070309020205020404" pitchFamily="49" charset="0"/>
                <a:cs typeface="Courier New" panose="02070309020205020404" pitchFamily="49" charset="0"/>
              </a:rPr>
              <a:t>  bash scripts/day2_rnaseq/02_map_bowtie2_sort_index.sh</a:t>
            </a:r>
          </a:p>
        </p:txBody>
      </p:sp>
      <p:sp>
        <p:nvSpPr>
          <p:cNvPr id="11" name="TextBox 10">
            <a:extLst>
              <a:ext uri="{FF2B5EF4-FFF2-40B4-BE49-F238E27FC236}">
                <a16:creationId xmlns:a16="http://schemas.microsoft.com/office/drawing/2014/main" id="{BC9DA755-E531-14FE-D7DD-6AD6FB2ECDA0}"/>
              </a:ext>
            </a:extLst>
          </p:cNvPr>
          <p:cNvSpPr txBox="1"/>
          <p:nvPr/>
        </p:nvSpPr>
        <p:spPr>
          <a:xfrm>
            <a:off x="10678875" y="1677412"/>
            <a:ext cx="1611980" cy="369332"/>
          </a:xfrm>
          <a:prstGeom prst="rect">
            <a:avLst/>
          </a:prstGeom>
          <a:noFill/>
        </p:spPr>
        <p:txBody>
          <a:bodyPr wrap="none" rtlCol="0">
            <a:spAutoFit/>
          </a:bodyPr>
          <a:lstStyle/>
          <a:p>
            <a:r>
              <a:rPr lang="en-GB" dirty="0"/>
              <a:t>In the Terminal:</a:t>
            </a:r>
          </a:p>
        </p:txBody>
      </p:sp>
    </p:spTree>
    <p:extLst>
      <p:ext uri="{BB962C8B-B14F-4D97-AF65-F5344CB8AC3E}">
        <p14:creationId xmlns:p14="http://schemas.microsoft.com/office/powerpoint/2010/main" val="1946067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1CA02-5F0D-57AC-F295-73A4A18AD714}"/>
              </a:ext>
            </a:extLst>
          </p:cNvPr>
          <p:cNvSpPr>
            <a:spLocks noGrp="1"/>
          </p:cNvSpPr>
          <p:nvPr>
            <p:ph type="title"/>
          </p:nvPr>
        </p:nvSpPr>
        <p:spPr/>
        <p:txBody>
          <a:bodyPr>
            <a:normAutofit fontScale="90000"/>
          </a:bodyPr>
          <a:lstStyle/>
          <a:p>
            <a:r>
              <a:rPr lang="en-GB" dirty="0"/>
              <a:t>SAM/BAM format</a:t>
            </a:r>
          </a:p>
        </p:txBody>
      </p:sp>
      <p:sp>
        <p:nvSpPr>
          <p:cNvPr id="4" name="Date Placeholder 3">
            <a:extLst>
              <a:ext uri="{FF2B5EF4-FFF2-40B4-BE49-F238E27FC236}">
                <a16:creationId xmlns:a16="http://schemas.microsoft.com/office/drawing/2014/main" id="{2950B47E-4333-CDA7-7381-54C57F2B458C}"/>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8B269470-A372-2E4F-58A0-5804163DC128}"/>
              </a:ext>
            </a:extLst>
          </p:cNvPr>
          <p:cNvSpPr>
            <a:spLocks noGrp="1"/>
          </p:cNvSpPr>
          <p:nvPr>
            <p:ph type="ftr" sz="quarter" idx="11"/>
          </p:nvPr>
        </p:nvSpPr>
        <p:spPr>
          <a:xfrm>
            <a:off x="3445773" y="6356350"/>
            <a:ext cx="4114800" cy="365125"/>
          </a:xfrm>
        </p:spPr>
        <p:txBody>
          <a:bodyPr/>
          <a:lstStyle/>
          <a:p>
            <a:r>
              <a:rPr lang="en-GB" dirty="0"/>
              <a:t>Day 1: Reproducible NGS Data Analysis on Personal Laptops</a:t>
            </a:r>
          </a:p>
        </p:txBody>
      </p:sp>
      <p:sp>
        <p:nvSpPr>
          <p:cNvPr id="6" name="Slide Number Placeholder 5">
            <a:extLst>
              <a:ext uri="{FF2B5EF4-FFF2-40B4-BE49-F238E27FC236}">
                <a16:creationId xmlns:a16="http://schemas.microsoft.com/office/drawing/2014/main" id="{CCE0C37E-92A4-77F2-842B-FE6124D906FB}"/>
              </a:ext>
            </a:extLst>
          </p:cNvPr>
          <p:cNvSpPr>
            <a:spLocks noGrp="1"/>
          </p:cNvSpPr>
          <p:nvPr>
            <p:ph type="sldNum" sz="quarter" idx="12"/>
          </p:nvPr>
        </p:nvSpPr>
        <p:spPr/>
        <p:txBody>
          <a:bodyPr/>
          <a:lstStyle/>
          <a:p>
            <a:fld id="{62E92BA6-6E87-3343-8D2C-B7A656D628E4}" type="slidenum">
              <a:rPr lang="en-GB" smtClean="0"/>
              <a:t>11</a:t>
            </a:fld>
            <a:endParaRPr lang="en-GB"/>
          </a:p>
        </p:txBody>
      </p:sp>
      <p:sp>
        <p:nvSpPr>
          <p:cNvPr id="7" name="TextBox 6">
            <a:extLst>
              <a:ext uri="{FF2B5EF4-FFF2-40B4-BE49-F238E27FC236}">
                <a16:creationId xmlns:a16="http://schemas.microsoft.com/office/drawing/2014/main" id="{3E87E06C-0915-BEF5-24E2-F47337BB3492}"/>
              </a:ext>
            </a:extLst>
          </p:cNvPr>
          <p:cNvSpPr txBox="1"/>
          <p:nvPr/>
        </p:nvSpPr>
        <p:spPr>
          <a:xfrm>
            <a:off x="135924" y="641909"/>
            <a:ext cx="11920151" cy="830997"/>
          </a:xfrm>
          <a:prstGeom prst="rect">
            <a:avLst/>
          </a:prstGeom>
          <a:noFill/>
          <a:ln>
            <a:solidFill>
              <a:schemeClr val="tx1"/>
            </a:solidFill>
          </a:ln>
        </p:spPr>
        <p:txBody>
          <a:bodyPr wrap="square">
            <a:spAutoFit/>
          </a:bodyPr>
          <a:lstStyle/>
          <a:p>
            <a:r>
              <a:rPr lang="en-GB" sz="1200" dirty="0">
                <a:latin typeface="Courier New" panose="02070309020205020404" pitchFamily="49" charset="0"/>
                <a:cs typeface="Courier New" panose="02070309020205020404" pitchFamily="49" charset="0"/>
              </a:rPr>
              <a:t>ERR11479310.7235242     99      NZ_AP026446.1   119     23      34M6I110M       =       195     226     ATTGAAAAAGAAATCTTGGCGCTAGTCAAACAAAATCCTAAAGTTAGCCTCATAGAATATGAAAATTACTTTAGCCAACTCAAATACAACCCTAACG	FFFFFFF:FFF:FFFFFFFFFFFFFF:FF:FFF,FF:FFFFFFF:FFF:FFFFFFF:FFFF:FFFF:F,FFFFFFF:FFFFF:FFFFFF:F,FFFF,	</a:t>
            </a:r>
            <a:r>
              <a:rPr lang="en-GB" sz="1200" dirty="0" err="1">
                <a:latin typeface="Courier New" panose="02070309020205020404" pitchFamily="49" charset="0"/>
                <a:cs typeface="Courier New" panose="02070309020205020404" pitchFamily="49" charset="0"/>
              </a:rPr>
              <a:t>AS:i</a:t>
            </a:r>
            <a:r>
              <a:rPr lang="en-GB" sz="1200" dirty="0">
                <a:latin typeface="Courier New" panose="02070309020205020404" pitchFamily="49" charset="0"/>
                <a:cs typeface="Courier New" panose="02070309020205020404" pitchFamily="49" charset="0"/>
              </a:rPr>
              <a:t>:-64        XN:i:0  XM:i:9  XO:i:1  XG:i:6  NM:i:15 MD:Z:24A8G16G10G3G5G35C11C10T13 </a:t>
            </a:r>
            <a:r>
              <a:rPr lang="en-GB" sz="1200" dirty="0" err="1">
                <a:latin typeface="Courier New" panose="02070309020205020404" pitchFamily="49" charset="0"/>
                <a:cs typeface="Courier New" panose="02070309020205020404" pitchFamily="49" charset="0"/>
              </a:rPr>
              <a:t>YS:i</a:t>
            </a:r>
            <a:r>
              <a:rPr lang="en-GB" sz="1200" dirty="0">
                <a:latin typeface="Courier New" panose="02070309020205020404" pitchFamily="49" charset="0"/>
                <a:cs typeface="Courier New" panose="02070309020205020404" pitchFamily="49" charset="0"/>
              </a:rPr>
              <a:t>:-25        YT:Z:CP</a:t>
            </a:r>
          </a:p>
        </p:txBody>
      </p:sp>
      <p:sp>
        <p:nvSpPr>
          <p:cNvPr id="38" name="TextBox 37">
            <a:extLst>
              <a:ext uri="{FF2B5EF4-FFF2-40B4-BE49-F238E27FC236}">
                <a16:creationId xmlns:a16="http://schemas.microsoft.com/office/drawing/2014/main" id="{CFBF9C5B-4C77-E9A7-B428-C440F07FF885}"/>
              </a:ext>
            </a:extLst>
          </p:cNvPr>
          <p:cNvSpPr txBox="1"/>
          <p:nvPr/>
        </p:nvSpPr>
        <p:spPr>
          <a:xfrm>
            <a:off x="134470" y="2013274"/>
            <a:ext cx="10353418" cy="3416320"/>
          </a:xfrm>
          <a:prstGeom prst="rect">
            <a:avLst/>
          </a:prstGeom>
          <a:noFill/>
          <a:ln>
            <a:solidFill>
              <a:schemeClr val="tx1"/>
            </a:solidFill>
          </a:ln>
        </p:spPr>
        <p:txBody>
          <a:bodyPr wrap="square">
            <a:spAutoFit/>
          </a:bodyPr>
          <a:lstStyle/>
          <a:p>
            <a:r>
              <a:rPr lang="en-GB" dirty="0"/>
              <a:t>Field			Value					Description</a:t>
            </a:r>
          </a:p>
          <a:p>
            <a:r>
              <a:rPr lang="en-GB" dirty="0"/>
              <a:t>QNAME		ERR11479310.7235242		Original read identifier</a:t>
            </a:r>
          </a:p>
          <a:p>
            <a:r>
              <a:rPr lang="en-GB" dirty="0"/>
              <a:t>FLAG		99						Bit-coded information about pairing, strand and alignment status</a:t>
            </a:r>
          </a:p>
          <a:p>
            <a:r>
              <a:rPr lang="en-GB" dirty="0"/>
              <a:t>RNAME		NZ_AP026446.1			Reference sequence/chromosome</a:t>
            </a:r>
          </a:p>
          <a:p>
            <a:r>
              <a:rPr lang="en-GB" dirty="0"/>
              <a:t>POS			119						1-based leftmost aligned position</a:t>
            </a:r>
          </a:p>
          <a:p>
            <a:r>
              <a:rPr lang="en-GB" dirty="0"/>
              <a:t>MAPQ		23						Confidence in the reported genomic placement</a:t>
            </a:r>
          </a:p>
          <a:p>
            <a:r>
              <a:rPr lang="en-GB" dirty="0"/>
              <a:t>CIGAR		34M6I110M				Structure of the alignment</a:t>
            </a:r>
          </a:p>
          <a:p>
            <a:r>
              <a:rPr lang="en-GB" dirty="0"/>
              <a:t>RNEXT		=						Mate maps to the same reference sequence</a:t>
            </a:r>
          </a:p>
          <a:p>
            <a:r>
              <a:rPr lang="en-GB" dirty="0"/>
              <a:t>PNEXT		195						Leftmost mapping position of the mate</a:t>
            </a:r>
          </a:p>
          <a:p>
            <a:r>
              <a:rPr lang="en-GB" dirty="0"/>
              <a:t>TLEN		226						Inferred outer template/fragment length</a:t>
            </a:r>
          </a:p>
          <a:p>
            <a:r>
              <a:rPr lang="en-GB" dirty="0"/>
              <a:t>SEQ			ATTGAAAA...				Read sequence</a:t>
            </a:r>
          </a:p>
          <a:p>
            <a:r>
              <a:rPr lang="en-GB" dirty="0"/>
              <a:t>QUAL		FFFFFF...					Original per-base Phred qualities</a:t>
            </a:r>
          </a:p>
        </p:txBody>
      </p:sp>
      <p:sp>
        <p:nvSpPr>
          <p:cNvPr id="39" name="TextBox 38">
            <a:extLst>
              <a:ext uri="{FF2B5EF4-FFF2-40B4-BE49-F238E27FC236}">
                <a16:creationId xmlns:a16="http://schemas.microsoft.com/office/drawing/2014/main" id="{D1355963-EC9B-EC68-217F-38D51998186E}"/>
              </a:ext>
            </a:extLst>
          </p:cNvPr>
          <p:cNvSpPr txBox="1"/>
          <p:nvPr/>
        </p:nvSpPr>
        <p:spPr>
          <a:xfrm>
            <a:off x="134470" y="1623201"/>
            <a:ext cx="8137677" cy="369332"/>
          </a:xfrm>
          <a:prstGeom prst="rect">
            <a:avLst/>
          </a:prstGeom>
          <a:noFill/>
        </p:spPr>
        <p:txBody>
          <a:bodyPr wrap="none" rtlCol="0">
            <a:spAutoFit/>
          </a:bodyPr>
          <a:lstStyle/>
          <a:p>
            <a:r>
              <a:rPr lang="en-IT" dirty="0"/>
              <a:t>SAM contains </a:t>
            </a:r>
            <a:r>
              <a:rPr lang="en-IT" b="1" dirty="0"/>
              <a:t>11 mandatory fields followed by optional/aligner specific fields:</a:t>
            </a:r>
            <a:endParaRPr lang="en-GB" dirty="0"/>
          </a:p>
        </p:txBody>
      </p:sp>
      <p:sp>
        <p:nvSpPr>
          <p:cNvPr id="40" name="TextBox 39">
            <a:extLst>
              <a:ext uri="{FF2B5EF4-FFF2-40B4-BE49-F238E27FC236}">
                <a16:creationId xmlns:a16="http://schemas.microsoft.com/office/drawing/2014/main" id="{FA8C8A21-117F-1F90-01BB-9CFCB2FEE227}"/>
              </a:ext>
            </a:extLst>
          </p:cNvPr>
          <p:cNvSpPr txBox="1"/>
          <p:nvPr/>
        </p:nvSpPr>
        <p:spPr>
          <a:xfrm>
            <a:off x="241030" y="5508297"/>
            <a:ext cx="7319543" cy="923330"/>
          </a:xfrm>
          <a:prstGeom prst="rect">
            <a:avLst/>
          </a:prstGeom>
          <a:noFill/>
        </p:spPr>
        <p:txBody>
          <a:bodyPr wrap="square" rtlCol="0">
            <a:spAutoFit/>
          </a:bodyPr>
          <a:lstStyle/>
          <a:p>
            <a:r>
              <a:rPr lang="en-GB" dirty="0">
                <a:hlinkClick r:id="rId2"/>
              </a:rPr>
              <a:t>FLAG are boolean properties encoded in one integer:</a:t>
            </a:r>
            <a:r>
              <a:rPr lang="en-GB" dirty="0"/>
              <a:t> so 99 means:</a:t>
            </a:r>
          </a:p>
          <a:p>
            <a:r>
              <a:rPr lang="en-IT" dirty="0"/>
              <a:t>99=1+2+32+64 Binary representation garantees that for a given integer there is only one Bit sum combination</a:t>
            </a:r>
            <a:endParaRPr lang="en-GB" dirty="0"/>
          </a:p>
        </p:txBody>
      </p:sp>
      <p:sp>
        <p:nvSpPr>
          <p:cNvPr id="41" name="TextBox 40">
            <a:extLst>
              <a:ext uri="{FF2B5EF4-FFF2-40B4-BE49-F238E27FC236}">
                <a16:creationId xmlns:a16="http://schemas.microsoft.com/office/drawing/2014/main" id="{9A63DEF2-83F6-98FC-537C-4187A3A4AF9C}"/>
              </a:ext>
            </a:extLst>
          </p:cNvPr>
          <p:cNvSpPr txBox="1"/>
          <p:nvPr/>
        </p:nvSpPr>
        <p:spPr>
          <a:xfrm>
            <a:off x="7705259" y="4826675"/>
            <a:ext cx="4486741" cy="2031325"/>
          </a:xfrm>
          <a:prstGeom prst="rect">
            <a:avLst/>
          </a:prstGeom>
          <a:solidFill>
            <a:schemeClr val="bg1"/>
          </a:solidFill>
          <a:ln>
            <a:solidFill>
              <a:schemeClr val="tx1"/>
            </a:solidFill>
          </a:ln>
        </p:spPr>
        <p:txBody>
          <a:bodyPr wrap="none" rtlCol="0">
            <a:spAutoFit/>
          </a:bodyPr>
          <a:lstStyle/>
          <a:p>
            <a:r>
              <a:rPr lang="en-GB" sz="1400" dirty="0"/>
              <a:t>Bit	Meaning						Present?</a:t>
            </a:r>
          </a:p>
          <a:p>
            <a:r>
              <a:rPr lang="en-GB" sz="1400" dirty="0"/>
              <a:t>1	Read belongs to a paired-end fragment	</a:t>
            </a:r>
            <a:r>
              <a:rPr lang="en-GB" sz="1400" dirty="0">
                <a:solidFill>
                  <a:srgbClr val="00B050"/>
                </a:solidFill>
              </a:rPr>
              <a:t>✓</a:t>
            </a:r>
          </a:p>
          <a:p>
            <a:r>
              <a:rPr lang="en-GB" sz="1400" dirty="0"/>
              <a:t>2	Pair aligned properly/concordantly		</a:t>
            </a:r>
            <a:r>
              <a:rPr lang="en-GB" sz="1400" dirty="0">
                <a:solidFill>
                  <a:srgbClr val="00B050"/>
                </a:solidFill>
              </a:rPr>
              <a:t>✓</a:t>
            </a:r>
          </a:p>
          <a:p>
            <a:r>
              <a:rPr lang="en-GB" sz="1400" dirty="0"/>
              <a:t>4	This read is unmapped				</a:t>
            </a:r>
            <a:r>
              <a:rPr lang="en-GB" sz="1400" dirty="0">
                <a:solidFill>
                  <a:srgbClr val="FF0000"/>
                </a:solidFill>
              </a:rPr>
              <a:t>✗</a:t>
            </a:r>
          </a:p>
          <a:p>
            <a:r>
              <a:rPr lang="en-GB" sz="1400" dirty="0"/>
              <a:t>8	Mate is unmapped					</a:t>
            </a:r>
            <a:r>
              <a:rPr lang="en-GB" sz="1400" dirty="0">
                <a:solidFill>
                  <a:srgbClr val="FF0000"/>
                </a:solidFill>
              </a:rPr>
              <a:t>✗</a:t>
            </a:r>
          </a:p>
          <a:p>
            <a:r>
              <a:rPr lang="en-GB" sz="1400" dirty="0"/>
              <a:t>16	This read maps to reverse strand		</a:t>
            </a:r>
            <a:r>
              <a:rPr lang="en-GB" sz="1400" dirty="0">
                <a:solidFill>
                  <a:srgbClr val="FF0000"/>
                </a:solidFill>
              </a:rPr>
              <a:t>✗</a:t>
            </a:r>
          </a:p>
          <a:p>
            <a:r>
              <a:rPr lang="en-GB" sz="1400" dirty="0"/>
              <a:t>32	Mate maps to reverse strand			</a:t>
            </a:r>
            <a:r>
              <a:rPr lang="en-GB" sz="1400" dirty="0">
                <a:solidFill>
                  <a:srgbClr val="00B050"/>
                </a:solidFill>
              </a:rPr>
              <a:t>✓</a:t>
            </a:r>
          </a:p>
          <a:p>
            <a:r>
              <a:rPr lang="en-GB" sz="1400" dirty="0"/>
              <a:t>64	This is R1 / first mate				</a:t>
            </a:r>
            <a:r>
              <a:rPr lang="en-GB" sz="1400" dirty="0">
                <a:solidFill>
                  <a:srgbClr val="00B050"/>
                </a:solidFill>
              </a:rPr>
              <a:t>✓</a:t>
            </a:r>
          </a:p>
          <a:p>
            <a:r>
              <a:rPr lang="en-GB" sz="1400" dirty="0"/>
              <a:t>128	This is R2 / second mate				</a:t>
            </a:r>
            <a:r>
              <a:rPr lang="en-GB" sz="1400" dirty="0">
                <a:solidFill>
                  <a:srgbClr val="FF0000"/>
                </a:solidFill>
              </a:rPr>
              <a:t>✗</a:t>
            </a:r>
          </a:p>
        </p:txBody>
      </p:sp>
    </p:spTree>
    <p:extLst>
      <p:ext uri="{BB962C8B-B14F-4D97-AF65-F5344CB8AC3E}">
        <p14:creationId xmlns:p14="http://schemas.microsoft.com/office/powerpoint/2010/main" val="85519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49FA2-DAB6-0F29-0D60-DC8D3878E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56BE2-CA09-38D9-821F-6A2D650E26C7}"/>
              </a:ext>
            </a:extLst>
          </p:cNvPr>
          <p:cNvSpPr>
            <a:spLocks noGrp="1"/>
          </p:cNvSpPr>
          <p:nvPr>
            <p:ph type="title"/>
          </p:nvPr>
        </p:nvSpPr>
        <p:spPr/>
        <p:txBody>
          <a:bodyPr>
            <a:normAutofit fontScale="90000"/>
          </a:bodyPr>
          <a:lstStyle/>
          <a:p>
            <a:r>
              <a:rPr lang="en-GB" dirty="0"/>
              <a:t>SAM/BAM format</a:t>
            </a:r>
          </a:p>
        </p:txBody>
      </p:sp>
      <p:sp>
        <p:nvSpPr>
          <p:cNvPr id="4" name="Date Placeholder 3">
            <a:extLst>
              <a:ext uri="{FF2B5EF4-FFF2-40B4-BE49-F238E27FC236}">
                <a16:creationId xmlns:a16="http://schemas.microsoft.com/office/drawing/2014/main" id="{525D683E-977A-5A18-6941-205654ADCB1B}"/>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45D5819A-BFF6-5329-9D54-651B87A69E4B}"/>
              </a:ext>
            </a:extLst>
          </p:cNvPr>
          <p:cNvSpPr>
            <a:spLocks noGrp="1"/>
          </p:cNvSpPr>
          <p:nvPr>
            <p:ph type="ftr" sz="quarter" idx="11"/>
          </p:nvPr>
        </p:nvSpPr>
        <p:spPr>
          <a:xfrm>
            <a:off x="3445773" y="6356350"/>
            <a:ext cx="4114800" cy="365125"/>
          </a:xfrm>
        </p:spPr>
        <p:txBody>
          <a:bodyPr/>
          <a:lstStyle/>
          <a:p>
            <a:r>
              <a:rPr lang="en-GB" dirty="0"/>
              <a:t>Day 1: Reproducible NGS Data Analysis on Personal Laptops</a:t>
            </a:r>
          </a:p>
        </p:txBody>
      </p:sp>
      <p:sp>
        <p:nvSpPr>
          <p:cNvPr id="6" name="Slide Number Placeholder 5">
            <a:extLst>
              <a:ext uri="{FF2B5EF4-FFF2-40B4-BE49-F238E27FC236}">
                <a16:creationId xmlns:a16="http://schemas.microsoft.com/office/drawing/2014/main" id="{A5999D6F-BC1B-5D57-AF8D-39B5E2FC65CC}"/>
              </a:ext>
            </a:extLst>
          </p:cNvPr>
          <p:cNvSpPr>
            <a:spLocks noGrp="1"/>
          </p:cNvSpPr>
          <p:nvPr>
            <p:ph type="sldNum" sz="quarter" idx="12"/>
          </p:nvPr>
        </p:nvSpPr>
        <p:spPr/>
        <p:txBody>
          <a:bodyPr/>
          <a:lstStyle/>
          <a:p>
            <a:fld id="{62E92BA6-6E87-3343-8D2C-B7A656D628E4}" type="slidenum">
              <a:rPr lang="en-GB" smtClean="0"/>
              <a:t>12</a:t>
            </a:fld>
            <a:endParaRPr lang="en-GB"/>
          </a:p>
        </p:txBody>
      </p:sp>
      <p:sp>
        <p:nvSpPr>
          <p:cNvPr id="7" name="TextBox 6">
            <a:extLst>
              <a:ext uri="{FF2B5EF4-FFF2-40B4-BE49-F238E27FC236}">
                <a16:creationId xmlns:a16="http://schemas.microsoft.com/office/drawing/2014/main" id="{4285E6CF-89B8-1C63-DB91-F5DD4B59D12B}"/>
              </a:ext>
            </a:extLst>
          </p:cNvPr>
          <p:cNvSpPr txBox="1"/>
          <p:nvPr/>
        </p:nvSpPr>
        <p:spPr>
          <a:xfrm>
            <a:off x="135924" y="641909"/>
            <a:ext cx="11920151" cy="830997"/>
          </a:xfrm>
          <a:prstGeom prst="rect">
            <a:avLst/>
          </a:prstGeom>
          <a:noFill/>
          <a:ln>
            <a:solidFill>
              <a:schemeClr val="tx1"/>
            </a:solidFill>
          </a:ln>
        </p:spPr>
        <p:txBody>
          <a:bodyPr wrap="square">
            <a:spAutoFit/>
          </a:bodyPr>
          <a:lstStyle/>
          <a:p>
            <a:r>
              <a:rPr lang="en-GB" sz="1200" dirty="0">
                <a:latin typeface="Courier New" panose="02070309020205020404" pitchFamily="49" charset="0"/>
                <a:cs typeface="Courier New" panose="02070309020205020404" pitchFamily="49" charset="0"/>
              </a:rPr>
              <a:t>ERR11479310.7235242     99      NZ_AP026446.1   119     23      34M6I110M       =       195     226     ATTGAAAAAGAAATCTTGGCGCTAGTCAAACAAAATCCTAAAGTTAGCCTCATAGAATATGAAAATTACTTTAGCCAACTCAAATACAACCCTAACG	FFFFFFF:FFF:FFFFFFFFFFFFFF:FF:FFF,FF:FFFFFFF:FFF:FFFFFFF:FFFF:FFFF:F,FFFFFFF:FFFFF:FFFFFF:F,FFFF,	</a:t>
            </a:r>
            <a:r>
              <a:rPr lang="en-GB" sz="1200" dirty="0" err="1">
                <a:latin typeface="Courier New" panose="02070309020205020404" pitchFamily="49" charset="0"/>
                <a:cs typeface="Courier New" panose="02070309020205020404" pitchFamily="49" charset="0"/>
              </a:rPr>
              <a:t>AS:i</a:t>
            </a:r>
            <a:r>
              <a:rPr lang="en-GB" sz="1200" dirty="0">
                <a:latin typeface="Courier New" panose="02070309020205020404" pitchFamily="49" charset="0"/>
                <a:cs typeface="Courier New" panose="02070309020205020404" pitchFamily="49" charset="0"/>
              </a:rPr>
              <a:t>:-64        XN:i:0  XM:i:9  XO:i:1  XG:i:6  NM:i:15 MD:Z:24A8G16G10G3G5G35C11C10T13 </a:t>
            </a:r>
            <a:r>
              <a:rPr lang="en-GB" sz="1200" dirty="0" err="1">
                <a:latin typeface="Courier New" panose="02070309020205020404" pitchFamily="49" charset="0"/>
                <a:cs typeface="Courier New" panose="02070309020205020404" pitchFamily="49" charset="0"/>
              </a:rPr>
              <a:t>YS:i</a:t>
            </a:r>
            <a:r>
              <a:rPr lang="en-GB" sz="1200" dirty="0">
                <a:latin typeface="Courier New" panose="02070309020205020404" pitchFamily="49" charset="0"/>
                <a:cs typeface="Courier New" panose="02070309020205020404" pitchFamily="49" charset="0"/>
              </a:rPr>
              <a:t>:-25        YT:Z:CP</a:t>
            </a:r>
          </a:p>
        </p:txBody>
      </p:sp>
      <p:sp>
        <p:nvSpPr>
          <p:cNvPr id="38" name="TextBox 37">
            <a:extLst>
              <a:ext uri="{FF2B5EF4-FFF2-40B4-BE49-F238E27FC236}">
                <a16:creationId xmlns:a16="http://schemas.microsoft.com/office/drawing/2014/main" id="{D5D5FD45-FDFC-2719-1FB0-00AAA8611ED5}"/>
              </a:ext>
            </a:extLst>
          </p:cNvPr>
          <p:cNvSpPr txBox="1"/>
          <p:nvPr/>
        </p:nvSpPr>
        <p:spPr>
          <a:xfrm>
            <a:off x="134470" y="2013274"/>
            <a:ext cx="10353418" cy="3416320"/>
          </a:xfrm>
          <a:prstGeom prst="rect">
            <a:avLst/>
          </a:prstGeom>
          <a:noFill/>
          <a:ln>
            <a:solidFill>
              <a:schemeClr val="tx1"/>
            </a:solidFill>
          </a:ln>
        </p:spPr>
        <p:txBody>
          <a:bodyPr wrap="square">
            <a:spAutoFit/>
          </a:bodyPr>
          <a:lstStyle/>
          <a:p>
            <a:r>
              <a:rPr lang="en-GB" dirty="0"/>
              <a:t>Field			Value					Description</a:t>
            </a:r>
          </a:p>
          <a:p>
            <a:r>
              <a:rPr lang="en-GB" dirty="0"/>
              <a:t>QNAME		ERR11479310.7235242		Original read identifier</a:t>
            </a:r>
          </a:p>
          <a:p>
            <a:r>
              <a:rPr lang="en-GB" dirty="0"/>
              <a:t>FLAG		99						Bit-coded information about pairing, strand and alignment status</a:t>
            </a:r>
          </a:p>
          <a:p>
            <a:r>
              <a:rPr lang="en-GB" dirty="0"/>
              <a:t>RNAME		NZ_AP026446.1			Reference sequence/chromosome</a:t>
            </a:r>
          </a:p>
          <a:p>
            <a:r>
              <a:rPr lang="en-GB" dirty="0"/>
              <a:t>POS			119						1-based leftmost aligned position</a:t>
            </a:r>
          </a:p>
          <a:p>
            <a:r>
              <a:rPr lang="en-GB" dirty="0"/>
              <a:t>MAPQ		23						Confidence in the reported genomic placement</a:t>
            </a:r>
          </a:p>
          <a:p>
            <a:r>
              <a:rPr lang="en-GB" dirty="0"/>
              <a:t>CIGAR		34M6I110M				Structure of the alignment</a:t>
            </a:r>
          </a:p>
          <a:p>
            <a:r>
              <a:rPr lang="en-GB" dirty="0"/>
              <a:t>RNEXT		=						Mate maps to the same reference sequence</a:t>
            </a:r>
          </a:p>
          <a:p>
            <a:r>
              <a:rPr lang="en-GB" dirty="0"/>
              <a:t>PNEXT		195						Leftmost mapping position of the mate</a:t>
            </a:r>
          </a:p>
          <a:p>
            <a:r>
              <a:rPr lang="en-GB" dirty="0"/>
              <a:t>TLEN		226						Inferred outer template/fragment length</a:t>
            </a:r>
          </a:p>
          <a:p>
            <a:r>
              <a:rPr lang="en-GB" dirty="0"/>
              <a:t>SEQ			ATTGAAAA...				Read sequence</a:t>
            </a:r>
          </a:p>
          <a:p>
            <a:r>
              <a:rPr lang="en-GB" dirty="0"/>
              <a:t>QUAL		FFFFFF...					Original per-base Phred qualities</a:t>
            </a:r>
          </a:p>
        </p:txBody>
      </p:sp>
      <p:sp>
        <p:nvSpPr>
          <p:cNvPr id="39" name="TextBox 38">
            <a:extLst>
              <a:ext uri="{FF2B5EF4-FFF2-40B4-BE49-F238E27FC236}">
                <a16:creationId xmlns:a16="http://schemas.microsoft.com/office/drawing/2014/main" id="{B92EE075-5D9E-275E-1F1E-6167D9F7354C}"/>
              </a:ext>
            </a:extLst>
          </p:cNvPr>
          <p:cNvSpPr txBox="1"/>
          <p:nvPr/>
        </p:nvSpPr>
        <p:spPr>
          <a:xfrm>
            <a:off x="134470" y="1623201"/>
            <a:ext cx="8137677" cy="369332"/>
          </a:xfrm>
          <a:prstGeom prst="rect">
            <a:avLst/>
          </a:prstGeom>
          <a:noFill/>
        </p:spPr>
        <p:txBody>
          <a:bodyPr wrap="none" rtlCol="0">
            <a:spAutoFit/>
          </a:bodyPr>
          <a:lstStyle/>
          <a:p>
            <a:r>
              <a:rPr lang="en-IT" dirty="0"/>
              <a:t>SAM contains </a:t>
            </a:r>
            <a:r>
              <a:rPr lang="en-IT" b="1" dirty="0"/>
              <a:t>11 mandatory fields followed by optional/aligner specific fields:</a:t>
            </a:r>
            <a:endParaRPr lang="en-GB" dirty="0"/>
          </a:p>
        </p:txBody>
      </p:sp>
      <p:sp>
        <p:nvSpPr>
          <p:cNvPr id="3" name="TextBox 2">
            <a:extLst>
              <a:ext uri="{FF2B5EF4-FFF2-40B4-BE49-F238E27FC236}">
                <a16:creationId xmlns:a16="http://schemas.microsoft.com/office/drawing/2014/main" id="{1F1BB522-F2D3-E309-6DA3-3D566099D92E}"/>
              </a:ext>
            </a:extLst>
          </p:cNvPr>
          <p:cNvSpPr txBox="1"/>
          <p:nvPr/>
        </p:nvSpPr>
        <p:spPr>
          <a:xfrm>
            <a:off x="134470" y="5569760"/>
            <a:ext cx="6311536" cy="646331"/>
          </a:xfrm>
          <a:prstGeom prst="rect">
            <a:avLst/>
          </a:prstGeom>
          <a:noFill/>
          <a:ln>
            <a:solidFill>
              <a:schemeClr val="tx1"/>
            </a:solidFill>
          </a:ln>
        </p:spPr>
        <p:txBody>
          <a:bodyPr wrap="none" rtlCol="0">
            <a:spAutoFit/>
          </a:bodyPr>
          <a:lstStyle/>
          <a:p>
            <a:r>
              <a:rPr lang="en-IT" dirty="0">
                <a:solidFill>
                  <a:srgbClr val="92D050"/>
                </a:solidFill>
              </a:rPr>
              <a:t>M</a:t>
            </a:r>
            <a:r>
              <a:rPr lang="en-GB" dirty="0">
                <a:solidFill>
                  <a:srgbClr val="92D050"/>
                </a:solidFill>
              </a:rPr>
              <a:t>a</a:t>
            </a:r>
            <a:r>
              <a:rPr lang="en-IT" dirty="0">
                <a:solidFill>
                  <a:srgbClr val="92D050"/>
                </a:solidFill>
              </a:rPr>
              <a:t>pping error probability – aligner defined given the metric used!</a:t>
            </a:r>
          </a:p>
          <a:p>
            <a:r>
              <a:rPr lang="en-IT" dirty="0"/>
              <a:t>MAPQ ​∼−10log10​P(mapping is wrong) </a:t>
            </a:r>
            <a:r>
              <a:rPr lang="en-GB" dirty="0"/>
              <a:t>I</a:t>
            </a:r>
            <a:r>
              <a:rPr lang="en-IT" dirty="0"/>
              <a:t>.e 23 = 10</a:t>
            </a:r>
            <a:r>
              <a:rPr lang="en-IT" baseline="30000" dirty="0"/>
              <a:t>-23/10 </a:t>
            </a:r>
            <a:endParaRPr lang="en-GB" baseline="30000" dirty="0"/>
          </a:p>
        </p:txBody>
      </p:sp>
      <p:sp>
        <p:nvSpPr>
          <p:cNvPr id="9" name="TextBox 8">
            <a:extLst>
              <a:ext uri="{FF2B5EF4-FFF2-40B4-BE49-F238E27FC236}">
                <a16:creationId xmlns:a16="http://schemas.microsoft.com/office/drawing/2014/main" id="{26108BDF-2910-B370-7F30-18E95AB94443}"/>
              </a:ext>
            </a:extLst>
          </p:cNvPr>
          <p:cNvSpPr txBox="1"/>
          <p:nvPr/>
        </p:nvSpPr>
        <p:spPr>
          <a:xfrm>
            <a:off x="6628697" y="5525353"/>
            <a:ext cx="4572701" cy="923330"/>
          </a:xfrm>
          <a:prstGeom prst="rect">
            <a:avLst/>
          </a:prstGeom>
          <a:noFill/>
        </p:spPr>
        <p:txBody>
          <a:bodyPr wrap="square">
            <a:spAutoFit/>
          </a:bodyPr>
          <a:lstStyle/>
          <a:p>
            <a:r>
              <a:rPr lang="en-IT" dirty="0"/>
              <a:t>CIGAR represent alignment geometry:</a:t>
            </a:r>
          </a:p>
          <a:p>
            <a:endParaRPr lang="en-IT" dirty="0"/>
          </a:p>
          <a:p>
            <a:endParaRPr lang="en-GB" dirty="0"/>
          </a:p>
        </p:txBody>
      </p:sp>
    </p:spTree>
    <p:extLst>
      <p:ext uri="{BB962C8B-B14F-4D97-AF65-F5344CB8AC3E}">
        <p14:creationId xmlns:p14="http://schemas.microsoft.com/office/powerpoint/2010/main" val="261577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E8F7D-F955-D2AE-D31F-3766A82E4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851FE-F8FD-0BB8-6C93-1D95D9F72FFD}"/>
              </a:ext>
            </a:extLst>
          </p:cNvPr>
          <p:cNvSpPr>
            <a:spLocks noGrp="1"/>
          </p:cNvSpPr>
          <p:nvPr>
            <p:ph type="title"/>
          </p:nvPr>
        </p:nvSpPr>
        <p:spPr/>
        <p:txBody>
          <a:bodyPr>
            <a:normAutofit fontScale="90000"/>
          </a:bodyPr>
          <a:lstStyle/>
          <a:p>
            <a:r>
              <a:rPr lang="en-GB" dirty="0"/>
              <a:t>SAM/BAM format</a:t>
            </a:r>
          </a:p>
        </p:txBody>
      </p:sp>
      <p:sp>
        <p:nvSpPr>
          <p:cNvPr id="4" name="Date Placeholder 3">
            <a:extLst>
              <a:ext uri="{FF2B5EF4-FFF2-40B4-BE49-F238E27FC236}">
                <a16:creationId xmlns:a16="http://schemas.microsoft.com/office/drawing/2014/main" id="{B7F75C43-7D8E-4FC8-2915-B538208A77B5}"/>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C28B1D9B-CD98-DD60-E0E4-32187DCE7683}"/>
              </a:ext>
            </a:extLst>
          </p:cNvPr>
          <p:cNvSpPr>
            <a:spLocks noGrp="1"/>
          </p:cNvSpPr>
          <p:nvPr>
            <p:ph type="ftr" sz="quarter" idx="11"/>
          </p:nvPr>
        </p:nvSpPr>
        <p:spPr>
          <a:xfrm>
            <a:off x="3445773" y="6356350"/>
            <a:ext cx="4114800" cy="365125"/>
          </a:xfrm>
        </p:spPr>
        <p:txBody>
          <a:bodyPr/>
          <a:lstStyle/>
          <a:p>
            <a:r>
              <a:rPr lang="en-GB" dirty="0"/>
              <a:t>Day 1: Reproducible NGS Data Analysis on Personal Laptops</a:t>
            </a:r>
          </a:p>
        </p:txBody>
      </p:sp>
      <p:sp>
        <p:nvSpPr>
          <p:cNvPr id="6" name="Slide Number Placeholder 5">
            <a:extLst>
              <a:ext uri="{FF2B5EF4-FFF2-40B4-BE49-F238E27FC236}">
                <a16:creationId xmlns:a16="http://schemas.microsoft.com/office/drawing/2014/main" id="{6A2FEB2B-CDD1-0C22-B608-7AD6DAA77B6F}"/>
              </a:ext>
            </a:extLst>
          </p:cNvPr>
          <p:cNvSpPr>
            <a:spLocks noGrp="1"/>
          </p:cNvSpPr>
          <p:nvPr>
            <p:ph type="sldNum" sz="quarter" idx="12"/>
          </p:nvPr>
        </p:nvSpPr>
        <p:spPr/>
        <p:txBody>
          <a:bodyPr/>
          <a:lstStyle/>
          <a:p>
            <a:fld id="{62E92BA6-6E87-3343-8D2C-B7A656D628E4}" type="slidenum">
              <a:rPr lang="en-GB" smtClean="0"/>
              <a:t>13</a:t>
            </a:fld>
            <a:endParaRPr lang="en-GB"/>
          </a:p>
        </p:txBody>
      </p:sp>
      <p:sp>
        <p:nvSpPr>
          <p:cNvPr id="7" name="TextBox 6">
            <a:extLst>
              <a:ext uri="{FF2B5EF4-FFF2-40B4-BE49-F238E27FC236}">
                <a16:creationId xmlns:a16="http://schemas.microsoft.com/office/drawing/2014/main" id="{4F2AAC2F-1460-8E56-9372-43D47DA747BF}"/>
              </a:ext>
            </a:extLst>
          </p:cNvPr>
          <p:cNvSpPr txBox="1"/>
          <p:nvPr/>
        </p:nvSpPr>
        <p:spPr>
          <a:xfrm>
            <a:off x="135924" y="641909"/>
            <a:ext cx="11920151" cy="830997"/>
          </a:xfrm>
          <a:prstGeom prst="rect">
            <a:avLst/>
          </a:prstGeom>
          <a:noFill/>
          <a:ln>
            <a:solidFill>
              <a:schemeClr val="tx1"/>
            </a:solidFill>
          </a:ln>
        </p:spPr>
        <p:txBody>
          <a:bodyPr wrap="square">
            <a:spAutoFit/>
          </a:bodyPr>
          <a:lstStyle/>
          <a:p>
            <a:r>
              <a:rPr lang="en-GB" sz="1200" dirty="0">
                <a:latin typeface="Courier New" panose="02070309020205020404" pitchFamily="49" charset="0"/>
                <a:cs typeface="Courier New" panose="02070309020205020404" pitchFamily="49" charset="0"/>
              </a:rPr>
              <a:t>ERR11479310.7235242     99      NZ_AP026446.1   119     23      34M6I110M       =       195     226     ATTGAAAAAGAAATCTTGGCGCTAGTCAAACAAAATCCTAAAGTTAGCCTCATAGAATATGAAAATTACTTTAGCCAACTCAAATACAACCCTAACG	FFFFFFF:FFF:FFFFFFFFFFFFFF:FF:FFF,FF:FFFFFFF:FFF:FFFFFFF:FFFF:FFFF:F,FFFFFFF:FFFFF:FFFFFF:F,FFFF,	</a:t>
            </a:r>
            <a:r>
              <a:rPr lang="en-GB" sz="1200" dirty="0" err="1">
                <a:latin typeface="Courier New" panose="02070309020205020404" pitchFamily="49" charset="0"/>
                <a:cs typeface="Courier New" panose="02070309020205020404" pitchFamily="49" charset="0"/>
              </a:rPr>
              <a:t>AS:i</a:t>
            </a:r>
            <a:r>
              <a:rPr lang="en-GB" sz="1200" dirty="0">
                <a:latin typeface="Courier New" panose="02070309020205020404" pitchFamily="49" charset="0"/>
                <a:cs typeface="Courier New" panose="02070309020205020404" pitchFamily="49" charset="0"/>
              </a:rPr>
              <a:t>:-64        XN:i:0  XM:i:9  XO:i:1  XG:i:6  NM:i:15 MD:Z:24A8G16G10G3G5G35C11C10T13 </a:t>
            </a:r>
            <a:r>
              <a:rPr lang="en-GB" sz="1200" dirty="0" err="1">
                <a:latin typeface="Courier New" panose="02070309020205020404" pitchFamily="49" charset="0"/>
                <a:cs typeface="Courier New" panose="02070309020205020404" pitchFamily="49" charset="0"/>
              </a:rPr>
              <a:t>YS:i</a:t>
            </a:r>
            <a:r>
              <a:rPr lang="en-GB" sz="1200" dirty="0">
                <a:latin typeface="Courier New" panose="02070309020205020404" pitchFamily="49" charset="0"/>
                <a:cs typeface="Courier New" panose="02070309020205020404" pitchFamily="49" charset="0"/>
              </a:rPr>
              <a:t>:-25        YT:Z:CP</a:t>
            </a:r>
          </a:p>
        </p:txBody>
      </p:sp>
      <p:sp>
        <p:nvSpPr>
          <p:cNvPr id="38" name="TextBox 37">
            <a:extLst>
              <a:ext uri="{FF2B5EF4-FFF2-40B4-BE49-F238E27FC236}">
                <a16:creationId xmlns:a16="http://schemas.microsoft.com/office/drawing/2014/main" id="{A98D9A13-67F6-BD86-23D0-3AD697C2C849}"/>
              </a:ext>
            </a:extLst>
          </p:cNvPr>
          <p:cNvSpPr txBox="1"/>
          <p:nvPr/>
        </p:nvSpPr>
        <p:spPr>
          <a:xfrm>
            <a:off x="134470" y="2013274"/>
            <a:ext cx="10353418" cy="3416320"/>
          </a:xfrm>
          <a:prstGeom prst="rect">
            <a:avLst/>
          </a:prstGeom>
          <a:noFill/>
          <a:ln>
            <a:solidFill>
              <a:schemeClr val="tx1"/>
            </a:solidFill>
          </a:ln>
        </p:spPr>
        <p:txBody>
          <a:bodyPr wrap="square">
            <a:spAutoFit/>
          </a:bodyPr>
          <a:lstStyle/>
          <a:p>
            <a:r>
              <a:rPr lang="en-GB" dirty="0"/>
              <a:t>Field			Value					Description</a:t>
            </a:r>
          </a:p>
          <a:p>
            <a:r>
              <a:rPr lang="en-GB" dirty="0"/>
              <a:t>QNAME		ERR11479310.7235242		Original read identifier</a:t>
            </a:r>
          </a:p>
          <a:p>
            <a:r>
              <a:rPr lang="en-GB" dirty="0"/>
              <a:t>FLAG		99						Bit-coded information about pairing, strand and alignment status</a:t>
            </a:r>
          </a:p>
          <a:p>
            <a:r>
              <a:rPr lang="en-GB" dirty="0"/>
              <a:t>RNAME		NZ_AP026446.1			Reference sequence/chromosome</a:t>
            </a:r>
          </a:p>
          <a:p>
            <a:r>
              <a:rPr lang="en-GB" dirty="0"/>
              <a:t>POS			119						1-based leftmost aligned position</a:t>
            </a:r>
          </a:p>
          <a:p>
            <a:r>
              <a:rPr lang="en-GB" dirty="0"/>
              <a:t>MAPQ		23						Confidence in the reported genomic placement</a:t>
            </a:r>
          </a:p>
          <a:p>
            <a:r>
              <a:rPr lang="en-GB" dirty="0"/>
              <a:t>CIGAR		</a:t>
            </a:r>
            <a:r>
              <a:rPr lang="en-GB" dirty="0">
                <a:latin typeface="Courier New" panose="02070309020205020404" pitchFamily="49" charset="0"/>
                <a:cs typeface="Courier New" panose="02070309020205020404" pitchFamily="49" charset="0"/>
              </a:rPr>
              <a:t>34M6I110M</a:t>
            </a:r>
            <a:r>
              <a:rPr lang="en-GB" dirty="0"/>
              <a:t>				Structure of the alignment</a:t>
            </a:r>
          </a:p>
          <a:p>
            <a:r>
              <a:rPr lang="en-GB" dirty="0"/>
              <a:t>RNEXT		=						Mate maps to the same reference sequence</a:t>
            </a:r>
          </a:p>
          <a:p>
            <a:r>
              <a:rPr lang="en-GB" dirty="0"/>
              <a:t>PNEXT		195						Leftmost mapping position of the mate</a:t>
            </a:r>
          </a:p>
          <a:p>
            <a:r>
              <a:rPr lang="en-GB" dirty="0"/>
              <a:t>TLEN		226						Inferred outer template/fragment length</a:t>
            </a:r>
          </a:p>
          <a:p>
            <a:r>
              <a:rPr lang="en-GB" dirty="0"/>
              <a:t>SEQ			ATTGAAAA...				Read sequence</a:t>
            </a:r>
          </a:p>
          <a:p>
            <a:r>
              <a:rPr lang="en-GB" dirty="0"/>
              <a:t>QUAL		FFFFFF...					Original per-base Phred qualities</a:t>
            </a:r>
          </a:p>
        </p:txBody>
      </p:sp>
      <p:sp>
        <p:nvSpPr>
          <p:cNvPr id="39" name="TextBox 38">
            <a:extLst>
              <a:ext uri="{FF2B5EF4-FFF2-40B4-BE49-F238E27FC236}">
                <a16:creationId xmlns:a16="http://schemas.microsoft.com/office/drawing/2014/main" id="{D53B258C-8DAF-E406-0E5F-08F30C9AE6D9}"/>
              </a:ext>
            </a:extLst>
          </p:cNvPr>
          <p:cNvSpPr txBox="1"/>
          <p:nvPr/>
        </p:nvSpPr>
        <p:spPr>
          <a:xfrm>
            <a:off x="134470" y="1623201"/>
            <a:ext cx="8137677" cy="369332"/>
          </a:xfrm>
          <a:prstGeom prst="rect">
            <a:avLst/>
          </a:prstGeom>
          <a:noFill/>
        </p:spPr>
        <p:txBody>
          <a:bodyPr wrap="none" rtlCol="0">
            <a:spAutoFit/>
          </a:bodyPr>
          <a:lstStyle/>
          <a:p>
            <a:r>
              <a:rPr lang="en-IT" dirty="0"/>
              <a:t>SAM contains </a:t>
            </a:r>
            <a:r>
              <a:rPr lang="en-IT" b="1" dirty="0"/>
              <a:t>11 mandatory fields followed by optional/aligner specific fields:</a:t>
            </a:r>
            <a:endParaRPr lang="en-GB" dirty="0"/>
          </a:p>
        </p:txBody>
      </p:sp>
      <p:sp>
        <p:nvSpPr>
          <p:cNvPr id="9" name="TextBox 8">
            <a:extLst>
              <a:ext uri="{FF2B5EF4-FFF2-40B4-BE49-F238E27FC236}">
                <a16:creationId xmlns:a16="http://schemas.microsoft.com/office/drawing/2014/main" id="{B7AD0086-5172-6275-3A07-687F1673A5B1}"/>
              </a:ext>
            </a:extLst>
          </p:cNvPr>
          <p:cNvSpPr txBox="1"/>
          <p:nvPr/>
        </p:nvSpPr>
        <p:spPr>
          <a:xfrm>
            <a:off x="201732" y="5508297"/>
            <a:ext cx="7039328" cy="923330"/>
          </a:xfrm>
          <a:prstGeom prst="rect">
            <a:avLst/>
          </a:prstGeom>
          <a:noFill/>
          <a:ln>
            <a:solidFill>
              <a:schemeClr val="tx1"/>
            </a:solidFill>
          </a:ln>
        </p:spPr>
        <p:txBody>
          <a:bodyPr wrap="square">
            <a:spAutoFit/>
          </a:bodyPr>
          <a:lstStyle/>
          <a:p>
            <a:r>
              <a:rPr lang="en-IT" dirty="0">
                <a:solidFill>
                  <a:srgbClr val="92D050"/>
                </a:solidFill>
              </a:rPr>
              <a:t>CIGAR</a:t>
            </a:r>
            <a:r>
              <a:rPr lang="en-IT" dirty="0"/>
              <a:t> represent alignment geometry:  As bowtie allows gap-alignment by default! </a:t>
            </a:r>
            <a:r>
              <a:rPr lang="en-GB" dirty="0"/>
              <a:t>S</a:t>
            </a:r>
            <a:r>
              <a:rPr lang="en-IT" dirty="0"/>
              <a:t>o </a:t>
            </a:r>
            <a:r>
              <a:rPr lang="en-GB" dirty="0"/>
              <a:t>its scoring model allows mismatches and insertions/deletions when they give the best-scoring alignment.</a:t>
            </a:r>
            <a:r>
              <a:rPr lang="en-IT" dirty="0"/>
              <a:t> </a:t>
            </a:r>
          </a:p>
        </p:txBody>
      </p:sp>
      <p:sp>
        <p:nvSpPr>
          <p:cNvPr id="8" name="TextBox 7">
            <a:extLst>
              <a:ext uri="{FF2B5EF4-FFF2-40B4-BE49-F238E27FC236}">
                <a16:creationId xmlns:a16="http://schemas.microsoft.com/office/drawing/2014/main" id="{025D982D-90CB-C9B7-C907-2F98B89B5E9A}"/>
              </a:ext>
            </a:extLst>
          </p:cNvPr>
          <p:cNvSpPr txBox="1"/>
          <p:nvPr/>
        </p:nvSpPr>
        <p:spPr>
          <a:xfrm>
            <a:off x="4203308" y="4044599"/>
            <a:ext cx="6971780" cy="1384995"/>
          </a:xfrm>
          <a:prstGeom prst="rect">
            <a:avLst/>
          </a:prstGeom>
          <a:solidFill>
            <a:schemeClr val="bg1"/>
          </a:solidFill>
          <a:ln>
            <a:solidFill>
              <a:schemeClr val="tx1"/>
            </a:solidFill>
          </a:ln>
        </p:spPr>
        <p:txBody>
          <a:bodyPr wrap="none" rtlCol="0">
            <a:spAutoFit/>
          </a:bodyPr>
          <a:lstStyle/>
          <a:p>
            <a:r>
              <a:rPr lang="en-GB" sz="1200" dirty="0">
                <a:latin typeface="Courier New" panose="02070309020205020404" pitchFamily="49" charset="0"/>
                <a:cs typeface="Courier New" panose="02070309020205020404" pitchFamily="49" charset="0"/>
              </a:rPr>
              <a:t>READ       ─────────────────────────────────────────────────────────────</a:t>
            </a:r>
          </a:p>
          <a:p>
            <a:r>
              <a:rPr lang="en-GB" sz="1200" dirty="0">
                <a:latin typeface="Courier New" panose="02070309020205020404" pitchFamily="49" charset="0"/>
                <a:cs typeface="Courier New" panose="02070309020205020404" pitchFamily="49" charset="0"/>
              </a:rPr>
              <a:t>           |&lt;--34--&gt;|IIIIII|&lt;-------------------110-------------------&gt;|</a:t>
            </a:r>
          </a:p>
          <a:p>
            <a:endParaRPr lang="en-GB" sz="1200" dirty="0">
              <a:latin typeface="Courier New" panose="02070309020205020404" pitchFamily="49" charset="0"/>
              <a:cs typeface="Courier New" panose="02070309020205020404" pitchFamily="49" charset="0"/>
            </a:endParaRPr>
          </a:p>
          <a:p>
            <a:r>
              <a:rPr lang="en-GB" sz="1200" dirty="0">
                <a:latin typeface="Courier New" panose="02070309020205020404" pitchFamily="49" charset="0"/>
                <a:cs typeface="Courier New" panose="02070309020205020404" pitchFamily="49" charset="0"/>
              </a:rPr>
              <a:t>REFERENCE  ─────────        ─────────────────────────────────────────────</a:t>
            </a:r>
          </a:p>
          <a:p>
            <a:r>
              <a:rPr lang="en-GB" sz="1200" dirty="0">
                <a:latin typeface="Courier New" panose="02070309020205020404" pitchFamily="49" charset="0"/>
                <a:cs typeface="Courier New" panose="02070309020205020404" pitchFamily="49" charset="0"/>
              </a:rPr>
              <a:t>                    ^^^^^^</a:t>
            </a:r>
          </a:p>
          <a:p>
            <a:r>
              <a:rPr lang="en-GB" sz="1200" dirty="0">
                <a:latin typeface="Courier New" panose="02070309020205020404" pitchFamily="49" charset="0"/>
                <a:cs typeface="Courier New" panose="02070309020205020404" pitchFamily="49" charset="0"/>
              </a:rPr>
              <a:t>                  6-bp insertion</a:t>
            </a:r>
          </a:p>
          <a:p>
            <a:r>
              <a:rPr lang="en-GB" sz="1200" dirty="0">
                <a:latin typeface="Courier New" panose="02070309020205020404" pitchFamily="49" charset="0"/>
                <a:cs typeface="Courier New" panose="02070309020205020404" pitchFamily="49" charset="0"/>
              </a:rPr>
              <a:t>                  relative to reference</a:t>
            </a:r>
          </a:p>
        </p:txBody>
      </p:sp>
      <p:sp>
        <p:nvSpPr>
          <p:cNvPr id="10" name="TextBox 9">
            <a:extLst>
              <a:ext uri="{FF2B5EF4-FFF2-40B4-BE49-F238E27FC236}">
                <a16:creationId xmlns:a16="http://schemas.microsoft.com/office/drawing/2014/main" id="{BF2F94D9-CA36-CE69-ACB7-EAB225465290}"/>
              </a:ext>
            </a:extLst>
          </p:cNvPr>
          <p:cNvSpPr txBox="1"/>
          <p:nvPr/>
        </p:nvSpPr>
        <p:spPr>
          <a:xfrm>
            <a:off x="7442063" y="5525353"/>
            <a:ext cx="4366877" cy="923330"/>
          </a:xfrm>
          <a:prstGeom prst="rect">
            <a:avLst/>
          </a:prstGeom>
          <a:noFill/>
        </p:spPr>
        <p:txBody>
          <a:bodyPr wrap="square" rtlCol="0">
            <a:spAutoFit/>
          </a:bodyPr>
          <a:lstStyle/>
          <a:p>
            <a:r>
              <a:rPr lang="en-GB" i="1" dirty="0">
                <a:solidFill>
                  <a:srgbClr val="FFC000"/>
                </a:solidFill>
              </a:rPr>
              <a:t>For Bacterial this is quite convenient!</a:t>
            </a:r>
          </a:p>
          <a:p>
            <a:r>
              <a:rPr lang="en-GB" i="1" dirty="0">
                <a:solidFill>
                  <a:srgbClr val="FFC000"/>
                </a:solidFill>
              </a:rPr>
              <a:t>sequenced strain often differs from the chosen reference by SNPs and small indels</a:t>
            </a:r>
          </a:p>
        </p:txBody>
      </p:sp>
    </p:spTree>
    <p:extLst>
      <p:ext uri="{BB962C8B-B14F-4D97-AF65-F5344CB8AC3E}">
        <p14:creationId xmlns:p14="http://schemas.microsoft.com/office/powerpoint/2010/main" val="1449800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089EE-04E9-A8FC-D474-97BECA1F1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13F74-7D53-286B-FD26-28325FA40B7D}"/>
              </a:ext>
            </a:extLst>
          </p:cNvPr>
          <p:cNvSpPr>
            <a:spLocks noGrp="1"/>
          </p:cNvSpPr>
          <p:nvPr>
            <p:ph type="title"/>
          </p:nvPr>
        </p:nvSpPr>
        <p:spPr/>
        <p:txBody>
          <a:bodyPr>
            <a:normAutofit fontScale="90000"/>
          </a:bodyPr>
          <a:lstStyle/>
          <a:p>
            <a:r>
              <a:rPr lang="en-GB" dirty="0"/>
              <a:t>SAM/BAM format</a:t>
            </a:r>
          </a:p>
        </p:txBody>
      </p:sp>
      <p:sp>
        <p:nvSpPr>
          <p:cNvPr id="6" name="Slide Number Placeholder 5">
            <a:extLst>
              <a:ext uri="{FF2B5EF4-FFF2-40B4-BE49-F238E27FC236}">
                <a16:creationId xmlns:a16="http://schemas.microsoft.com/office/drawing/2014/main" id="{637E446B-0B4D-4DA4-E89D-B798DD928BBB}"/>
              </a:ext>
            </a:extLst>
          </p:cNvPr>
          <p:cNvSpPr>
            <a:spLocks noGrp="1"/>
          </p:cNvSpPr>
          <p:nvPr>
            <p:ph type="sldNum" sz="quarter" idx="12"/>
          </p:nvPr>
        </p:nvSpPr>
        <p:spPr/>
        <p:txBody>
          <a:bodyPr/>
          <a:lstStyle/>
          <a:p>
            <a:fld id="{62E92BA6-6E87-3343-8D2C-B7A656D628E4}" type="slidenum">
              <a:rPr lang="en-GB" smtClean="0"/>
              <a:t>14</a:t>
            </a:fld>
            <a:endParaRPr lang="en-GB"/>
          </a:p>
        </p:txBody>
      </p:sp>
      <p:sp>
        <p:nvSpPr>
          <p:cNvPr id="7" name="TextBox 6">
            <a:extLst>
              <a:ext uri="{FF2B5EF4-FFF2-40B4-BE49-F238E27FC236}">
                <a16:creationId xmlns:a16="http://schemas.microsoft.com/office/drawing/2014/main" id="{F074ADAD-ACAD-9567-7249-1A110BAEDD46}"/>
              </a:ext>
            </a:extLst>
          </p:cNvPr>
          <p:cNvSpPr txBox="1"/>
          <p:nvPr/>
        </p:nvSpPr>
        <p:spPr>
          <a:xfrm>
            <a:off x="135924" y="641909"/>
            <a:ext cx="11920151" cy="830997"/>
          </a:xfrm>
          <a:prstGeom prst="rect">
            <a:avLst/>
          </a:prstGeom>
          <a:noFill/>
          <a:ln>
            <a:solidFill>
              <a:schemeClr val="tx1"/>
            </a:solidFill>
          </a:ln>
        </p:spPr>
        <p:txBody>
          <a:bodyPr wrap="square">
            <a:spAutoFit/>
          </a:bodyPr>
          <a:lstStyle/>
          <a:p>
            <a:r>
              <a:rPr lang="en-GB" sz="1200" dirty="0">
                <a:latin typeface="Courier New" panose="02070309020205020404" pitchFamily="49" charset="0"/>
                <a:cs typeface="Courier New" panose="02070309020205020404" pitchFamily="49" charset="0"/>
              </a:rPr>
              <a:t>ERR11479310.7235242     99      NZ_AP026446.1   119     23      34M6I110M       =       195     226     ATTGAAAAAGAAATCTTGGCGCTAGTCAAACAAAATCCTAAAGTTAGCCTCATAGAATATGAAAATTACTTTAGCCAACTCAAATACAACCCTAACG	FFFFFFF:FFF:FFFFFFFFFFFFFF:FF:FFF,FF:FFFFFFF:FFF:FFFFFFF:FFFF:FFFF:F,FFFFFFF:FFFFF:FFFFFF:F,FFFF,	</a:t>
            </a:r>
            <a:r>
              <a:rPr lang="en-GB" sz="1200" dirty="0" err="1">
                <a:latin typeface="Courier New" panose="02070309020205020404" pitchFamily="49" charset="0"/>
                <a:cs typeface="Courier New" panose="02070309020205020404" pitchFamily="49" charset="0"/>
              </a:rPr>
              <a:t>AS:i</a:t>
            </a:r>
            <a:r>
              <a:rPr lang="en-GB" sz="1200" dirty="0">
                <a:latin typeface="Courier New" panose="02070309020205020404" pitchFamily="49" charset="0"/>
                <a:cs typeface="Courier New" panose="02070309020205020404" pitchFamily="49" charset="0"/>
              </a:rPr>
              <a:t>:-64        XN:i:0  XM:i:9  XO:i:1  XG:i:6  NM:i:15 MD:Z:24A8G16G10G3G5G35C11C10T13 </a:t>
            </a:r>
            <a:r>
              <a:rPr lang="en-GB" sz="1200" dirty="0" err="1">
                <a:latin typeface="Courier New" panose="02070309020205020404" pitchFamily="49" charset="0"/>
                <a:cs typeface="Courier New" panose="02070309020205020404" pitchFamily="49" charset="0"/>
              </a:rPr>
              <a:t>YS:i</a:t>
            </a:r>
            <a:r>
              <a:rPr lang="en-GB" sz="1200" dirty="0">
                <a:latin typeface="Courier New" panose="02070309020205020404" pitchFamily="49" charset="0"/>
                <a:cs typeface="Courier New" panose="02070309020205020404" pitchFamily="49" charset="0"/>
              </a:rPr>
              <a:t>:-25        YT:Z:CP</a:t>
            </a:r>
          </a:p>
        </p:txBody>
      </p:sp>
      <p:sp>
        <p:nvSpPr>
          <p:cNvPr id="38" name="TextBox 37">
            <a:extLst>
              <a:ext uri="{FF2B5EF4-FFF2-40B4-BE49-F238E27FC236}">
                <a16:creationId xmlns:a16="http://schemas.microsoft.com/office/drawing/2014/main" id="{458085EB-D9B3-CDD0-64BF-99754FD41EBE}"/>
              </a:ext>
            </a:extLst>
          </p:cNvPr>
          <p:cNvSpPr txBox="1"/>
          <p:nvPr/>
        </p:nvSpPr>
        <p:spPr>
          <a:xfrm>
            <a:off x="134470" y="2013274"/>
            <a:ext cx="10353418" cy="3416320"/>
          </a:xfrm>
          <a:prstGeom prst="rect">
            <a:avLst/>
          </a:prstGeom>
          <a:noFill/>
          <a:ln>
            <a:solidFill>
              <a:schemeClr val="tx1"/>
            </a:solidFill>
          </a:ln>
        </p:spPr>
        <p:txBody>
          <a:bodyPr wrap="square">
            <a:spAutoFit/>
          </a:bodyPr>
          <a:lstStyle/>
          <a:p>
            <a:r>
              <a:rPr lang="en-GB" dirty="0"/>
              <a:t>Field			Value					Description</a:t>
            </a:r>
          </a:p>
          <a:p>
            <a:r>
              <a:rPr lang="en-GB" dirty="0"/>
              <a:t>QNAME		ERR11479310.7235242		Original read identifier</a:t>
            </a:r>
          </a:p>
          <a:p>
            <a:r>
              <a:rPr lang="en-GB" dirty="0"/>
              <a:t>FLAG		99						Bit-coded information about pairing, strand and alignment status</a:t>
            </a:r>
          </a:p>
          <a:p>
            <a:r>
              <a:rPr lang="en-GB" dirty="0"/>
              <a:t>RNAME		NZ_AP026446.1			Reference sequence/chromosome</a:t>
            </a:r>
          </a:p>
          <a:p>
            <a:r>
              <a:rPr lang="en-GB" dirty="0"/>
              <a:t>POS			119						1-based leftmost aligned position</a:t>
            </a:r>
          </a:p>
          <a:p>
            <a:r>
              <a:rPr lang="en-GB" dirty="0"/>
              <a:t>MAPQ		23						Confidence in the reported genomic placement</a:t>
            </a:r>
          </a:p>
          <a:p>
            <a:r>
              <a:rPr lang="en-GB" dirty="0"/>
              <a:t>CIGAR		34M6I110M				Structure of the alignment</a:t>
            </a:r>
          </a:p>
          <a:p>
            <a:r>
              <a:rPr lang="en-GB" dirty="0"/>
              <a:t>RNEXT		=						Mate maps to the same reference sequence</a:t>
            </a:r>
          </a:p>
          <a:p>
            <a:r>
              <a:rPr lang="en-GB" dirty="0"/>
              <a:t>PNEXT		195						Leftmost mapping position of the mate</a:t>
            </a:r>
          </a:p>
          <a:p>
            <a:r>
              <a:rPr lang="en-GB" dirty="0"/>
              <a:t>TLEN		226						Inferred outer template/fragment length</a:t>
            </a:r>
          </a:p>
          <a:p>
            <a:r>
              <a:rPr lang="en-GB" dirty="0"/>
              <a:t>SEQ			ATTGAAAA...				Read sequence</a:t>
            </a:r>
          </a:p>
          <a:p>
            <a:r>
              <a:rPr lang="en-GB" dirty="0"/>
              <a:t>QUAL		FFFFFF...					Original per-base Phred qualities</a:t>
            </a:r>
          </a:p>
        </p:txBody>
      </p:sp>
      <p:sp>
        <p:nvSpPr>
          <p:cNvPr id="39" name="TextBox 38">
            <a:extLst>
              <a:ext uri="{FF2B5EF4-FFF2-40B4-BE49-F238E27FC236}">
                <a16:creationId xmlns:a16="http://schemas.microsoft.com/office/drawing/2014/main" id="{47A7AC60-8768-87D3-145F-7B3E77AB9B6C}"/>
              </a:ext>
            </a:extLst>
          </p:cNvPr>
          <p:cNvSpPr txBox="1"/>
          <p:nvPr/>
        </p:nvSpPr>
        <p:spPr>
          <a:xfrm>
            <a:off x="134470" y="1623201"/>
            <a:ext cx="8137677" cy="369332"/>
          </a:xfrm>
          <a:prstGeom prst="rect">
            <a:avLst/>
          </a:prstGeom>
          <a:noFill/>
        </p:spPr>
        <p:txBody>
          <a:bodyPr wrap="none" rtlCol="0">
            <a:spAutoFit/>
          </a:bodyPr>
          <a:lstStyle/>
          <a:p>
            <a:r>
              <a:rPr lang="en-IT" dirty="0"/>
              <a:t>SAM contains </a:t>
            </a:r>
            <a:r>
              <a:rPr lang="en-IT" b="1" dirty="0"/>
              <a:t>11 mandatory fields followed by optional/aligner specific fields:</a:t>
            </a:r>
            <a:endParaRPr lang="en-GB" dirty="0"/>
          </a:p>
        </p:txBody>
      </p:sp>
      <p:sp>
        <p:nvSpPr>
          <p:cNvPr id="11" name="TextBox 10">
            <a:extLst>
              <a:ext uri="{FF2B5EF4-FFF2-40B4-BE49-F238E27FC236}">
                <a16:creationId xmlns:a16="http://schemas.microsoft.com/office/drawing/2014/main" id="{9A562384-060B-A0FF-6D74-EA01AB60C79C}"/>
              </a:ext>
            </a:extLst>
          </p:cNvPr>
          <p:cNvSpPr txBox="1"/>
          <p:nvPr/>
        </p:nvSpPr>
        <p:spPr>
          <a:xfrm>
            <a:off x="134470" y="5466325"/>
            <a:ext cx="9429660" cy="1200329"/>
          </a:xfrm>
          <a:prstGeom prst="rect">
            <a:avLst/>
          </a:prstGeom>
          <a:noFill/>
          <a:ln>
            <a:solidFill>
              <a:schemeClr val="tx1"/>
            </a:solidFill>
          </a:ln>
        </p:spPr>
        <p:txBody>
          <a:bodyPr wrap="square">
            <a:spAutoFit/>
          </a:bodyPr>
          <a:lstStyle/>
          <a:p>
            <a:r>
              <a:rPr lang="en-GB" dirty="0">
                <a:solidFill>
                  <a:srgbClr val="92D050"/>
                </a:solidFill>
              </a:rPr>
              <a:t>RNEXT, PNEXT,TLEN: </a:t>
            </a:r>
            <a:r>
              <a:rPr lang="en-GB" dirty="0"/>
              <a:t>in PE mode these describe the mate position relative to the read of interest.</a:t>
            </a:r>
          </a:p>
          <a:p>
            <a:r>
              <a:rPr lang="en-GB" dirty="0"/>
              <a:t>RNEXT – chromosome info for the mate</a:t>
            </a:r>
          </a:p>
          <a:p>
            <a:r>
              <a:rPr lang="en-GB" dirty="0"/>
              <a:t>PNEXT – start position for the mate</a:t>
            </a:r>
          </a:p>
          <a:p>
            <a:r>
              <a:rPr lang="en-GB" dirty="0"/>
              <a:t>TLEN –  total inferred length of the PE fragment</a:t>
            </a:r>
          </a:p>
        </p:txBody>
      </p:sp>
    </p:spTree>
    <p:extLst>
      <p:ext uri="{BB962C8B-B14F-4D97-AF65-F5344CB8AC3E}">
        <p14:creationId xmlns:p14="http://schemas.microsoft.com/office/powerpoint/2010/main" val="144367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DB364-D2AF-447F-F706-7F25AF562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6FCC1-CE09-9B77-9445-5125DD5CBD7A}"/>
              </a:ext>
            </a:extLst>
          </p:cNvPr>
          <p:cNvSpPr>
            <a:spLocks noGrp="1"/>
          </p:cNvSpPr>
          <p:nvPr>
            <p:ph type="title"/>
          </p:nvPr>
        </p:nvSpPr>
        <p:spPr/>
        <p:txBody>
          <a:bodyPr>
            <a:normAutofit fontScale="90000"/>
          </a:bodyPr>
          <a:lstStyle/>
          <a:p>
            <a:r>
              <a:rPr lang="en-GB" dirty="0"/>
              <a:t>SAM/BAM format</a:t>
            </a:r>
          </a:p>
        </p:txBody>
      </p:sp>
      <p:sp>
        <p:nvSpPr>
          <p:cNvPr id="4" name="Date Placeholder 3">
            <a:extLst>
              <a:ext uri="{FF2B5EF4-FFF2-40B4-BE49-F238E27FC236}">
                <a16:creationId xmlns:a16="http://schemas.microsoft.com/office/drawing/2014/main" id="{4BA3B115-7026-C26C-9220-EFB878B24791}"/>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74A936CB-7819-1FD2-0542-FFC242321FCF}"/>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AD5C5698-068F-7AD3-1852-D1523C125158}"/>
              </a:ext>
            </a:extLst>
          </p:cNvPr>
          <p:cNvSpPr>
            <a:spLocks noGrp="1"/>
          </p:cNvSpPr>
          <p:nvPr>
            <p:ph type="sldNum" sz="quarter" idx="12"/>
          </p:nvPr>
        </p:nvSpPr>
        <p:spPr/>
        <p:txBody>
          <a:bodyPr/>
          <a:lstStyle/>
          <a:p>
            <a:fld id="{62E92BA6-6E87-3343-8D2C-B7A656D628E4}" type="slidenum">
              <a:rPr lang="en-GB" smtClean="0"/>
              <a:t>15</a:t>
            </a:fld>
            <a:endParaRPr lang="en-GB"/>
          </a:p>
        </p:txBody>
      </p:sp>
      <p:sp>
        <p:nvSpPr>
          <p:cNvPr id="7" name="TextBox 6">
            <a:extLst>
              <a:ext uri="{FF2B5EF4-FFF2-40B4-BE49-F238E27FC236}">
                <a16:creationId xmlns:a16="http://schemas.microsoft.com/office/drawing/2014/main" id="{99F76177-C300-F8CB-2E24-CFF51C677765}"/>
              </a:ext>
            </a:extLst>
          </p:cNvPr>
          <p:cNvSpPr txBox="1"/>
          <p:nvPr/>
        </p:nvSpPr>
        <p:spPr>
          <a:xfrm>
            <a:off x="135924" y="641909"/>
            <a:ext cx="11920151" cy="830997"/>
          </a:xfrm>
          <a:prstGeom prst="rect">
            <a:avLst/>
          </a:prstGeom>
          <a:noFill/>
          <a:ln>
            <a:solidFill>
              <a:schemeClr val="tx1"/>
            </a:solidFill>
          </a:ln>
        </p:spPr>
        <p:txBody>
          <a:bodyPr wrap="square">
            <a:spAutoFit/>
          </a:bodyPr>
          <a:lstStyle/>
          <a:p>
            <a:r>
              <a:rPr lang="en-GB" sz="1200" dirty="0">
                <a:latin typeface="Courier New" panose="02070309020205020404" pitchFamily="49" charset="0"/>
                <a:cs typeface="Courier New" panose="02070309020205020404" pitchFamily="49" charset="0"/>
              </a:rPr>
              <a:t>ERR11479310.7235242     99      NZ_AP026446.1   119     23      34M6I110M       =       195     226     ATTGAAAAAGAAATCTTGGCGCTAGTCAAACAAAATCCTAAAGTTAGCCTCATAGAATATGAAAATTACTTTAGCCAACTCAAATACAACCCTAACG	FFFFFFF:FFF:FFFFFFFFFFFFFF:FF:FFF,FF:FFFFFFF:FFF:FFFFFFF:FFFF:FFFF:F,FFFFFFF:FFFFF:FFFFFF:F,FFFF,	</a:t>
            </a:r>
            <a:r>
              <a:rPr lang="en-GB" sz="1200" dirty="0" err="1">
                <a:latin typeface="Courier New" panose="02070309020205020404" pitchFamily="49" charset="0"/>
                <a:cs typeface="Courier New" panose="02070309020205020404" pitchFamily="49" charset="0"/>
              </a:rPr>
              <a:t>AS:i</a:t>
            </a:r>
            <a:r>
              <a:rPr lang="en-GB" sz="1200" dirty="0">
                <a:latin typeface="Courier New" panose="02070309020205020404" pitchFamily="49" charset="0"/>
                <a:cs typeface="Courier New" panose="02070309020205020404" pitchFamily="49" charset="0"/>
              </a:rPr>
              <a:t>:-64        XN:i:0  XM:i:9  XO:i:1  XG:i:6  NM:i:15 MD:Z:24A8G16G10G3G5G35C11C10T13 </a:t>
            </a:r>
            <a:r>
              <a:rPr lang="en-GB" sz="1200" dirty="0" err="1">
                <a:latin typeface="Courier New" panose="02070309020205020404" pitchFamily="49" charset="0"/>
                <a:cs typeface="Courier New" panose="02070309020205020404" pitchFamily="49" charset="0"/>
              </a:rPr>
              <a:t>YS:i</a:t>
            </a:r>
            <a:r>
              <a:rPr lang="en-GB" sz="1200" dirty="0">
                <a:latin typeface="Courier New" panose="02070309020205020404" pitchFamily="49" charset="0"/>
                <a:cs typeface="Courier New" panose="02070309020205020404" pitchFamily="49" charset="0"/>
              </a:rPr>
              <a:t>:-25        YT:Z:CP</a:t>
            </a:r>
          </a:p>
        </p:txBody>
      </p:sp>
      <p:sp>
        <p:nvSpPr>
          <p:cNvPr id="39" name="TextBox 38">
            <a:extLst>
              <a:ext uri="{FF2B5EF4-FFF2-40B4-BE49-F238E27FC236}">
                <a16:creationId xmlns:a16="http://schemas.microsoft.com/office/drawing/2014/main" id="{AD764A8A-0513-CA7C-7055-4C3644AD78BD}"/>
              </a:ext>
            </a:extLst>
          </p:cNvPr>
          <p:cNvSpPr txBox="1"/>
          <p:nvPr/>
        </p:nvSpPr>
        <p:spPr>
          <a:xfrm>
            <a:off x="134470" y="1623201"/>
            <a:ext cx="8679812" cy="369332"/>
          </a:xfrm>
          <a:prstGeom prst="rect">
            <a:avLst/>
          </a:prstGeom>
          <a:noFill/>
        </p:spPr>
        <p:txBody>
          <a:bodyPr wrap="none" rtlCol="0">
            <a:spAutoFit/>
          </a:bodyPr>
          <a:lstStyle/>
          <a:p>
            <a:r>
              <a:rPr lang="en-IT" dirty="0"/>
              <a:t>Bowtie2 optional SAM tags: Additional columns in the SAM are optional and aligner specific:</a:t>
            </a:r>
            <a:endParaRPr lang="en-GB" dirty="0"/>
          </a:p>
        </p:txBody>
      </p:sp>
      <p:sp>
        <p:nvSpPr>
          <p:cNvPr id="3" name="TextBox 2">
            <a:extLst>
              <a:ext uri="{FF2B5EF4-FFF2-40B4-BE49-F238E27FC236}">
                <a16:creationId xmlns:a16="http://schemas.microsoft.com/office/drawing/2014/main" id="{42260885-3562-7E13-DC01-BBBF4CCB069A}"/>
              </a:ext>
            </a:extLst>
          </p:cNvPr>
          <p:cNvSpPr txBox="1"/>
          <p:nvPr/>
        </p:nvSpPr>
        <p:spPr>
          <a:xfrm>
            <a:off x="235312" y="2122366"/>
            <a:ext cx="7244804" cy="3139321"/>
          </a:xfrm>
          <a:prstGeom prst="rect">
            <a:avLst/>
          </a:prstGeom>
          <a:noFill/>
          <a:ln>
            <a:solidFill>
              <a:schemeClr val="tx1"/>
            </a:solidFill>
          </a:ln>
        </p:spPr>
        <p:txBody>
          <a:bodyPr wrap="none" rtlCol="0">
            <a:spAutoFit/>
          </a:bodyPr>
          <a:lstStyle/>
          <a:p>
            <a:r>
              <a:rPr lang="en-GB" b="1" i="1" dirty="0"/>
              <a:t>Tag		Value		Meaning</a:t>
            </a:r>
          </a:p>
          <a:p>
            <a:endParaRPr lang="en-GB" b="1" i="1" dirty="0"/>
          </a:p>
          <a:p>
            <a:r>
              <a:rPr lang="en-GB" dirty="0" err="1"/>
              <a:t>AS:i</a:t>
            </a:r>
            <a:r>
              <a:rPr lang="en-GB" dirty="0"/>
              <a:t>		-64			Alignment score for this read</a:t>
            </a:r>
          </a:p>
          <a:p>
            <a:r>
              <a:rPr lang="en-GB" dirty="0" err="1"/>
              <a:t>XM:i</a:t>
            </a:r>
            <a:r>
              <a:rPr lang="en-GB" dirty="0"/>
              <a:t>		9			Number of mismatches</a:t>
            </a:r>
          </a:p>
          <a:p>
            <a:r>
              <a:rPr lang="en-GB" dirty="0" err="1"/>
              <a:t>XO:i</a:t>
            </a:r>
            <a:r>
              <a:rPr lang="en-GB" dirty="0"/>
              <a:t>		1			Number of gap openings</a:t>
            </a:r>
          </a:p>
          <a:p>
            <a:r>
              <a:rPr lang="en-GB" dirty="0"/>
              <a:t>XG:i		6			Number of gap extensions</a:t>
            </a:r>
          </a:p>
          <a:p>
            <a:r>
              <a:rPr lang="en-GB" dirty="0" err="1"/>
              <a:t>NM:i</a:t>
            </a:r>
            <a:r>
              <a:rPr lang="en-GB" dirty="0"/>
              <a:t>	15			Edit distance from reference</a:t>
            </a:r>
          </a:p>
          <a:p>
            <a:r>
              <a:rPr lang="en-GB" dirty="0" err="1"/>
              <a:t>XN:i</a:t>
            </a:r>
            <a:r>
              <a:rPr lang="en-GB" dirty="0"/>
              <a:t>		0			Ambiguous reference bases overlapped</a:t>
            </a:r>
          </a:p>
          <a:p>
            <a:r>
              <a:rPr lang="en-GB" dirty="0"/>
              <a:t>MD:Z	24A8…		Reference mismatches/deletions encoded explicitly</a:t>
            </a:r>
          </a:p>
          <a:p>
            <a:r>
              <a:rPr lang="en-GB" dirty="0" err="1"/>
              <a:t>YS:i</a:t>
            </a:r>
            <a:r>
              <a:rPr lang="en-GB" dirty="0"/>
              <a:t>		-25			Alignment score of the mate</a:t>
            </a:r>
          </a:p>
          <a:p>
            <a:r>
              <a:rPr lang="en-GB" dirty="0"/>
              <a:t>YT:Z	CP			Concordantly aligned pair</a:t>
            </a:r>
          </a:p>
        </p:txBody>
      </p:sp>
    </p:spTree>
    <p:extLst>
      <p:ext uri="{BB962C8B-B14F-4D97-AF65-F5344CB8AC3E}">
        <p14:creationId xmlns:p14="http://schemas.microsoft.com/office/powerpoint/2010/main" val="1072716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FA1D0-1702-0AB4-E396-949592E8965F}"/>
              </a:ext>
            </a:extLst>
          </p:cNvPr>
          <p:cNvSpPr>
            <a:spLocks noGrp="1"/>
          </p:cNvSpPr>
          <p:nvPr>
            <p:ph type="title"/>
          </p:nvPr>
        </p:nvSpPr>
        <p:spPr>
          <a:xfrm>
            <a:off x="134470" y="122282"/>
            <a:ext cx="12192000" cy="1867156"/>
          </a:xfrm>
        </p:spPr>
        <p:txBody>
          <a:bodyPr>
            <a:normAutofit fontScale="90000"/>
          </a:bodyPr>
          <a:lstStyle/>
          <a:p>
            <a:r>
              <a:rPr lang="en-IT" dirty="0"/>
              <a:t>Before counting..</a:t>
            </a:r>
            <a:br>
              <a:rPr lang="en-IT" dirty="0"/>
            </a:br>
            <a:r>
              <a:rPr lang="en-IT" i="1" dirty="0">
                <a:solidFill>
                  <a:schemeClr val="tx1">
                    <a:lumMod val="50000"/>
                    <a:lumOff val="50000"/>
                  </a:schemeClr>
                </a:solidFill>
              </a:rPr>
              <a:t>Strandedness should come from library provenance—and can be checked empirically</a:t>
            </a:r>
            <a:endParaRPr lang="en-GB" i="1"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52A1BF35-9DCC-4EC4-A5DD-064EC55EC303}"/>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602AB3B6-D96E-70FC-A8FB-8BD44BE91194}"/>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ED6E7971-D93C-8EF6-F0FD-6C6D54A30708}"/>
              </a:ext>
            </a:extLst>
          </p:cNvPr>
          <p:cNvSpPr>
            <a:spLocks noGrp="1"/>
          </p:cNvSpPr>
          <p:nvPr>
            <p:ph type="sldNum" sz="quarter" idx="12"/>
          </p:nvPr>
        </p:nvSpPr>
        <p:spPr/>
        <p:txBody>
          <a:bodyPr/>
          <a:lstStyle/>
          <a:p>
            <a:fld id="{62E92BA6-6E87-3343-8D2C-B7A656D628E4}" type="slidenum">
              <a:rPr lang="en-GB" smtClean="0"/>
              <a:t>16</a:t>
            </a:fld>
            <a:endParaRPr lang="en-GB"/>
          </a:p>
        </p:txBody>
      </p:sp>
      <p:sp>
        <p:nvSpPr>
          <p:cNvPr id="7" name="TextBox 6">
            <a:extLst>
              <a:ext uri="{FF2B5EF4-FFF2-40B4-BE49-F238E27FC236}">
                <a16:creationId xmlns:a16="http://schemas.microsoft.com/office/drawing/2014/main" id="{31CA5627-BDBF-B93A-8126-4384FD2A93F4}"/>
              </a:ext>
            </a:extLst>
          </p:cNvPr>
          <p:cNvSpPr txBox="1"/>
          <p:nvPr/>
        </p:nvSpPr>
        <p:spPr>
          <a:xfrm>
            <a:off x="489734" y="2296738"/>
            <a:ext cx="11039120" cy="2308324"/>
          </a:xfrm>
          <a:prstGeom prst="rect">
            <a:avLst/>
          </a:prstGeom>
          <a:noFill/>
        </p:spPr>
        <p:txBody>
          <a:bodyPr wrap="square" rtlCol="0">
            <a:spAutoFit/>
          </a:bodyPr>
          <a:lstStyle/>
          <a:p>
            <a:r>
              <a:rPr lang="en-GB" dirty="0"/>
              <a:t>From the M&amp;M of the paper:</a:t>
            </a:r>
          </a:p>
          <a:p>
            <a:endParaRPr lang="en-GB" dirty="0"/>
          </a:p>
          <a:p>
            <a:r>
              <a:rPr lang="en-GB" i="1" dirty="0">
                <a:solidFill>
                  <a:schemeClr val="tx1">
                    <a:lumMod val="50000"/>
                    <a:lumOff val="50000"/>
                  </a:schemeClr>
                </a:solidFill>
              </a:rPr>
              <a:t>“The prokaryotic directional mRNA library preparation was performed at the </a:t>
            </a:r>
            <a:r>
              <a:rPr lang="en-GB" i="1" dirty="0" err="1">
                <a:solidFill>
                  <a:schemeClr val="tx1">
                    <a:lumMod val="50000"/>
                    <a:lumOff val="50000"/>
                  </a:schemeClr>
                </a:solidFill>
              </a:rPr>
              <a:t>Novogene</a:t>
            </a:r>
            <a:r>
              <a:rPr lang="en-GB" i="1" dirty="0">
                <a:solidFill>
                  <a:schemeClr val="tx1">
                    <a:lumMod val="50000"/>
                    <a:lumOff val="50000"/>
                  </a:schemeClr>
                </a:solidFill>
              </a:rPr>
              <a:t> Bioinformatics Technology Co. Ltd. (Cambridge, UK). The </a:t>
            </a:r>
            <a:r>
              <a:rPr lang="en-GB" b="1" i="1" dirty="0"/>
              <a:t>ribosomal RNA was removed </a:t>
            </a:r>
            <a:r>
              <a:rPr lang="en-GB" i="1" dirty="0">
                <a:solidFill>
                  <a:schemeClr val="tx1">
                    <a:lumMod val="50000"/>
                    <a:lumOff val="50000"/>
                  </a:schemeClr>
                </a:solidFill>
              </a:rPr>
              <a:t>from the total RNA, followed by ethanol precipitation. After fragmentation, the </a:t>
            </a:r>
            <a:r>
              <a:rPr lang="en-GB" b="1" i="1" dirty="0"/>
              <a:t>first strand of cDNA was synthesised using random hexamer primers</a:t>
            </a:r>
            <a:r>
              <a:rPr lang="en-GB" i="1" dirty="0">
                <a:solidFill>
                  <a:schemeClr val="tx1">
                    <a:lumMod val="50000"/>
                    <a:lumOff val="50000"/>
                  </a:schemeClr>
                </a:solidFill>
              </a:rPr>
              <a:t>. During the </a:t>
            </a:r>
            <a:r>
              <a:rPr lang="en-GB" b="1" i="1" dirty="0"/>
              <a:t>second strand cDNA synthesis, </a:t>
            </a:r>
            <a:r>
              <a:rPr lang="en-GB" b="1" i="1" dirty="0" err="1"/>
              <a:t>dUTPs</a:t>
            </a:r>
            <a:r>
              <a:rPr lang="en-GB" b="1" i="1" dirty="0"/>
              <a:t> were replaced with dTTPs in the reaction buffer</a:t>
            </a:r>
            <a:r>
              <a:rPr lang="en-GB" i="1" dirty="0">
                <a:solidFill>
                  <a:schemeClr val="tx1">
                    <a:lumMod val="50000"/>
                    <a:lumOff val="50000"/>
                  </a:schemeClr>
                </a:solidFill>
              </a:rPr>
              <a:t>. The directional library was ready after end repair, A-tailing, adapter ligation, size selection, USER enzyme digestion, amplification, and purification. The library was checked with Qubit, RT-qPCR for quantification and a </a:t>
            </a:r>
            <a:r>
              <a:rPr lang="en-GB" i="1" dirty="0" err="1">
                <a:solidFill>
                  <a:schemeClr val="tx1">
                    <a:lumMod val="50000"/>
                    <a:lumOff val="50000"/>
                  </a:schemeClr>
                </a:solidFill>
              </a:rPr>
              <a:t>bioanalyser</a:t>
            </a:r>
            <a:r>
              <a:rPr lang="en-GB" i="1" dirty="0">
                <a:solidFill>
                  <a:schemeClr val="tx1">
                    <a:lumMod val="50000"/>
                    <a:lumOff val="50000"/>
                  </a:schemeClr>
                </a:solidFill>
              </a:rPr>
              <a:t> for size distribution detection.”</a:t>
            </a:r>
          </a:p>
        </p:txBody>
      </p:sp>
      <p:sp>
        <p:nvSpPr>
          <p:cNvPr id="8" name="TextBox 7">
            <a:extLst>
              <a:ext uri="{FF2B5EF4-FFF2-40B4-BE49-F238E27FC236}">
                <a16:creationId xmlns:a16="http://schemas.microsoft.com/office/drawing/2014/main" id="{98267AD1-BF83-0275-766A-6444B9575F66}"/>
              </a:ext>
            </a:extLst>
          </p:cNvPr>
          <p:cNvSpPr txBox="1"/>
          <p:nvPr/>
        </p:nvSpPr>
        <p:spPr>
          <a:xfrm>
            <a:off x="469886" y="5111374"/>
            <a:ext cx="11521167" cy="369332"/>
          </a:xfrm>
          <a:prstGeom prst="rect">
            <a:avLst/>
          </a:prstGeom>
          <a:noFill/>
        </p:spPr>
        <p:txBody>
          <a:bodyPr wrap="none" rtlCol="0">
            <a:spAutoFit/>
          </a:bodyPr>
          <a:lstStyle/>
          <a:p>
            <a:r>
              <a:rPr lang="en-GB" dirty="0"/>
              <a:t>We expect read 1 to be in the same orientation as the RNA! So we can count reads per gene in a strand specific manner.</a:t>
            </a:r>
          </a:p>
        </p:txBody>
      </p:sp>
    </p:spTree>
    <p:extLst>
      <p:ext uri="{BB962C8B-B14F-4D97-AF65-F5344CB8AC3E}">
        <p14:creationId xmlns:p14="http://schemas.microsoft.com/office/powerpoint/2010/main" val="4204080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C76DE-9C57-2D60-10B3-9060F2C58F57}"/>
              </a:ext>
            </a:extLst>
          </p:cNvPr>
          <p:cNvSpPr>
            <a:spLocks noGrp="1"/>
          </p:cNvSpPr>
          <p:nvPr>
            <p:ph type="title"/>
          </p:nvPr>
        </p:nvSpPr>
        <p:spPr/>
        <p:txBody>
          <a:bodyPr>
            <a:normAutofit fontScale="90000"/>
          </a:bodyPr>
          <a:lstStyle/>
          <a:p>
            <a:r>
              <a:rPr lang="en-IT" dirty="0"/>
              <a:t>Metadata first, empirical validation when necessary</a:t>
            </a:r>
            <a:endParaRPr lang="en-GB" dirty="0"/>
          </a:p>
        </p:txBody>
      </p:sp>
      <p:sp>
        <p:nvSpPr>
          <p:cNvPr id="4" name="Date Placeholder 3">
            <a:extLst>
              <a:ext uri="{FF2B5EF4-FFF2-40B4-BE49-F238E27FC236}">
                <a16:creationId xmlns:a16="http://schemas.microsoft.com/office/drawing/2014/main" id="{48A20EDE-7593-C70A-7D8B-6BE93EECA0EC}"/>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75728304-1515-9455-A444-6C8B6345BD0C}"/>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9A8AEF54-05D0-D7E6-BAA5-C5533981B1C6}"/>
              </a:ext>
            </a:extLst>
          </p:cNvPr>
          <p:cNvSpPr>
            <a:spLocks noGrp="1"/>
          </p:cNvSpPr>
          <p:nvPr>
            <p:ph type="sldNum" sz="quarter" idx="12"/>
          </p:nvPr>
        </p:nvSpPr>
        <p:spPr/>
        <p:txBody>
          <a:bodyPr/>
          <a:lstStyle/>
          <a:p>
            <a:fld id="{62E92BA6-6E87-3343-8D2C-B7A656D628E4}" type="slidenum">
              <a:rPr lang="en-GB" smtClean="0"/>
              <a:t>17</a:t>
            </a:fld>
            <a:endParaRPr lang="en-GB"/>
          </a:p>
        </p:txBody>
      </p:sp>
      <p:sp>
        <p:nvSpPr>
          <p:cNvPr id="7" name="TextBox 6">
            <a:extLst>
              <a:ext uri="{FF2B5EF4-FFF2-40B4-BE49-F238E27FC236}">
                <a16:creationId xmlns:a16="http://schemas.microsoft.com/office/drawing/2014/main" id="{41DD5DAF-3AC1-5D5F-D59B-020FA659CF67}"/>
              </a:ext>
            </a:extLst>
          </p:cNvPr>
          <p:cNvSpPr txBox="1"/>
          <p:nvPr/>
        </p:nvSpPr>
        <p:spPr>
          <a:xfrm>
            <a:off x="331573" y="1816443"/>
            <a:ext cx="11089831" cy="400110"/>
          </a:xfrm>
          <a:prstGeom prst="rect">
            <a:avLst/>
          </a:prstGeom>
          <a:noFill/>
        </p:spPr>
        <p:txBody>
          <a:bodyPr wrap="none" rtlCol="0">
            <a:spAutoFit/>
          </a:bodyPr>
          <a:lstStyle/>
          <a:p>
            <a:r>
              <a:rPr lang="en-IT" sz="2000" dirty="0"/>
              <a:t>Run </a:t>
            </a:r>
            <a:r>
              <a:rPr lang="en-IT" sz="2000" dirty="0">
                <a:solidFill>
                  <a:srgbClr val="A72AA7"/>
                </a:solidFill>
                <a:hlinkClick r:id="rId2"/>
              </a:rPr>
              <a:t>infer_experiment.py </a:t>
            </a:r>
            <a:r>
              <a:rPr lang="en-IT" sz="2000" dirty="0"/>
              <a:t>on one representative BAM and reconcile the output with the library metadata.</a:t>
            </a:r>
            <a:endParaRPr lang="en-GB" sz="2000" dirty="0"/>
          </a:p>
        </p:txBody>
      </p:sp>
      <p:sp>
        <p:nvSpPr>
          <p:cNvPr id="9" name="TextBox 8">
            <a:extLst>
              <a:ext uri="{FF2B5EF4-FFF2-40B4-BE49-F238E27FC236}">
                <a16:creationId xmlns:a16="http://schemas.microsoft.com/office/drawing/2014/main" id="{3499ED67-0912-273C-20EA-0DC3ED542ED7}"/>
              </a:ext>
            </a:extLst>
          </p:cNvPr>
          <p:cNvSpPr txBox="1"/>
          <p:nvPr/>
        </p:nvSpPr>
        <p:spPr>
          <a:xfrm>
            <a:off x="331573" y="1023356"/>
            <a:ext cx="6209270" cy="584775"/>
          </a:xfrm>
          <a:prstGeom prst="rect">
            <a:avLst/>
          </a:prstGeom>
          <a:noFill/>
        </p:spPr>
        <p:txBody>
          <a:bodyPr wrap="square">
            <a:spAutoFit/>
          </a:bodyPr>
          <a:lstStyle/>
          <a:p>
            <a:pPr marL="0" marR="0" indent="0" algn="l">
              <a:spcAft>
                <a:spcPts val="750"/>
              </a:spcAft>
              <a:buNone/>
            </a:pPr>
            <a:r>
              <a:rPr lang="en-IT" sz="3200" b="0" i="0" dirty="0">
                <a:solidFill>
                  <a:schemeClr val="tx1"/>
                </a:solidFill>
                <a:effectLst/>
                <a:latin typeface="+mn-lt"/>
                <a:hlinkClick r:id="rId3"/>
              </a:rPr>
              <a:t>RSeQC</a:t>
            </a:r>
            <a:endParaRPr lang="en-IT" sz="3200" b="0" i="0" dirty="0">
              <a:solidFill>
                <a:srgbClr val="212224"/>
              </a:solidFill>
              <a:effectLst/>
              <a:latin typeface="Arial" panose="020B0604020202020204" pitchFamily="34" charset="0"/>
            </a:endParaRPr>
          </a:p>
        </p:txBody>
      </p:sp>
      <p:sp>
        <p:nvSpPr>
          <p:cNvPr id="11" name="TextBox 10">
            <a:extLst>
              <a:ext uri="{FF2B5EF4-FFF2-40B4-BE49-F238E27FC236}">
                <a16:creationId xmlns:a16="http://schemas.microsoft.com/office/drawing/2014/main" id="{62C6E38A-6E9B-3601-637A-5B926E8C0A1E}"/>
              </a:ext>
            </a:extLst>
          </p:cNvPr>
          <p:cNvSpPr txBox="1"/>
          <p:nvPr/>
        </p:nvSpPr>
        <p:spPr>
          <a:xfrm>
            <a:off x="362824" y="2301292"/>
            <a:ext cx="9946954" cy="2862322"/>
          </a:xfrm>
          <a:prstGeom prst="rect">
            <a:avLst/>
          </a:prstGeom>
          <a:noFill/>
          <a:ln>
            <a:solidFill>
              <a:schemeClr val="tx1"/>
            </a:solidFill>
          </a:ln>
        </p:spPr>
        <p:txBody>
          <a:bodyPr wrap="none" rtlCol="0">
            <a:spAutoFit/>
          </a:bodyPr>
          <a:lstStyle/>
          <a:p>
            <a:r>
              <a:rPr lang="en-GB" sz="1200" dirty="0">
                <a:latin typeface="Courier New" panose="02070309020205020404" pitchFamily="49" charset="0"/>
                <a:cs typeface="Courier New" panose="02070309020205020404" pitchFamily="49" charset="0"/>
              </a:rPr>
              <a:t>For pair-end RNA-</a:t>
            </a:r>
            <a:r>
              <a:rPr lang="en-GB" sz="1200" dirty="0" err="1">
                <a:latin typeface="Courier New" panose="02070309020205020404" pitchFamily="49" charset="0"/>
                <a:cs typeface="Courier New" panose="02070309020205020404" pitchFamily="49" charset="0"/>
              </a:rPr>
              <a:t>seq</a:t>
            </a:r>
            <a:r>
              <a:rPr lang="en-GB" sz="1200" dirty="0">
                <a:latin typeface="Courier New" panose="02070309020205020404" pitchFamily="49" charset="0"/>
                <a:cs typeface="Courier New" panose="02070309020205020404" pitchFamily="49" charset="0"/>
              </a:rPr>
              <a:t>, there are two different ways to strand reads (such as Illumina </a:t>
            </a:r>
            <a:r>
              <a:rPr lang="en-GB" sz="1200" dirty="0" err="1">
                <a:latin typeface="Courier New" panose="02070309020205020404" pitchFamily="49" charset="0"/>
                <a:cs typeface="Courier New" panose="02070309020205020404" pitchFamily="49" charset="0"/>
              </a:rPr>
              <a:t>ScriptSeq</a:t>
            </a:r>
            <a:r>
              <a:rPr lang="en-GB" sz="1200" dirty="0">
                <a:latin typeface="Courier New" panose="02070309020205020404" pitchFamily="49" charset="0"/>
                <a:cs typeface="Courier New" panose="02070309020205020404" pitchFamily="49" charset="0"/>
              </a:rPr>
              <a:t> protocol):</a:t>
            </a:r>
          </a:p>
          <a:p>
            <a:endParaRPr lang="en-GB" sz="1200" dirty="0">
              <a:latin typeface="Courier New" panose="02070309020205020404" pitchFamily="49" charset="0"/>
              <a:cs typeface="Courier New" panose="02070309020205020404" pitchFamily="49" charset="0"/>
            </a:endParaRPr>
          </a:p>
          <a:p>
            <a:r>
              <a:rPr lang="en-GB" sz="1200" dirty="0">
                <a:latin typeface="Courier New" panose="02070309020205020404" pitchFamily="49" charset="0"/>
                <a:cs typeface="Courier New" panose="02070309020205020404" pitchFamily="49" charset="0"/>
              </a:rPr>
              <a:t>1++,1–,2+-,2-+</a:t>
            </a:r>
          </a:p>
          <a:p>
            <a:endParaRPr lang="en-GB" sz="1200" dirty="0">
              <a:latin typeface="Courier New" panose="02070309020205020404" pitchFamily="49" charset="0"/>
              <a:cs typeface="Courier New" panose="02070309020205020404" pitchFamily="49" charset="0"/>
            </a:endParaRPr>
          </a:p>
          <a:p>
            <a:r>
              <a:rPr lang="en-GB" sz="1200" dirty="0">
                <a:latin typeface="Courier New" panose="02070309020205020404" pitchFamily="49" charset="0"/>
                <a:cs typeface="Courier New" panose="02070309020205020404" pitchFamily="49" charset="0"/>
              </a:rPr>
              <a:t>read1 mapped to ‘+’ strand indicates parental gene on ‘+’ strand</a:t>
            </a:r>
          </a:p>
          <a:p>
            <a:r>
              <a:rPr lang="en-GB" sz="1200" dirty="0">
                <a:latin typeface="Courier New" panose="02070309020205020404" pitchFamily="49" charset="0"/>
                <a:cs typeface="Courier New" panose="02070309020205020404" pitchFamily="49" charset="0"/>
              </a:rPr>
              <a:t>read1 mapped to ‘-’ strand indicates parental gene on ‘-’ strand</a:t>
            </a:r>
          </a:p>
          <a:p>
            <a:r>
              <a:rPr lang="en-GB" sz="1200" dirty="0">
                <a:latin typeface="Courier New" panose="02070309020205020404" pitchFamily="49" charset="0"/>
                <a:cs typeface="Courier New" panose="02070309020205020404" pitchFamily="49" charset="0"/>
              </a:rPr>
              <a:t>read2 mapped to ‘+’ strand indicates parental gene on ‘-’ strand</a:t>
            </a:r>
          </a:p>
          <a:p>
            <a:r>
              <a:rPr lang="en-GB" sz="1200" dirty="0">
                <a:latin typeface="Courier New" panose="02070309020205020404" pitchFamily="49" charset="0"/>
                <a:cs typeface="Courier New" panose="02070309020205020404" pitchFamily="49" charset="0"/>
              </a:rPr>
              <a:t>read2 mapped to ‘-’ strand indicates parental gene on ‘+’ strand</a:t>
            </a:r>
          </a:p>
          <a:p>
            <a:endParaRPr lang="en-GB" sz="1200" dirty="0">
              <a:latin typeface="Courier New" panose="02070309020205020404" pitchFamily="49" charset="0"/>
              <a:cs typeface="Courier New" panose="02070309020205020404" pitchFamily="49" charset="0"/>
            </a:endParaRPr>
          </a:p>
          <a:p>
            <a:r>
              <a:rPr lang="en-GB" sz="1200" dirty="0">
                <a:latin typeface="Courier New" panose="02070309020205020404" pitchFamily="49" charset="0"/>
                <a:cs typeface="Courier New" panose="02070309020205020404" pitchFamily="49" charset="0"/>
              </a:rPr>
              <a:t>1+-,1-+,2++,2–</a:t>
            </a:r>
          </a:p>
          <a:p>
            <a:endParaRPr lang="en-GB" sz="1200" dirty="0">
              <a:latin typeface="Courier New" panose="02070309020205020404" pitchFamily="49" charset="0"/>
              <a:cs typeface="Courier New" panose="02070309020205020404" pitchFamily="49" charset="0"/>
            </a:endParaRPr>
          </a:p>
          <a:p>
            <a:r>
              <a:rPr lang="en-GB" sz="1200" dirty="0">
                <a:latin typeface="Courier New" panose="02070309020205020404" pitchFamily="49" charset="0"/>
                <a:cs typeface="Courier New" panose="02070309020205020404" pitchFamily="49" charset="0"/>
              </a:rPr>
              <a:t>read1 mapped to ‘+’ strand indicates parental gene on ‘-’ strand</a:t>
            </a:r>
          </a:p>
          <a:p>
            <a:r>
              <a:rPr lang="en-GB" sz="1200" dirty="0">
                <a:latin typeface="Courier New" panose="02070309020205020404" pitchFamily="49" charset="0"/>
                <a:cs typeface="Courier New" panose="02070309020205020404" pitchFamily="49" charset="0"/>
              </a:rPr>
              <a:t>read1 mapped to ‘-’ strand indicates parental gene on ‘+’ strand</a:t>
            </a:r>
          </a:p>
          <a:p>
            <a:r>
              <a:rPr lang="en-GB" sz="1200" dirty="0">
                <a:latin typeface="Courier New" panose="02070309020205020404" pitchFamily="49" charset="0"/>
                <a:cs typeface="Courier New" panose="02070309020205020404" pitchFamily="49" charset="0"/>
              </a:rPr>
              <a:t>read2 mapped to ‘+’ strand indicates parental gene on ‘+’ strand</a:t>
            </a:r>
          </a:p>
          <a:p>
            <a:r>
              <a:rPr lang="en-GB" sz="1200" dirty="0">
                <a:latin typeface="Courier New" panose="02070309020205020404" pitchFamily="49" charset="0"/>
                <a:cs typeface="Courier New" panose="02070309020205020404" pitchFamily="49" charset="0"/>
              </a:rPr>
              <a:t>read2 mapped to ‘-’ strand indicates parental gene on ‘-’ strand</a:t>
            </a:r>
          </a:p>
        </p:txBody>
      </p:sp>
      <p:sp>
        <p:nvSpPr>
          <p:cNvPr id="12" name="TextBox 11">
            <a:extLst>
              <a:ext uri="{FF2B5EF4-FFF2-40B4-BE49-F238E27FC236}">
                <a16:creationId xmlns:a16="http://schemas.microsoft.com/office/drawing/2014/main" id="{268C1DD0-FF08-DC85-91C1-7F5965072F47}"/>
              </a:ext>
            </a:extLst>
          </p:cNvPr>
          <p:cNvSpPr txBox="1"/>
          <p:nvPr/>
        </p:nvSpPr>
        <p:spPr>
          <a:xfrm>
            <a:off x="6684155" y="3036159"/>
            <a:ext cx="5419893" cy="1815882"/>
          </a:xfrm>
          <a:prstGeom prst="rect">
            <a:avLst/>
          </a:prstGeom>
          <a:solidFill>
            <a:schemeClr val="bg1"/>
          </a:solidFill>
          <a:ln>
            <a:solidFill>
              <a:schemeClr val="tx1"/>
            </a:solidFill>
          </a:ln>
        </p:spPr>
        <p:txBody>
          <a:bodyPr wrap="square" rtlCol="0">
            <a:spAutoFit/>
          </a:bodyPr>
          <a:lstStyle/>
          <a:p>
            <a:r>
              <a:rPr lang="en-GB" sz="1400" dirty="0">
                <a:latin typeface="Courier New" panose="02070309020205020404" pitchFamily="49" charset="0"/>
                <a:cs typeface="Courier New" panose="02070309020205020404" pitchFamily="49" charset="0"/>
              </a:rPr>
              <a:t>docker run --rm \</a:t>
            </a:r>
          </a:p>
          <a:p>
            <a:r>
              <a:rPr lang="en-GB" sz="1400" dirty="0">
                <a:latin typeface="Courier New" panose="02070309020205020404" pitchFamily="49" charset="0"/>
                <a:cs typeface="Courier New" panose="02070309020205020404" pitchFamily="49" charset="0"/>
              </a:rPr>
              <a:t>  --user "$(id -u):$(id -g)" \</a:t>
            </a:r>
          </a:p>
          <a:p>
            <a:r>
              <a:rPr lang="en-GB" sz="1400" dirty="0">
                <a:latin typeface="Courier New" panose="02070309020205020404" pitchFamily="49" charset="0"/>
                <a:cs typeface="Courier New" panose="02070309020205020404" pitchFamily="49" charset="0"/>
              </a:rPr>
              <a:t>  -v "$PWD:/work" \</a:t>
            </a:r>
          </a:p>
          <a:p>
            <a:r>
              <a:rPr lang="en-GB" sz="1400" dirty="0">
                <a:latin typeface="Courier New" panose="02070309020205020404" pitchFamily="49" charset="0"/>
                <a:cs typeface="Courier New" panose="02070309020205020404" pitchFamily="49" charset="0"/>
              </a:rPr>
              <a:t>  -w /work \</a:t>
            </a:r>
          </a:p>
          <a:p>
            <a:r>
              <a:rPr lang="en-GB" sz="1400" dirty="0">
                <a:latin typeface="Courier New" panose="02070309020205020404" pitchFamily="49" charset="0"/>
                <a:cs typeface="Courier New" panose="02070309020205020404" pitchFamily="49" charset="0"/>
              </a:rPr>
              <a:t>  </a:t>
            </a:r>
            <a:r>
              <a:rPr lang="en-GB" sz="1400" dirty="0" err="1">
                <a:latin typeface="Courier New" panose="02070309020205020404" pitchFamily="49" charset="0"/>
                <a:cs typeface="Courier New" panose="02070309020205020404" pitchFamily="49" charset="0"/>
              </a:rPr>
              <a:t>docker.io</a:t>
            </a:r>
            <a:r>
              <a:rPr lang="en-GB" sz="1400" dirty="0">
                <a:latin typeface="Courier New" panose="02070309020205020404" pitchFamily="49" charset="0"/>
                <a:cs typeface="Courier New" panose="02070309020205020404" pitchFamily="49" charset="0"/>
              </a:rPr>
              <a:t>/</a:t>
            </a:r>
            <a:r>
              <a:rPr lang="en-GB" sz="1400" dirty="0" err="1">
                <a:latin typeface="Courier New" panose="02070309020205020404" pitchFamily="49" charset="0"/>
                <a:cs typeface="Courier New" panose="02070309020205020404" pitchFamily="49" charset="0"/>
              </a:rPr>
              <a:t>getwilds</a:t>
            </a:r>
            <a:r>
              <a:rPr lang="en-GB" sz="1400" dirty="0">
                <a:latin typeface="Courier New" panose="02070309020205020404" pitchFamily="49" charset="0"/>
                <a:cs typeface="Courier New" panose="02070309020205020404" pitchFamily="49" charset="0"/>
              </a:rPr>
              <a:t>/</a:t>
            </a:r>
            <a:r>
              <a:rPr lang="en-GB" sz="1400" dirty="0" err="1">
                <a:latin typeface="Courier New" panose="02070309020205020404" pitchFamily="49" charset="0"/>
                <a:cs typeface="Courier New" panose="02070309020205020404" pitchFamily="49" charset="0"/>
              </a:rPr>
              <a:t>rseqc</a:t>
            </a:r>
            <a:r>
              <a:rPr lang="en-GB" sz="1400" dirty="0">
                <a:latin typeface="Courier New" panose="02070309020205020404" pitchFamily="49" charset="0"/>
                <a:cs typeface="Courier New" panose="02070309020205020404" pitchFamily="49" charset="0"/>
              </a:rPr>
              <a:t> \</a:t>
            </a:r>
          </a:p>
          <a:p>
            <a:r>
              <a:rPr lang="en-GB" sz="1400" dirty="0">
                <a:latin typeface="Courier New" panose="02070309020205020404" pitchFamily="49" charset="0"/>
                <a:cs typeface="Courier New" panose="02070309020205020404" pitchFamily="49" charset="0"/>
              </a:rPr>
              <a:t>  </a:t>
            </a:r>
            <a:r>
              <a:rPr lang="en-GB" sz="1400" dirty="0" err="1">
                <a:latin typeface="Courier New" panose="02070309020205020404" pitchFamily="49" charset="0"/>
                <a:cs typeface="Courier New" panose="02070309020205020404" pitchFamily="49" charset="0"/>
              </a:rPr>
              <a:t>infer_experiment.py</a:t>
            </a:r>
            <a:r>
              <a:rPr lang="en-GB" sz="1400" dirty="0">
                <a:latin typeface="Courier New" panose="02070309020205020404" pitchFamily="49" charset="0"/>
                <a:cs typeface="Courier New" panose="02070309020205020404" pitchFamily="49" charset="0"/>
              </a:rPr>
              <a:t> \</a:t>
            </a:r>
          </a:p>
          <a:p>
            <a:r>
              <a:rPr lang="en-GB" sz="1400" dirty="0">
                <a:latin typeface="Courier New" panose="02070309020205020404" pitchFamily="49" charset="0"/>
                <a:cs typeface="Courier New" panose="02070309020205020404" pitchFamily="49" charset="0"/>
              </a:rPr>
              <a:t>  -</a:t>
            </a:r>
            <a:r>
              <a:rPr lang="en-GB" sz="1400" dirty="0" err="1">
                <a:latin typeface="Courier New" panose="02070309020205020404" pitchFamily="49" charset="0"/>
                <a:cs typeface="Courier New" panose="02070309020205020404" pitchFamily="49" charset="0"/>
              </a:rPr>
              <a:t>i</a:t>
            </a:r>
            <a:r>
              <a:rPr lang="en-GB" sz="1400" dirty="0">
                <a:latin typeface="Courier New" panose="02070309020205020404" pitchFamily="49" charset="0"/>
                <a:cs typeface="Courier New" panose="02070309020205020404" pitchFamily="49" charset="0"/>
              </a:rPr>
              <a:t> results/day2_rnaseq/bam/WT_1.filtered.bam \</a:t>
            </a:r>
          </a:p>
          <a:p>
            <a:r>
              <a:rPr lang="en-GB" sz="1400" dirty="0">
                <a:latin typeface="Courier New" panose="02070309020205020404" pitchFamily="49" charset="0"/>
                <a:cs typeface="Courier New" panose="02070309020205020404" pitchFamily="49" charset="0"/>
              </a:rPr>
              <a:t>  -r </a:t>
            </a:r>
            <a:r>
              <a:rPr lang="en-GB" sz="1400" dirty="0" err="1">
                <a:latin typeface="Courier New" panose="02070309020205020404" pitchFamily="49" charset="0"/>
                <a:cs typeface="Courier New" panose="02070309020205020404" pitchFamily="49" charset="0"/>
              </a:rPr>
              <a:t>reference_genome</a:t>
            </a:r>
            <a:r>
              <a:rPr lang="en-GB" sz="1400" dirty="0">
                <a:latin typeface="Courier New" panose="02070309020205020404" pitchFamily="49" charset="0"/>
                <a:cs typeface="Courier New" panose="02070309020205020404" pitchFamily="49" charset="0"/>
              </a:rPr>
              <a:t>/</a:t>
            </a:r>
            <a:r>
              <a:rPr lang="en-GB" sz="1400" dirty="0" err="1">
                <a:latin typeface="Courier New" panose="02070309020205020404" pitchFamily="49" charset="0"/>
                <a:cs typeface="Courier New" panose="02070309020205020404" pitchFamily="49" charset="0"/>
              </a:rPr>
              <a:t>genes.bed</a:t>
            </a:r>
            <a:endParaRPr lang="en-GB" sz="1400"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D5DD006C-27AA-A6D4-A416-86D2E335737D}"/>
              </a:ext>
            </a:extLst>
          </p:cNvPr>
          <p:cNvSpPr txBox="1"/>
          <p:nvPr/>
        </p:nvSpPr>
        <p:spPr>
          <a:xfrm>
            <a:off x="331573" y="5436816"/>
            <a:ext cx="5160900" cy="646331"/>
          </a:xfrm>
          <a:prstGeom prst="rect">
            <a:avLst/>
          </a:prstGeom>
          <a:noFill/>
        </p:spPr>
        <p:txBody>
          <a:bodyPr wrap="none" rtlCol="0">
            <a:spAutoFit/>
          </a:bodyPr>
          <a:lstStyle/>
          <a:p>
            <a:r>
              <a:rPr lang="en-GB" dirty="0">
                <a:hlinkClick r:id="rId4"/>
              </a:rPr>
              <a:t>BED format minimal</a:t>
            </a:r>
            <a:r>
              <a:rPr lang="en-GB" dirty="0"/>
              <a:t> we need tab separated file with: </a:t>
            </a:r>
          </a:p>
          <a:p>
            <a:r>
              <a:rPr lang="en-GB" dirty="0" err="1"/>
              <a:t>chrom</a:t>
            </a:r>
            <a:r>
              <a:rPr lang="en-GB" dirty="0"/>
              <a:t>, start, end, name, score, strand</a:t>
            </a:r>
          </a:p>
        </p:txBody>
      </p:sp>
      <p:pic>
        <p:nvPicPr>
          <p:cNvPr id="15" name="Picture 14">
            <a:extLst>
              <a:ext uri="{FF2B5EF4-FFF2-40B4-BE49-F238E27FC236}">
                <a16:creationId xmlns:a16="http://schemas.microsoft.com/office/drawing/2014/main" id="{4C558431-6178-AA17-5582-5162CFA74AD5}"/>
              </a:ext>
            </a:extLst>
          </p:cNvPr>
          <p:cNvPicPr>
            <a:picLocks noChangeAspect="1"/>
          </p:cNvPicPr>
          <p:nvPr/>
        </p:nvPicPr>
        <p:blipFill>
          <a:blip r:embed="rId5"/>
          <a:stretch>
            <a:fillRect/>
          </a:stretch>
        </p:blipFill>
        <p:spPr>
          <a:xfrm>
            <a:off x="5794947" y="5248353"/>
            <a:ext cx="6397053" cy="1609647"/>
          </a:xfrm>
          <a:prstGeom prst="rect">
            <a:avLst/>
          </a:prstGeom>
        </p:spPr>
      </p:pic>
    </p:spTree>
    <p:extLst>
      <p:ext uri="{BB962C8B-B14F-4D97-AF65-F5344CB8AC3E}">
        <p14:creationId xmlns:p14="http://schemas.microsoft.com/office/powerpoint/2010/main" val="1852040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C3E45-9C5E-91FB-E2A8-A170F78F1F38}"/>
              </a:ext>
            </a:extLst>
          </p:cNvPr>
          <p:cNvSpPr>
            <a:spLocks noGrp="1"/>
          </p:cNvSpPr>
          <p:nvPr>
            <p:ph type="title"/>
          </p:nvPr>
        </p:nvSpPr>
        <p:spPr>
          <a:xfrm>
            <a:off x="0" y="0"/>
            <a:ext cx="12192000" cy="1014540"/>
          </a:xfrm>
        </p:spPr>
        <p:txBody>
          <a:bodyPr>
            <a:normAutofit/>
          </a:bodyPr>
          <a:lstStyle/>
          <a:p>
            <a:r>
              <a:rPr lang="en-IT" b="1" dirty="0"/>
              <a:t>Count reads per gene with featureCounts</a:t>
            </a:r>
            <a:endParaRPr lang="en-GB" dirty="0"/>
          </a:p>
        </p:txBody>
      </p:sp>
      <p:sp>
        <p:nvSpPr>
          <p:cNvPr id="3" name="Content Placeholder 2">
            <a:extLst>
              <a:ext uri="{FF2B5EF4-FFF2-40B4-BE49-F238E27FC236}">
                <a16:creationId xmlns:a16="http://schemas.microsoft.com/office/drawing/2014/main" id="{EBCC127C-B567-67C7-FFCF-2912D5580D81}"/>
              </a:ext>
            </a:extLst>
          </p:cNvPr>
          <p:cNvSpPr>
            <a:spLocks noGrp="1"/>
          </p:cNvSpPr>
          <p:nvPr>
            <p:ph idx="1"/>
          </p:nvPr>
        </p:nvSpPr>
        <p:spPr>
          <a:xfrm>
            <a:off x="398929" y="956048"/>
            <a:ext cx="11192435" cy="2071357"/>
          </a:xfrm>
        </p:spPr>
        <p:txBody>
          <a:bodyPr>
            <a:normAutofit lnSpcReduction="10000"/>
          </a:bodyPr>
          <a:lstStyle/>
          <a:p>
            <a:r>
              <a:rPr lang="en-GB" dirty="0"/>
              <a:t>Having defined the library strategy, we can now count the number of reads mapped to the H. pylori genome and crossing each annotated gene.</a:t>
            </a:r>
          </a:p>
          <a:p>
            <a:endParaRPr lang="en-GB" dirty="0"/>
          </a:p>
          <a:p>
            <a:r>
              <a:rPr lang="en-GB" dirty="0"/>
              <a:t>This can be done in number of ways here we use </a:t>
            </a:r>
            <a:r>
              <a:rPr lang="en-GB" dirty="0">
                <a:hlinkClick r:id="rId2"/>
              </a:rPr>
              <a:t>featureCouns</a:t>
            </a:r>
            <a:r>
              <a:rPr lang="en-GB" dirty="0"/>
              <a:t>. We can inspect the function with: </a:t>
            </a:r>
          </a:p>
        </p:txBody>
      </p:sp>
      <p:sp>
        <p:nvSpPr>
          <p:cNvPr id="4" name="Date Placeholder 3">
            <a:extLst>
              <a:ext uri="{FF2B5EF4-FFF2-40B4-BE49-F238E27FC236}">
                <a16:creationId xmlns:a16="http://schemas.microsoft.com/office/drawing/2014/main" id="{71F0C14E-4611-01FF-B1AF-1EB0E55CC4EA}"/>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6092627C-C904-3A05-A015-BFF97E83054D}"/>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0F7705ED-4CEE-96E3-6889-E109E715519F}"/>
              </a:ext>
            </a:extLst>
          </p:cNvPr>
          <p:cNvSpPr>
            <a:spLocks noGrp="1"/>
          </p:cNvSpPr>
          <p:nvPr>
            <p:ph type="sldNum" sz="quarter" idx="12"/>
          </p:nvPr>
        </p:nvSpPr>
        <p:spPr/>
        <p:txBody>
          <a:bodyPr/>
          <a:lstStyle/>
          <a:p>
            <a:fld id="{62E92BA6-6E87-3343-8D2C-B7A656D628E4}" type="slidenum">
              <a:rPr lang="en-GB" smtClean="0"/>
              <a:t>18</a:t>
            </a:fld>
            <a:endParaRPr lang="en-GB"/>
          </a:p>
        </p:txBody>
      </p:sp>
      <p:sp>
        <p:nvSpPr>
          <p:cNvPr id="7" name="TextBox 6">
            <a:extLst>
              <a:ext uri="{FF2B5EF4-FFF2-40B4-BE49-F238E27FC236}">
                <a16:creationId xmlns:a16="http://schemas.microsoft.com/office/drawing/2014/main" id="{653CF31A-B651-3F7F-D658-1858A11D3A03}"/>
              </a:ext>
            </a:extLst>
          </p:cNvPr>
          <p:cNvSpPr txBox="1"/>
          <p:nvPr/>
        </p:nvSpPr>
        <p:spPr>
          <a:xfrm>
            <a:off x="551908" y="3429000"/>
            <a:ext cx="4998484" cy="1569660"/>
          </a:xfrm>
          <a:prstGeom prst="rect">
            <a:avLst/>
          </a:prstGeom>
          <a:solidFill>
            <a:schemeClr val="bg1"/>
          </a:solidFill>
          <a:ln>
            <a:solidFill>
              <a:schemeClr val="tx1"/>
            </a:solidFill>
          </a:ln>
        </p:spPr>
        <p:txBody>
          <a:bodyPr wrap="none" rtlCol="0">
            <a:spAutoFit/>
          </a:bodyPr>
          <a:lstStyle/>
          <a:p>
            <a:r>
              <a:rPr lang="en-GB" sz="1600" dirty="0">
                <a:solidFill>
                  <a:schemeClr val="accent3">
                    <a:lumMod val="75000"/>
                  </a:schemeClr>
                </a:solidFill>
                <a:latin typeface="Courier New" panose="02070309020205020404" pitchFamily="49" charset="0"/>
                <a:cs typeface="Courier New" panose="02070309020205020404" pitchFamily="49" charset="0"/>
              </a:rPr>
              <a:t>docker run --rm \</a:t>
            </a:r>
          </a:p>
          <a:p>
            <a:r>
              <a:rPr lang="en-GB" sz="1600" dirty="0">
                <a:solidFill>
                  <a:schemeClr val="accent3">
                    <a:lumMod val="75000"/>
                  </a:schemeClr>
                </a:solidFill>
                <a:latin typeface="Courier New" panose="02070309020205020404" pitchFamily="49" charset="0"/>
                <a:cs typeface="Courier New" panose="02070309020205020404" pitchFamily="49" charset="0"/>
              </a:rPr>
              <a:t>  --user "$(id -u):$(id -g)" \</a:t>
            </a:r>
          </a:p>
          <a:p>
            <a:r>
              <a:rPr lang="en-GB" sz="1600" dirty="0">
                <a:solidFill>
                  <a:schemeClr val="accent3">
                    <a:lumMod val="75000"/>
                  </a:schemeClr>
                </a:solidFill>
                <a:latin typeface="Courier New" panose="02070309020205020404" pitchFamily="49" charset="0"/>
                <a:cs typeface="Courier New" panose="02070309020205020404" pitchFamily="49" charset="0"/>
              </a:rPr>
              <a:t>  -v "$PWD:/work" \</a:t>
            </a:r>
          </a:p>
          <a:p>
            <a:r>
              <a:rPr lang="en-GB" sz="1600" dirty="0">
                <a:solidFill>
                  <a:schemeClr val="accent3">
                    <a:lumMod val="75000"/>
                  </a:schemeClr>
                </a:solidFill>
                <a:latin typeface="Courier New" panose="02070309020205020404" pitchFamily="49" charset="0"/>
                <a:cs typeface="Courier New" panose="02070309020205020404" pitchFamily="49" charset="0"/>
              </a:rPr>
              <a:t>  -w /work -it \</a:t>
            </a:r>
          </a:p>
          <a:p>
            <a:r>
              <a:rPr lang="en-GB" sz="1600" dirty="0">
                <a:solidFill>
                  <a:schemeClr val="accent3">
                    <a:lumMod val="75000"/>
                  </a:schemeClr>
                </a:solidFill>
                <a:latin typeface="Courier New" panose="02070309020205020404" pitchFamily="49" charset="0"/>
                <a:cs typeface="Courier New" panose="02070309020205020404" pitchFamily="49" charset="0"/>
              </a:rPr>
              <a:t>  </a:t>
            </a:r>
            <a:r>
              <a:rPr lang="en-GB" sz="1600" dirty="0" err="1">
                <a:solidFill>
                  <a:schemeClr val="accent3">
                    <a:lumMod val="75000"/>
                  </a:schemeClr>
                </a:solidFill>
                <a:latin typeface="Courier New" panose="02070309020205020404" pitchFamily="49" charset="0"/>
                <a:cs typeface="Courier New" panose="02070309020205020404" pitchFamily="49" charset="0"/>
              </a:rPr>
              <a:t>docker.io</a:t>
            </a:r>
            <a:r>
              <a:rPr lang="en-GB" sz="1600" dirty="0">
                <a:solidFill>
                  <a:schemeClr val="accent3">
                    <a:lumMod val="75000"/>
                  </a:schemeClr>
                </a:solidFill>
                <a:latin typeface="Courier New" panose="02070309020205020404" pitchFamily="49" charset="0"/>
                <a:cs typeface="Courier New" panose="02070309020205020404" pitchFamily="49" charset="0"/>
              </a:rPr>
              <a:t>/</a:t>
            </a:r>
            <a:r>
              <a:rPr lang="en-GB" sz="1600" dirty="0" err="1">
                <a:solidFill>
                  <a:schemeClr val="accent3">
                    <a:lumMod val="75000"/>
                  </a:schemeClr>
                </a:solidFill>
                <a:latin typeface="Courier New" panose="02070309020205020404" pitchFamily="49" charset="0"/>
                <a:cs typeface="Courier New" panose="02070309020205020404" pitchFamily="49" charset="0"/>
              </a:rPr>
              <a:t>fgualdr</a:t>
            </a:r>
            <a:r>
              <a:rPr lang="en-GB" sz="1600" dirty="0">
                <a:solidFill>
                  <a:schemeClr val="accent3">
                    <a:lumMod val="75000"/>
                  </a:schemeClr>
                </a:solidFill>
                <a:latin typeface="Courier New" panose="02070309020205020404" pitchFamily="49" charset="0"/>
                <a:cs typeface="Courier New" panose="02070309020205020404" pitchFamily="49" charset="0"/>
              </a:rPr>
              <a:t>/</a:t>
            </a:r>
            <a:r>
              <a:rPr lang="en-GB" sz="1600" dirty="0" err="1">
                <a:solidFill>
                  <a:schemeClr val="accent3">
                    <a:lumMod val="75000"/>
                  </a:schemeClr>
                </a:solidFill>
                <a:latin typeface="Courier New" panose="02070309020205020404" pitchFamily="49" charset="0"/>
                <a:cs typeface="Courier New" panose="02070309020205020404" pitchFamily="49" charset="0"/>
              </a:rPr>
              <a:t>ngs-featurecounts</a:t>
            </a:r>
            <a:r>
              <a:rPr lang="en-GB" sz="1600" dirty="0">
                <a:solidFill>
                  <a:schemeClr val="accent3">
                    <a:lumMod val="75000"/>
                  </a:schemeClr>
                </a:solidFill>
                <a:latin typeface="Courier New" panose="02070309020205020404" pitchFamily="49" charset="0"/>
                <a:cs typeface="Courier New" panose="02070309020205020404" pitchFamily="49" charset="0"/>
              </a:rPr>
              <a:t> \</a:t>
            </a:r>
          </a:p>
          <a:p>
            <a:r>
              <a:rPr lang="en-GB" sz="1600" dirty="0">
                <a:solidFill>
                  <a:schemeClr val="accent3">
                    <a:lumMod val="75000"/>
                  </a:schemeClr>
                </a:solidFill>
                <a:latin typeface="Courier New" panose="02070309020205020404" pitchFamily="49" charset="0"/>
                <a:cs typeface="Courier New" panose="02070309020205020404" pitchFamily="49" charset="0"/>
              </a:rPr>
              <a:t>  bash</a:t>
            </a:r>
          </a:p>
        </p:txBody>
      </p:sp>
      <p:pic>
        <p:nvPicPr>
          <p:cNvPr id="9" name="Picture 8">
            <a:extLst>
              <a:ext uri="{FF2B5EF4-FFF2-40B4-BE49-F238E27FC236}">
                <a16:creationId xmlns:a16="http://schemas.microsoft.com/office/drawing/2014/main" id="{4C7ED0C9-4A45-08F5-560E-06B0EF5AF651}"/>
              </a:ext>
            </a:extLst>
          </p:cNvPr>
          <p:cNvPicPr>
            <a:picLocks noChangeAspect="1"/>
          </p:cNvPicPr>
          <p:nvPr/>
        </p:nvPicPr>
        <p:blipFill>
          <a:blip r:embed="rId3"/>
          <a:stretch>
            <a:fillRect/>
          </a:stretch>
        </p:blipFill>
        <p:spPr>
          <a:xfrm>
            <a:off x="4670854" y="2820431"/>
            <a:ext cx="7521146" cy="4037569"/>
          </a:xfrm>
          <a:prstGeom prst="rect">
            <a:avLst/>
          </a:prstGeom>
        </p:spPr>
      </p:pic>
    </p:spTree>
    <p:extLst>
      <p:ext uri="{BB962C8B-B14F-4D97-AF65-F5344CB8AC3E}">
        <p14:creationId xmlns:p14="http://schemas.microsoft.com/office/powerpoint/2010/main" val="2994123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52D9582F-442F-4BAB-230D-304DBE927894}"/>
              </a:ext>
            </a:extLst>
          </p:cNvPr>
          <p:cNvPicPr>
            <a:picLocks noGrp="1" noChangeAspect="1"/>
          </p:cNvPicPr>
          <p:nvPr>
            <p:ph idx="1"/>
          </p:nvPr>
        </p:nvPicPr>
        <p:blipFill>
          <a:blip r:embed="rId2"/>
          <a:stretch>
            <a:fillRect/>
          </a:stretch>
        </p:blipFill>
        <p:spPr>
          <a:xfrm>
            <a:off x="185348" y="4411363"/>
            <a:ext cx="5721177" cy="570307"/>
          </a:xfrm>
          <a:prstGeom prst="rect">
            <a:avLst/>
          </a:prstGeom>
        </p:spPr>
      </p:pic>
      <p:sp>
        <p:nvSpPr>
          <p:cNvPr id="4" name="Date Placeholder 3">
            <a:extLst>
              <a:ext uri="{FF2B5EF4-FFF2-40B4-BE49-F238E27FC236}">
                <a16:creationId xmlns:a16="http://schemas.microsoft.com/office/drawing/2014/main" id="{C048F090-B322-1C15-5E79-ECDFB10B1A6A}"/>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1C7F3248-6843-F682-AF08-04268B9A3DC0}"/>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3BB7D9BB-EB7A-781A-07E9-4676908AF24C}"/>
              </a:ext>
            </a:extLst>
          </p:cNvPr>
          <p:cNvSpPr>
            <a:spLocks noGrp="1"/>
          </p:cNvSpPr>
          <p:nvPr>
            <p:ph type="sldNum" sz="quarter" idx="12"/>
          </p:nvPr>
        </p:nvSpPr>
        <p:spPr/>
        <p:txBody>
          <a:bodyPr/>
          <a:lstStyle/>
          <a:p>
            <a:fld id="{62E92BA6-6E87-3343-8D2C-B7A656D628E4}" type="slidenum">
              <a:rPr lang="en-GB" smtClean="0"/>
              <a:t>19</a:t>
            </a:fld>
            <a:endParaRPr lang="en-GB"/>
          </a:p>
        </p:txBody>
      </p:sp>
      <p:sp>
        <p:nvSpPr>
          <p:cNvPr id="9" name="Title 1">
            <a:extLst>
              <a:ext uri="{FF2B5EF4-FFF2-40B4-BE49-F238E27FC236}">
                <a16:creationId xmlns:a16="http://schemas.microsoft.com/office/drawing/2014/main" id="{89EFD23F-4790-91CD-05F7-BD2B06291967}"/>
              </a:ext>
            </a:extLst>
          </p:cNvPr>
          <p:cNvSpPr txBox="1">
            <a:spLocks/>
          </p:cNvSpPr>
          <p:nvPr/>
        </p:nvSpPr>
        <p:spPr>
          <a:xfrm>
            <a:off x="0" y="0"/>
            <a:ext cx="12192000" cy="10145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T" b="1"/>
              <a:t>Count reads per gene with featureCounts</a:t>
            </a:r>
            <a:endParaRPr lang="en-GB" dirty="0"/>
          </a:p>
        </p:txBody>
      </p:sp>
      <p:pic>
        <p:nvPicPr>
          <p:cNvPr id="13" name="Picture 12">
            <a:extLst>
              <a:ext uri="{FF2B5EF4-FFF2-40B4-BE49-F238E27FC236}">
                <a16:creationId xmlns:a16="http://schemas.microsoft.com/office/drawing/2014/main" id="{44B9F822-6F7D-3269-D513-E3392E4F007E}"/>
              </a:ext>
            </a:extLst>
          </p:cNvPr>
          <p:cNvPicPr>
            <a:picLocks noChangeAspect="1"/>
          </p:cNvPicPr>
          <p:nvPr/>
        </p:nvPicPr>
        <p:blipFill>
          <a:blip r:embed="rId3"/>
          <a:stretch>
            <a:fillRect/>
          </a:stretch>
        </p:blipFill>
        <p:spPr>
          <a:xfrm>
            <a:off x="185348" y="3397856"/>
            <a:ext cx="5721178" cy="915751"/>
          </a:xfrm>
          <a:prstGeom prst="rect">
            <a:avLst/>
          </a:prstGeom>
        </p:spPr>
      </p:pic>
      <p:pic>
        <p:nvPicPr>
          <p:cNvPr id="14" name="Picture 13">
            <a:extLst>
              <a:ext uri="{FF2B5EF4-FFF2-40B4-BE49-F238E27FC236}">
                <a16:creationId xmlns:a16="http://schemas.microsoft.com/office/drawing/2014/main" id="{F9CAB434-734F-1B9C-8684-8ADA7CA68328}"/>
              </a:ext>
            </a:extLst>
          </p:cNvPr>
          <p:cNvPicPr>
            <a:picLocks noChangeAspect="1"/>
          </p:cNvPicPr>
          <p:nvPr/>
        </p:nvPicPr>
        <p:blipFill>
          <a:blip r:embed="rId4"/>
          <a:stretch>
            <a:fillRect/>
          </a:stretch>
        </p:blipFill>
        <p:spPr>
          <a:xfrm>
            <a:off x="185347" y="5094495"/>
            <a:ext cx="5721178" cy="539216"/>
          </a:xfrm>
          <a:prstGeom prst="rect">
            <a:avLst/>
          </a:prstGeom>
        </p:spPr>
      </p:pic>
      <p:pic>
        <p:nvPicPr>
          <p:cNvPr id="16" name="Picture 15">
            <a:extLst>
              <a:ext uri="{FF2B5EF4-FFF2-40B4-BE49-F238E27FC236}">
                <a16:creationId xmlns:a16="http://schemas.microsoft.com/office/drawing/2014/main" id="{57BB2041-DF9B-DAA2-3DC8-06BAEFAA3827}"/>
              </a:ext>
            </a:extLst>
          </p:cNvPr>
          <p:cNvPicPr>
            <a:picLocks noChangeAspect="1"/>
          </p:cNvPicPr>
          <p:nvPr/>
        </p:nvPicPr>
        <p:blipFill>
          <a:blip r:embed="rId5"/>
          <a:stretch>
            <a:fillRect/>
          </a:stretch>
        </p:blipFill>
        <p:spPr>
          <a:xfrm>
            <a:off x="6095991" y="4275816"/>
            <a:ext cx="5721178" cy="562143"/>
          </a:xfrm>
          <a:prstGeom prst="rect">
            <a:avLst/>
          </a:prstGeom>
        </p:spPr>
      </p:pic>
      <p:pic>
        <p:nvPicPr>
          <p:cNvPr id="18" name="Picture 17">
            <a:extLst>
              <a:ext uri="{FF2B5EF4-FFF2-40B4-BE49-F238E27FC236}">
                <a16:creationId xmlns:a16="http://schemas.microsoft.com/office/drawing/2014/main" id="{2DF8F5BF-9911-CB30-9208-B46FDD658CAC}"/>
              </a:ext>
            </a:extLst>
          </p:cNvPr>
          <p:cNvPicPr>
            <a:picLocks noChangeAspect="1"/>
          </p:cNvPicPr>
          <p:nvPr/>
        </p:nvPicPr>
        <p:blipFill>
          <a:blip r:embed="rId6"/>
          <a:stretch>
            <a:fillRect/>
          </a:stretch>
        </p:blipFill>
        <p:spPr>
          <a:xfrm>
            <a:off x="6096000" y="1057789"/>
            <a:ext cx="5721178" cy="805924"/>
          </a:xfrm>
          <a:prstGeom prst="rect">
            <a:avLst/>
          </a:prstGeom>
        </p:spPr>
      </p:pic>
      <p:pic>
        <p:nvPicPr>
          <p:cNvPr id="20" name="Picture 19">
            <a:extLst>
              <a:ext uri="{FF2B5EF4-FFF2-40B4-BE49-F238E27FC236}">
                <a16:creationId xmlns:a16="http://schemas.microsoft.com/office/drawing/2014/main" id="{22A1638A-180F-E184-DC23-F8B3CE30791E}"/>
              </a:ext>
            </a:extLst>
          </p:cNvPr>
          <p:cNvPicPr>
            <a:picLocks noChangeAspect="1"/>
          </p:cNvPicPr>
          <p:nvPr/>
        </p:nvPicPr>
        <p:blipFill>
          <a:blip r:embed="rId7"/>
          <a:stretch>
            <a:fillRect/>
          </a:stretch>
        </p:blipFill>
        <p:spPr>
          <a:xfrm>
            <a:off x="6095998" y="1919473"/>
            <a:ext cx="5721178" cy="623635"/>
          </a:xfrm>
          <a:prstGeom prst="rect">
            <a:avLst/>
          </a:prstGeom>
        </p:spPr>
      </p:pic>
      <p:pic>
        <p:nvPicPr>
          <p:cNvPr id="22" name="Picture 21">
            <a:extLst>
              <a:ext uri="{FF2B5EF4-FFF2-40B4-BE49-F238E27FC236}">
                <a16:creationId xmlns:a16="http://schemas.microsoft.com/office/drawing/2014/main" id="{A9A5860F-6B9B-97DA-0007-9C1A1F37E735}"/>
              </a:ext>
            </a:extLst>
          </p:cNvPr>
          <p:cNvPicPr>
            <a:picLocks noChangeAspect="1"/>
          </p:cNvPicPr>
          <p:nvPr/>
        </p:nvPicPr>
        <p:blipFill>
          <a:blip r:embed="rId8"/>
          <a:stretch>
            <a:fillRect/>
          </a:stretch>
        </p:blipFill>
        <p:spPr>
          <a:xfrm>
            <a:off x="6095994" y="2599407"/>
            <a:ext cx="5721178" cy="278424"/>
          </a:xfrm>
          <a:prstGeom prst="rect">
            <a:avLst/>
          </a:prstGeom>
        </p:spPr>
      </p:pic>
      <p:pic>
        <p:nvPicPr>
          <p:cNvPr id="24" name="Picture 23">
            <a:extLst>
              <a:ext uri="{FF2B5EF4-FFF2-40B4-BE49-F238E27FC236}">
                <a16:creationId xmlns:a16="http://schemas.microsoft.com/office/drawing/2014/main" id="{666209D4-64B5-48A7-3098-59013C250E3F}"/>
              </a:ext>
            </a:extLst>
          </p:cNvPr>
          <p:cNvPicPr>
            <a:picLocks noChangeAspect="1"/>
          </p:cNvPicPr>
          <p:nvPr/>
        </p:nvPicPr>
        <p:blipFill>
          <a:blip r:embed="rId9"/>
          <a:stretch>
            <a:fillRect/>
          </a:stretch>
        </p:blipFill>
        <p:spPr>
          <a:xfrm>
            <a:off x="6095991" y="2921080"/>
            <a:ext cx="5721178" cy="546553"/>
          </a:xfrm>
          <a:prstGeom prst="rect">
            <a:avLst/>
          </a:prstGeom>
        </p:spPr>
      </p:pic>
      <p:pic>
        <p:nvPicPr>
          <p:cNvPr id="26" name="Picture 25">
            <a:extLst>
              <a:ext uri="{FF2B5EF4-FFF2-40B4-BE49-F238E27FC236}">
                <a16:creationId xmlns:a16="http://schemas.microsoft.com/office/drawing/2014/main" id="{09511345-5769-F1D2-3451-506EFB95A0EF}"/>
              </a:ext>
            </a:extLst>
          </p:cNvPr>
          <p:cNvPicPr>
            <a:picLocks noChangeAspect="1"/>
          </p:cNvPicPr>
          <p:nvPr/>
        </p:nvPicPr>
        <p:blipFill>
          <a:blip r:embed="rId10"/>
          <a:stretch>
            <a:fillRect/>
          </a:stretch>
        </p:blipFill>
        <p:spPr>
          <a:xfrm>
            <a:off x="185347" y="1057789"/>
            <a:ext cx="5721177" cy="1486605"/>
          </a:xfrm>
          <a:prstGeom prst="rect">
            <a:avLst/>
          </a:prstGeom>
        </p:spPr>
      </p:pic>
    </p:spTree>
    <p:extLst>
      <p:ext uri="{BB962C8B-B14F-4D97-AF65-F5344CB8AC3E}">
        <p14:creationId xmlns:p14="http://schemas.microsoft.com/office/powerpoint/2010/main" val="370119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49DDC00-C560-DC33-0725-817BF5D6EBCD}"/>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1D976027-7554-E6AB-83AA-36C0F1D37461}"/>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F0F29066-F066-405F-44B4-EEF9CA4D11FB}"/>
              </a:ext>
            </a:extLst>
          </p:cNvPr>
          <p:cNvSpPr>
            <a:spLocks noGrp="1"/>
          </p:cNvSpPr>
          <p:nvPr>
            <p:ph type="sldNum" sz="quarter" idx="12"/>
          </p:nvPr>
        </p:nvSpPr>
        <p:spPr/>
        <p:txBody>
          <a:bodyPr/>
          <a:lstStyle/>
          <a:p>
            <a:fld id="{62E92BA6-6E87-3343-8D2C-B7A656D628E4}" type="slidenum">
              <a:rPr lang="en-GB" smtClean="0"/>
              <a:t>20</a:t>
            </a:fld>
            <a:endParaRPr lang="en-GB"/>
          </a:p>
        </p:txBody>
      </p:sp>
      <p:sp>
        <p:nvSpPr>
          <p:cNvPr id="7" name="TextBox 6">
            <a:extLst>
              <a:ext uri="{FF2B5EF4-FFF2-40B4-BE49-F238E27FC236}">
                <a16:creationId xmlns:a16="http://schemas.microsoft.com/office/drawing/2014/main" id="{D7F4D469-44DF-BE23-AC78-5C337677B294}"/>
              </a:ext>
            </a:extLst>
          </p:cNvPr>
          <p:cNvSpPr txBox="1"/>
          <p:nvPr/>
        </p:nvSpPr>
        <p:spPr>
          <a:xfrm>
            <a:off x="563129" y="136525"/>
            <a:ext cx="6950942" cy="6124754"/>
          </a:xfrm>
          <a:prstGeom prst="rect">
            <a:avLst/>
          </a:prstGeom>
          <a:noFill/>
          <a:ln>
            <a:solidFill>
              <a:schemeClr val="tx1"/>
            </a:solidFill>
          </a:ln>
        </p:spPr>
        <p:txBody>
          <a:bodyPr wrap="none" rtlCol="0">
            <a:spAutoFit/>
          </a:bodyPr>
          <a:lstStyle/>
          <a:p>
            <a:r>
              <a:rPr lang="en-GB" sz="1400" dirty="0">
                <a:latin typeface="Courier New" panose="02070309020205020404" pitchFamily="49" charset="0"/>
                <a:cs typeface="Courier New" panose="02070309020205020404" pitchFamily="49" charset="0"/>
              </a:rPr>
              <a:t>#!/</a:t>
            </a:r>
            <a:r>
              <a:rPr lang="en-GB" sz="1400" dirty="0" err="1">
                <a:latin typeface="Courier New" panose="02070309020205020404" pitchFamily="49" charset="0"/>
                <a:cs typeface="Courier New" panose="02070309020205020404" pitchFamily="49" charset="0"/>
              </a:rPr>
              <a:t>usr</a:t>
            </a:r>
            <a:r>
              <a:rPr lang="en-GB" sz="1400" dirty="0">
                <a:latin typeface="Courier New" panose="02070309020205020404" pitchFamily="49" charset="0"/>
                <a:cs typeface="Courier New" panose="02070309020205020404" pitchFamily="49" charset="0"/>
              </a:rPr>
              <a:t>/bin/env bash</a:t>
            </a:r>
          </a:p>
          <a:p>
            <a:r>
              <a:rPr lang="en-GB" sz="1400" dirty="0">
                <a:latin typeface="Courier New" panose="02070309020205020404" pitchFamily="49" charset="0"/>
                <a:cs typeface="Courier New" panose="02070309020205020404" pitchFamily="49" charset="0"/>
              </a:rPr>
              <a:t>set -</a:t>
            </a:r>
            <a:r>
              <a:rPr lang="en-GB" sz="1400" dirty="0" err="1">
                <a:latin typeface="Courier New" panose="02070309020205020404" pitchFamily="49" charset="0"/>
                <a:cs typeface="Courier New" panose="02070309020205020404" pitchFamily="49" charset="0"/>
              </a:rPr>
              <a:t>euo</a:t>
            </a:r>
            <a:r>
              <a:rPr lang="en-GB" sz="1400" dirty="0">
                <a:latin typeface="Courier New" panose="02070309020205020404" pitchFamily="49" charset="0"/>
                <a:cs typeface="Courier New" panose="02070309020205020404" pitchFamily="49" charset="0"/>
              </a:rPr>
              <a:t> </a:t>
            </a:r>
            <a:r>
              <a:rPr lang="en-GB" sz="1400" dirty="0" err="1">
                <a:latin typeface="Courier New" panose="02070309020205020404" pitchFamily="49" charset="0"/>
                <a:cs typeface="Courier New" panose="02070309020205020404" pitchFamily="49" charset="0"/>
              </a:rPr>
              <a:t>pipefail</a:t>
            </a:r>
            <a:endParaRPr lang="en-GB" sz="1400" dirty="0">
              <a:latin typeface="Courier New" panose="02070309020205020404" pitchFamily="49" charset="0"/>
              <a:cs typeface="Courier New" panose="02070309020205020404" pitchFamily="49" charset="0"/>
            </a:endParaRPr>
          </a:p>
          <a:p>
            <a:endParaRPr lang="en-GB" sz="1400" dirty="0">
              <a:latin typeface="Courier New" panose="02070309020205020404" pitchFamily="49" charset="0"/>
              <a:cs typeface="Courier New" panose="02070309020205020404" pitchFamily="49" charset="0"/>
            </a:endParaRPr>
          </a:p>
          <a:p>
            <a:r>
              <a:rPr lang="en-GB" sz="1400" dirty="0">
                <a:latin typeface="Courier New" panose="02070309020205020404" pitchFamily="49" charset="0"/>
                <a:cs typeface="Courier New" panose="02070309020205020404" pitchFamily="49" charset="0"/>
              </a:rPr>
              <a:t>annotation="</a:t>
            </a:r>
            <a:r>
              <a:rPr lang="en-GB" sz="1400" dirty="0" err="1">
                <a:latin typeface="Courier New" panose="02070309020205020404" pitchFamily="49" charset="0"/>
                <a:cs typeface="Courier New" panose="02070309020205020404" pitchFamily="49" charset="0"/>
              </a:rPr>
              <a:t>reference_genome</a:t>
            </a:r>
            <a:r>
              <a:rPr lang="en-GB" sz="1400" dirty="0">
                <a:latin typeface="Courier New" panose="02070309020205020404" pitchFamily="49" charset="0"/>
                <a:cs typeface="Courier New" panose="02070309020205020404" pitchFamily="49" charset="0"/>
              </a:rPr>
              <a:t>/annotation.gff3"</a:t>
            </a:r>
          </a:p>
          <a:p>
            <a:r>
              <a:rPr lang="en-GB" sz="1400" dirty="0" err="1">
                <a:latin typeface="Courier New" panose="02070309020205020404" pitchFamily="49" charset="0"/>
                <a:cs typeface="Courier New" panose="02070309020205020404" pitchFamily="49" charset="0"/>
              </a:rPr>
              <a:t>bam_dir</a:t>
            </a:r>
            <a:r>
              <a:rPr lang="en-GB" sz="1400" dirty="0">
                <a:latin typeface="Courier New" panose="02070309020205020404" pitchFamily="49" charset="0"/>
                <a:cs typeface="Courier New" panose="02070309020205020404" pitchFamily="49" charset="0"/>
              </a:rPr>
              <a:t>="results/day2_rnaseq/bam"</a:t>
            </a:r>
          </a:p>
          <a:p>
            <a:r>
              <a:rPr lang="en-GB" sz="1400" dirty="0" err="1">
                <a:latin typeface="Courier New" panose="02070309020205020404" pitchFamily="49" charset="0"/>
                <a:cs typeface="Courier New" panose="02070309020205020404" pitchFamily="49" charset="0"/>
              </a:rPr>
              <a:t>counts_dir</a:t>
            </a:r>
            <a:r>
              <a:rPr lang="en-GB" sz="1400" dirty="0">
                <a:latin typeface="Courier New" panose="02070309020205020404" pitchFamily="49" charset="0"/>
                <a:cs typeface="Courier New" panose="02070309020205020404" pitchFamily="49" charset="0"/>
              </a:rPr>
              <a:t>="results/day2_rnaseq/counts"</a:t>
            </a:r>
          </a:p>
          <a:p>
            <a:r>
              <a:rPr lang="en-GB" sz="1400" dirty="0" err="1">
                <a:latin typeface="Courier New" panose="02070309020205020404" pitchFamily="49" charset="0"/>
                <a:cs typeface="Courier New" panose="02070309020205020404" pitchFamily="49" charset="0"/>
              </a:rPr>
              <a:t>log_dir</a:t>
            </a:r>
            <a:r>
              <a:rPr lang="en-GB" sz="1400" dirty="0">
                <a:latin typeface="Courier New" panose="02070309020205020404" pitchFamily="49" charset="0"/>
                <a:cs typeface="Courier New" panose="02070309020205020404" pitchFamily="49" charset="0"/>
              </a:rPr>
              <a:t>="results/logs/day2"</a:t>
            </a:r>
          </a:p>
          <a:p>
            <a:r>
              <a:rPr lang="en-GB" sz="1400" dirty="0" err="1">
                <a:latin typeface="Courier New" panose="02070309020205020404" pitchFamily="49" charset="0"/>
                <a:cs typeface="Courier New" panose="02070309020205020404" pitchFamily="49" charset="0"/>
              </a:rPr>
              <a:t>featurecounts_out</a:t>
            </a:r>
            <a:r>
              <a:rPr lang="en-GB" sz="1400" dirty="0">
                <a:latin typeface="Courier New" panose="02070309020205020404" pitchFamily="49" charset="0"/>
                <a:cs typeface="Courier New" panose="02070309020205020404" pitchFamily="49" charset="0"/>
              </a:rPr>
              <a:t>="${</a:t>
            </a:r>
            <a:r>
              <a:rPr lang="en-GB" sz="1400" dirty="0" err="1">
                <a:latin typeface="Courier New" panose="02070309020205020404" pitchFamily="49" charset="0"/>
                <a:cs typeface="Courier New" panose="02070309020205020404" pitchFamily="49" charset="0"/>
              </a:rPr>
              <a:t>counts_dir</a:t>
            </a:r>
            <a:r>
              <a:rPr lang="en-GB" sz="1400" dirty="0">
                <a:latin typeface="Courier New" panose="02070309020205020404" pitchFamily="49" charset="0"/>
                <a:cs typeface="Courier New" panose="02070309020205020404" pitchFamily="49" charset="0"/>
              </a:rPr>
              <a:t>}/</a:t>
            </a:r>
            <a:r>
              <a:rPr lang="en-GB" sz="1400" dirty="0" err="1">
                <a:latin typeface="Courier New" panose="02070309020205020404" pitchFamily="49" charset="0"/>
                <a:cs typeface="Courier New" panose="02070309020205020404" pitchFamily="49" charset="0"/>
              </a:rPr>
              <a:t>featureCounts_all_samples.txt</a:t>
            </a:r>
            <a:r>
              <a:rPr lang="en-GB" sz="1400" dirty="0">
                <a:latin typeface="Courier New" panose="02070309020205020404" pitchFamily="49" charset="0"/>
                <a:cs typeface="Courier New" panose="02070309020205020404" pitchFamily="49" charset="0"/>
              </a:rPr>
              <a:t>"</a:t>
            </a:r>
          </a:p>
          <a:p>
            <a:endParaRPr lang="en-GB" sz="1400" dirty="0">
              <a:latin typeface="Courier New" panose="02070309020205020404" pitchFamily="49" charset="0"/>
              <a:cs typeface="Courier New" panose="02070309020205020404" pitchFamily="49" charset="0"/>
            </a:endParaRPr>
          </a:p>
          <a:p>
            <a:r>
              <a:rPr lang="en-GB" sz="1400" dirty="0" err="1">
                <a:latin typeface="Courier New" panose="02070309020205020404" pitchFamily="49" charset="0"/>
                <a:cs typeface="Courier New" panose="02070309020205020404" pitchFamily="49" charset="0"/>
              </a:rPr>
              <a:t>mkdir</a:t>
            </a:r>
            <a:r>
              <a:rPr lang="en-GB" sz="1400" dirty="0">
                <a:latin typeface="Courier New" panose="02070309020205020404" pitchFamily="49" charset="0"/>
                <a:cs typeface="Courier New" panose="02070309020205020404" pitchFamily="49" charset="0"/>
              </a:rPr>
              <a:t> -p "${</a:t>
            </a:r>
            <a:r>
              <a:rPr lang="en-GB" sz="1400" dirty="0" err="1">
                <a:latin typeface="Courier New" panose="02070309020205020404" pitchFamily="49" charset="0"/>
                <a:cs typeface="Courier New" panose="02070309020205020404" pitchFamily="49" charset="0"/>
              </a:rPr>
              <a:t>counts_dir</a:t>
            </a:r>
            <a:r>
              <a:rPr lang="en-GB" sz="1400" dirty="0">
                <a:latin typeface="Courier New" panose="02070309020205020404" pitchFamily="49" charset="0"/>
                <a:cs typeface="Courier New" panose="02070309020205020404" pitchFamily="49" charset="0"/>
              </a:rPr>
              <a:t>}" "${</a:t>
            </a:r>
            <a:r>
              <a:rPr lang="en-GB" sz="1400" dirty="0" err="1">
                <a:latin typeface="Courier New" panose="02070309020205020404" pitchFamily="49" charset="0"/>
                <a:cs typeface="Courier New" panose="02070309020205020404" pitchFamily="49" charset="0"/>
              </a:rPr>
              <a:t>log_dir</a:t>
            </a:r>
            <a:r>
              <a:rPr lang="en-GB" sz="1400" dirty="0">
                <a:latin typeface="Courier New" panose="02070309020205020404" pitchFamily="49" charset="0"/>
                <a:cs typeface="Courier New" panose="02070309020205020404" pitchFamily="49" charset="0"/>
              </a:rPr>
              <a:t>}"</a:t>
            </a:r>
          </a:p>
          <a:p>
            <a:endParaRPr lang="en-GB" sz="1400" dirty="0">
              <a:latin typeface="Courier New" panose="02070309020205020404" pitchFamily="49" charset="0"/>
              <a:cs typeface="Courier New" panose="02070309020205020404" pitchFamily="49" charset="0"/>
            </a:endParaRPr>
          </a:p>
          <a:p>
            <a:r>
              <a:rPr lang="en-GB" sz="1400" dirty="0" err="1">
                <a:latin typeface="Courier New" panose="02070309020205020404" pitchFamily="49" charset="0"/>
                <a:cs typeface="Courier New" panose="02070309020205020404" pitchFamily="49" charset="0"/>
              </a:rPr>
              <a:t>bam_files</a:t>
            </a:r>
            <a:r>
              <a:rPr lang="en-GB" sz="1400" dirty="0">
                <a:latin typeface="Courier New" panose="02070309020205020404" pitchFamily="49" charset="0"/>
                <a:cs typeface="Courier New" panose="02070309020205020404" pitchFamily="49" charset="0"/>
              </a:rPr>
              <a:t>=("${</a:t>
            </a:r>
            <a:r>
              <a:rPr lang="en-GB" sz="1400" dirty="0" err="1">
                <a:latin typeface="Courier New" panose="02070309020205020404" pitchFamily="49" charset="0"/>
                <a:cs typeface="Courier New" panose="02070309020205020404" pitchFamily="49" charset="0"/>
              </a:rPr>
              <a:t>bam_dir</a:t>
            </a:r>
            <a:r>
              <a:rPr lang="en-GB" sz="1400" dirty="0">
                <a:latin typeface="Courier New" panose="02070309020205020404" pitchFamily="49" charset="0"/>
                <a:cs typeface="Courier New" panose="02070309020205020404" pitchFamily="49" charset="0"/>
              </a:rPr>
              <a:t>}"/*.</a:t>
            </a:r>
            <a:r>
              <a:rPr lang="en-GB" sz="1400" dirty="0" err="1">
                <a:latin typeface="Courier New" panose="02070309020205020404" pitchFamily="49" charset="0"/>
                <a:cs typeface="Courier New" panose="02070309020205020404" pitchFamily="49" charset="0"/>
              </a:rPr>
              <a:t>filtered.bam</a:t>
            </a:r>
            <a:r>
              <a:rPr lang="en-GB" sz="1400" dirty="0">
                <a:latin typeface="Courier New" panose="02070309020205020404" pitchFamily="49" charset="0"/>
                <a:cs typeface="Courier New" panose="02070309020205020404" pitchFamily="49" charset="0"/>
              </a:rPr>
              <a:t>)</a:t>
            </a:r>
          </a:p>
          <a:p>
            <a:endParaRPr lang="en-GB" sz="1400" dirty="0">
              <a:latin typeface="Courier New" panose="02070309020205020404" pitchFamily="49" charset="0"/>
              <a:cs typeface="Courier New" panose="02070309020205020404" pitchFamily="49" charset="0"/>
            </a:endParaRPr>
          </a:p>
          <a:p>
            <a:r>
              <a:rPr lang="en-GB" sz="1400" dirty="0">
                <a:latin typeface="Courier New" panose="02070309020205020404" pitchFamily="49" charset="0"/>
                <a:cs typeface="Courier New" panose="02070309020205020404" pitchFamily="49" charset="0"/>
              </a:rPr>
              <a:t>featureCounts \</a:t>
            </a:r>
          </a:p>
          <a:p>
            <a:r>
              <a:rPr lang="en-GB" sz="1400" dirty="0">
                <a:latin typeface="Courier New" panose="02070309020205020404" pitchFamily="49" charset="0"/>
                <a:cs typeface="Courier New" panose="02070309020205020404" pitchFamily="49" charset="0"/>
              </a:rPr>
              <a:t>  -T 2 \</a:t>
            </a:r>
          </a:p>
          <a:p>
            <a:r>
              <a:rPr lang="en-GB" sz="1400" dirty="0">
                <a:latin typeface="Courier New" panose="02070309020205020404" pitchFamily="49" charset="0"/>
                <a:cs typeface="Courier New" panose="02070309020205020404" pitchFamily="49" charset="0"/>
              </a:rPr>
              <a:t>  -p \</a:t>
            </a:r>
          </a:p>
          <a:p>
            <a:r>
              <a:rPr lang="en-GB" sz="1400" dirty="0">
                <a:latin typeface="Courier New" panose="02070309020205020404" pitchFamily="49" charset="0"/>
                <a:cs typeface="Courier New" panose="02070309020205020404" pitchFamily="49" charset="0"/>
              </a:rPr>
              <a:t>  --</a:t>
            </a:r>
            <a:r>
              <a:rPr lang="en-GB" sz="1400" dirty="0" err="1">
                <a:latin typeface="Courier New" panose="02070309020205020404" pitchFamily="49" charset="0"/>
                <a:cs typeface="Courier New" panose="02070309020205020404" pitchFamily="49" charset="0"/>
              </a:rPr>
              <a:t>countReadPairs</a:t>
            </a:r>
            <a:r>
              <a:rPr lang="en-GB" sz="1400" dirty="0">
                <a:latin typeface="Courier New" panose="02070309020205020404" pitchFamily="49" charset="0"/>
                <a:cs typeface="Courier New" panose="02070309020205020404" pitchFamily="49" charset="0"/>
              </a:rPr>
              <a:t> \</a:t>
            </a:r>
          </a:p>
          <a:p>
            <a:r>
              <a:rPr lang="en-GB" sz="1400" dirty="0">
                <a:latin typeface="Courier New" panose="02070309020205020404" pitchFamily="49" charset="0"/>
                <a:cs typeface="Courier New" panose="02070309020205020404" pitchFamily="49" charset="0"/>
              </a:rPr>
              <a:t>  -B \</a:t>
            </a:r>
          </a:p>
          <a:p>
            <a:r>
              <a:rPr lang="en-GB" sz="1400" dirty="0">
                <a:latin typeface="Courier New" panose="02070309020205020404" pitchFamily="49" charset="0"/>
                <a:cs typeface="Courier New" panose="02070309020205020404" pitchFamily="49" charset="0"/>
              </a:rPr>
              <a:t>  -C \</a:t>
            </a:r>
          </a:p>
          <a:p>
            <a:r>
              <a:rPr lang="en-GB" sz="1400" dirty="0">
                <a:latin typeface="Courier New" panose="02070309020205020404" pitchFamily="49" charset="0"/>
                <a:cs typeface="Courier New" panose="02070309020205020404" pitchFamily="49" charset="0"/>
              </a:rPr>
              <a:t>  -s 1 \</a:t>
            </a:r>
          </a:p>
          <a:p>
            <a:r>
              <a:rPr lang="en-GB" sz="1400" dirty="0">
                <a:latin typeface="Courier New" panose="02070309020205020404" pitchFamily="49" charset="0"/>
                <a:cs typeface="Courier New" panose="02070309020205020404" pitchFamily="49" charset="0"/>
              </a:rPr>
              <a:t>  -t gene \</a:t>
            </a:r>
          </a:p>
          <a:p>
            <a:r>
              <a:rPr lang="en-GB" sz="1400" dirty="0">
                <a:latin typeface="Courier New" panose="02070309020205020404" pitchFamily="49" charset="0"/>
                <a:cs typeface="Courier New" panose="02070309020205020404" pitchFamily="49" charset="0"/>
              </a:rPr>
              <a:t>  -g ID \</a:t>
            </a:r>
          </a:p>
          <a:p>
            <a:r>
              <a:rPr lang="en-GB" sz="1400" dirty="0">
                <a:latin typeface="Courier New" panose="02070309020205020404" pitchFamily="49" charset="0"/>
                <a:cs typeface="Courier New" panose="02070309020205020404" pitchFamily="49" charset="0"/>
              </a:rPr>
              <a:t>  -a "${annotation}" \</a:t>
            </a:r>
          </a:p>
          <a:p>
            <a:r>
              <a:rPr lang="en-GB" sz="1400" dirty="0">
                <a:latin typeface="Courier New" panose="02070309020205020404" pitchFamily="49" charset="0"/>
                <a:cs typeface="Courier New" panose="02070309020205020404" pitchFamily="49" charset="0"/>
              </a:rPr>
              <a:t>  -o "${</a:t>
            </a:r>
            <a:r>
              <a:rPr lang="en-GB" sz="1400" dirty="0" err="1">
                <a:latin typeface="Courier New" panose="02070309020205020404" pitchFamily="49" charset="0"/>
                <a:cs typeface="Courier New" panose="02070309020205020404" pitchFamily="49" charset="0"/>
              </a:rPr>
              <a:t>featurecounts_out</a:t>
            </a:r>
            <a:r>
              <a:rPr lang="en-GB" sz="1400" dirty="0">
                <a:latin typeface="Courier New" panose="02070309020205020404" pitchFamily="49" charset="0"/>
                <a:cs typeface="Courier New" panose="02070309020205020404" pitchFamily="49" charset="0"/>
              </a:rPr>
              <a:t>}" \</a:t>
            </a:r>
          </a:p>
          <a:p>
            <a:r>
              <a:rPr lang="en-GB" sz="1400" dirty="0">
                <a:latin typeface="Courier New" panose="02070309020205020404" pitchFamily="49" charset="0"/>
                <a:cs typeface="Courier New" panose="02070309020205020404" pitchFamily="49" charset="0"/>
              </a:rPr>
              <a:t>  "${</a:t>
            </a:r>
            <a:r>
              <a:rPr lang="en-GB" sz="1400" dirty="0" err="1">
                <a:latin typeface="Courier New" panose="02070309020205020404" pitchFamily="49" charset="0"/>
                <a:cs typeface="Courier New" panose="02070309020205020404" pitchFamily="49" charset="0"/>
              </a:rPr>
              <a:t>bam_files</a:t>
            </a:r>
            <a:r>
              <a:rPr lang="en-GB" sz="1400" dirty="0">
                <a:latin typeface="Courier New" panose="02070309020205020404" pitchFamily="49" charset="0"/>
                <a:cs typeface="Courier New" panose="02070309020205020404" pitchFamily="49" charset="0"/>
              </a:rPr>
              <a:t>[@]}" \</a:t>
            </a:r>
          </a:p>
          <a:p>
            <a:r>
              <a:rPr lang="en-GB" sz="1400" dirty="0">
                <a:latin typeface="Courier New" panose="02070309020205020404" pitchFamily="49" charset="0"/>
                <a:cs typeface="Courier New" panose="02070309020205020404" pitchFamily="49" charset="0"/>
              </a:rPr>
              <a:t>  2&gt;&amp;1 | tee "${</a:t>
            </a:r>
            <a:r>
              <a:rPr lang="en-GB" sz="1400" dirty="0" err="1">
                <a:latin typeface="Courier New" panose="02070309020205020404" pitchFamily="49" charset="0"/>
                <a:cs typeface="Courier New" panose="02070309020205020404" pitchFamily="49" charset="0"/>
              </a:rPr>
              <a:t>log_dir</a:t>
            </a:r>
            <a:r>
              <a:rPr lang="en-GB" sz="1400" dirty="0">
                <a:latin typeface="Courier New" panose="02070309020205020404" pitchFamily="49" charset="0"/>
                <a:cs typeface="Courier New" panose="02070309020205020404" pitchFamily="49" charset="0"/>
              </a:rPr>
              <a:t>}/</a:t>
            </a:r>
            <a:r>
              <a:rPr lang="en-GB" sz="1400" dirty="0" err="1">
                <a:latin typeface="Courier New" panose="02070309020205020404" pitchFamily="49" charset="0"/>
                <a:cs typeface="Courier New" panose="02070309020205020404" pitchFamily="49" charset="0"/>
              </a:rPr>
              <a:t>featureCounts_all_samples.log</a:t>
            </a:r>
            <a:r>
              <a:rPr lang="en-GB" sz="1400" dirty="0">
                <a:latin typeface="Courier New" panose="02070309020205020404" pitchFamily="49" charset="0"/>
                <a:cs typeface="Courier New" panose="02070309020205020404" pitchFamily="49" charset="0"/>
              </a:rPr>
              <a:t>"</a:t>
            </a:r>
          </a:p>
          <a:p>
            <a:endParaRPr lang="en-GB" sz="1400" dirty="0">
              <a:latin typeface="Courier New" panose="02070309020205020404" pitchFamily="49" charset="0"/>
              <a:cs typeface="Courier New" panose="02070309020205020404" pitchFamily="49" charset="0"/>
            </a:endParaRPr>
          </a:p>
          <a:p>
            <a:r>
              <a:rPr lang="en-GB" sz="1400" dirty="0">
                <a:latin typeface="Courier New" panose="02070309020205020404" pitchFamily="49" charset="0"/>
                <a:cs typeface="Courier New" panose="02070309020205020404" pitchFamily="49" charset="0"/>
              </a:rPr>
              <a:t>echo "Wrote ${</a:t>
            </a:r>
            <a:r>
              <a:rPr lang="en-GB" sz="1400" dirty="0" err="1">
                <a:latin typeface="Courier New" panose="02070309020205020404" pitchFamily="49" charset="0"/>
                <a:cs typeface="Courier New" panose="02070309020205020404" pitchFamily="49" charset="0"/>
              </a:rPr>
              <a:t>featurecounts_out</a:t>
            </a:r>
            <a:r>
              <a:rPr lang="en-GB" sz="1400" dirty="0">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D32599A5-6312-32F5-8BB5-80E9214EA746}"/>
              </a:ext>
            </a:extLst>
          </p:cNvPr>
          <p:cNvSpPr txBox="1"/>
          <p:nvPr/>
        </p:nvSpPr>
        <p:spPr>
          <a:xfrm>
            <a:off x="5816944" y="2638335"/>
            <a:ext cx="6098058" cy="2308324"/>
          </a:xfrm>
          <a:prstGeom prst="rect">
            <a:avLst/>
          </a:prstGeom>
          <a:solidFill>
            <a:schemeClr val="bg1"/>
          </a:solidFill>
          <a:ln>
            <a:solidFill>
              <a:schemeClr val="tx1"/>
            </a:solidFill>
          </a:ln>
        </p:spPr>
        <p:txBody>
          <a:bodyPr wrap="square">
            <a:spAutoFit/>
          </a:bodyPr>
          <a:lstStyle/>
          <a:p>
            <a:r>
              <a:rPr lang="en-GB" dirty="0">
                <a:latin typeface="Courier New" panose="02070309020205020404" pitchFamily="49" charset="0"/>
                <a:cs typeface="Courier New" panose="02070309020205020404" pitchFamily="49" charset="0"/>
              </a:rPr>
              <a:t>docker run --rm \</a:t>
            </a:r>
          </a:p>
          <a:p>
            <a:r>
              <a:rPr lang="en-GB" dirty="0">
                <a:latin typeface="Courier New" panose="02070309020205020404" pitchFamily="49" charset="0"/>
                <a:cs typeface="Courier New" panose="02070309020205020404" pitchFamily="49" charset="0"/>
              </a:rPr>
              <a:t>  --user "$(id -u):$(id -g)" \</a:t>
            </a:r>
          </a:p>
          <a:p>
            <a:r>
              <a:rPr lang="en-GB" dirty="0">
                <a:latin typeface="Courier New" panose="02070309020205020404" pitchFamily="49" charset="0"/>
                <a:cs typeface="Courier New" panose="02070309020205020404" pitchFamily="49" charset="0"/>
              </a:rPr>
              <a:t>  -v "$PWD:/work" \</a:t>
            </a:r>
          </a:p>
          <a:p>
            <a:r>
              <a:rPr lang="en-GB" dirty="0">
                <a:latin typeface="Courier New" panose="02070309020205020404" pitchFamily="49" charset="0"/>
                <a:cs typeface="Courier New" panose="02070309020205020404" pitchFamily="49" charset="0"/>
              </a:rPr>
              <a:t>  -w /work \</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docker.io</a:t>
            </a:r>
            <a:r>
              <a:rPr lang="en-GB" dirty="0">
                <a:latin typeface="Courier New" panose="02070309020205020404" pitchFamily="49" charset="0"/>
                <a:cs typeface="Courier New" panose="02070309020205020404" pitchFamily="49" charset="0"/>
              </a:rPr>
              <a:t>/</a:t>
            </a:r>
            <a:r>
              <a:rPr lang="en-GB" dirty="0" err="1">
                <a:latin typeface="Courier New" panose="02070309020205020404" pitchFamily="49" charset="0"/>
                <a:cs typeface="Courier New" panose="02070309020205020404" pitchFamily="49" charset="0"/>
              </a:rPr>
              <a:t>fgualdr</a:t>
            </a:r>
            <a:r>
              <a:rPr lang="en-GB" dirty="0">
                <a:latin typeface="Courier New" panose="02070309020205020404" pitchFamily="49" charset="0"/>
                <a:cs typeface="Courier New" panose="02070309020205020404" pitchFamily="49" charset="0"/>
              </a:rPr>
              <a:t>/</a:t>
            </a:r>
            <a:r>
              <a:rPr lang="en-GB" dirty="0" err="1">
                <a:latin typeface="Courier New" panose="02070309020205020404" pitchFamily="49" charset="0"/>
                <a:cs typeface="Courier New" panose="02070309020205020404" pitchFamily="49" charset="0"/>
              </a:rPr>
              <a:t>ngs-featurecounts</a:t>
            </a:r>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bash scripts/day2_rnaseq/03_featurecounts_all_samples.sh</a:t>
            </a:r>
          </a:p>
        </p:txBody>
      </p:sp>
      <p:sp>
        <p:nvSpPr>
          <p:cNvPr id="10" name="TextBox 9">
            <a:extLst>
              <a:ext uri="{FF2B5EF4-FFF2-40B4-BE49-F238E27FC236}">
                <a16:creationId xmlns:a16="http://schemas.microsoft.com/office/drawing/2014/main" id="{F3747308-1689-11CE-7F36-BCABE9D34D71}"/>
              </a:ext>
            </a:extLst>
          </p:cNvPr>
          <p:cNvSpPr txBox="1"/>
          <p:nvPr/>
        </p:nvSpPr>
        <p:spPr>
          <a:xfrm>
            <a:off x="10256108" y="2269003"/>
            <a:ext cx="1560684" cy="369332"/>
          </a:xfrm>
          <a:prstGeom prst="rect">
            <a:avLst/>
          </a:prstGeom>
          <a:noFill/>
        </p:spPr>
        <p:txBody>
          <a:bodyPr wrap="none" rtlCol="0">
            <a:spAutoFit/>
          </a:bodyPr>
          <a:lstStyle/>
          <a:p>
            <a:r>
              <a:rPr lang="en-GB" dirty="0"/>
              <a:t>In the Terminal</a:t>
            </a:r>
          </a:p>
        </p:txBody>
      </p:sp>
    </p:spTree>
    <p:extLst>
      <p:ext uri="{BB962C8B-B14F-4D97-AF65-F5344CB8AC3E}">
        <p14:creationId xmlns:p14="http://schemas.microsoft.com/office/powerpoint/2010/main" val="131856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05579-1E8F-8C32-A3AF-DCE989AB5F22}"/>
              </a:ext>
            </a:extLst>
          </p:cNvPr>
          <p:cNvSpPr>
            <a:spLocks noGrp="1"/>
          </p:cNvSpPr>
          <p:nvPr>
            <p:ph type="title"/>
          </p:nvPr>
        </p:nvSpPr>
        <p:spPr/>
        <p:txBody>
          <a:bodyPr>
            <a:normAutofit fontScale="90000"/>
          </a:bodyPr>
          <a:lstStyle/>
          <a:p>
            <a:r>
              <a:rPr lang="en-GB" dirty="0"/>
              <a:t>Differential expression analysis in R</a:t>
            </a:r>
          </a:p>
        </p:txBody>
      </p:sp>
      <p:sp>
        <p:nvSpPr>
          <p:cNvPr id="3" name="Content Placeholder 2">
            <a:extLst>
              <a:ext uri="{FF2B5EF4-FFF2-40B4-BE49-F238E27FC236}">
                <a16:creationId xmlns:a16="http://schemas.microsoft.com/office/drawing/2014/main" id="{4A9C1D46-A782-9934-F9BA-AF9AC536F45D}"/>
              </a:ext>
            </a:extLst>
          </p:cNvPr>
          <p:cNvSpPr>
            <a:spLocks noGrp="1"/>
          </p:cNvSpPr>
          <p:nvPr>
            <p:ph idx="1"/>
          </p:nvPr>
        </p:nvSpPr>
        <p:spPr>
          <a:xfrm>
            <a:off x="398929" y="956048"/>
            <a:ext cx="11192435" cy="519627"/>
          </a:xfrm>
        </p:spPr>
        <p:txBody>
          <a:bodyPr/>
          <a:lstStyle/>
          <a:p>
            <a:pPr marL="0" indent="0">
              <a:buNone/>
            </a:pPr>
            <a:r>
              <a:rPr lang="en-IT" dirty="0"/>
              <a:t>Aim: Differential expression: effect size relative to biological variability</a:t>
            </a:r>
            <a:endParaRPr lang="en-GB" dirty="0"/>
          </a:p>
        </p:txBody>
      </p:sp>
      <p:sp>
        <p:nvSpPr>
          <p:cNvPr id="4" name="Date Placeholder 3">
            <a:extLst>
              <a:ext uri="{FF2B5EF4-FFF2-40B4-BE49-F238E27FC236}">
                <a16:creationId xmlns:a16="http://schemas.microsoft.com/office/drawing/2014/main" id="{86DAAD02-756F-83F3-9145-A8E7E521712F}"/>
              </a:ext>
            </a:extLst>
          </p:cNvPr>
          <p:cNvSpPr>
            <a:spLocks noGrp="1"/>
          </p:cNvSpPr>
          <p:nvPr>
            <p:ph type="dt" sz="half" idx="10"/>
          </p:nvPr>
        </p:nvSpPr>
        <p:spPr/>
        <p:txBody>
          <a:bodyPr/>
          <a:lstStyle/>
          <a:p>
            <a:fld id="{761DFEEA-1162-B343-ACBF-B3E92F6AC390}" type="datetime1">
              <a:rPr lang="it-IT" smtClean="0"/>
              <a:t>23/09/26</a:t>
            </a:fld>
            <a:endParaRPr lang="en-GB"/>
          </a:p>
        </p:txBody>
      </p:sp>
      <p:sp>
        <p:nvSpPr>
          <p:cNvPr id="5" name="Footer Placeholder 4">
            <a:extLst>
              <a:ext uri="{FF2B5EF4-FFF2-40B4-BE49-F238E27FC236}">
                <a16:creationId xmlns:a16="http://schemas.microsoft.com/office/drawing/2014/main" id="{0BAB63F7-5057-5628-8E75-3961DE590D60}"/>
              </a:ext>
            </a:extLst>
          </p:cNvPr>
          <p:cNvSpPr>
            <a:spLocks noGrp="1"/>
          </p:cNvSpPr>
          <p:nvPr>
            <p:ph type="ftr" sz="quarter" idx="11"/>
          </p:nvPr>
        </p:nvSpPr>
        <p:spPr/>
        <p:txBody>
          <a:bodyPr/>
          <a:lstStyle/>
          <a:p>
            <a:r>
              <a:rPr lang="en-GB"/>
              <a:t>Day 1: Reproducible NGS Data Analysis on Personal Laptops</a:t>
            </a:r>
          </a:p>
        </p:txBody>
      </p:sp>
      <p:sp>
        <p:nvSpPr>
          <p:cNvPr id="6" name="Slide Number Placeholder 5">
            <a:extLst>
              <a:ext uri="{FF2B5EF4-FFF2-40B4-BE49-F238E27FC236}">
                <a16:creationId xmlns:a16="http://schemas.microsoft.com/office/drawing/2014/main" id="{0F2F53A8-D8AC-12FA-97B3-1E61A4741069}"/>
              </a:ext>
            </a:extLst>
          </p:cNvPr>
          <p:cNvSpPr>
            <a:spLocks noGrp="1"/>
          </p:cNvSpPr>
          <p:nvPr>
            <p:ph type="sldNum" sz="quarter" idx="12"/>
          </p:nvPr>
        </p:nvSpPr>
        <p:spPr/>
        <p:txBody>
          <a:bodyPr/>
          <a:lstStyle/>
          <a:p>
            <a:fld id="{62E92BA6-6E87-3343-8D2C-B7A656D628E4}" type="slidenum">
              <a:rPr lang="en-GB" smtClean="0"/>
              <a:t>21</a:t>
            </a:fld>
            <a:endParaRPr lang="en-GB"/>
          </a:p>
        </p:txBody>
      </p:sp>
    </p:spTree>
    <p:extLst>
      <p:ext uri="{BB962C8B-B14F-4D97-AF65-F5344CB8AC3E}">
        <p14:creationId xmlns:p14="http://schemas.microsoft.com/office/powerpoint/2010/main" val="775283965"/>
      </p:ext>
    </p:extLst>
  </p:cSld>
  <p:clrMapOvr>
    <a:masterClrMapping/>
  </p:clrMapOvr>
</p:sld>
</file>

<file path=ppt/theme/theme1.xml><?xml version="1.0" encoding="utf-8"?>
<a:theme xmlns:a="http://schemas.openxmlformats.org/drawingml/2006/main" name="Office 2013 - 2022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783</TotalTime>
  <Words>4112</Words>
  <Application>Microsoft Macintosh PowerPoint</Application>
  <PresentationFormat>Widescreen</PresentationFormat>
  <Paragraphs>416</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Courier New</vt:lpstr>
      <vt:lpstr>Gill Sans MT</vt:lpstr>
      <vt:lpstr>Wingdings</vt:lpstr>
      <vt:lpstr>Office 2013 - 2022 Theme</vt:lpstr>
      <vt:lpstr>Reproducible NGS Data Analysis on Personal Laptops</vt:lpstr>
      <vt:lpstr>PowerPoint Presentation</vt:lpstr>
      <vt:lpstr>Turn sequencing reads into quantitative gene-expression measurements</vt:lpstr>
      <vt:lpstr>Day 2 starts exactly where Day 1 finished</vt:lpstr>
      <vt:lpstr>PowerPoint Presentation</vt:lpstr>
      <vt:lpstr>Reference-based RNA-seq FASTQ mapping </vt:lpstr>
      <vt:lpstr>Several aligner serve different purposes:</vt:lpstr>
      <vt:lpstr>Aligners..</vt:lpstr>
      <vt:lpstr>Indexing</vt:lpstr>
      <vt:lpstr>Mapping sorting indexing filtering!</vt:lpstr>
      <vt:lpstr>PowerPoint Presentation</vt:lpstr>
      <vt:lpstr>SAM/BAM format</vt:lpstr>
      <vt:lpstr>SAM/BAM format</vt:lpstr>
      <vt:lpstr>SAM/BAM format</vt:lpstr>
      <vt:lpstr>SAM/BAM format</vt:lpstr>
      <vt:lpstr>SAM/BAM format</vt:lpstr>
      <vt:lpstr>Before counting.. Strandedness should come from library provenance—and can be checked empirically</vt:lpstr>
      <vt:lpstr>Metadata first, empirical validation when necessary</vt:lpstr>
      <vt:lpstr>Count reads per gene with featureCounts</vt:lpstr>
      <vt:lpstr>PowerPoint Presentation</vt:lpstr>
      <vt:lpstr>PowerPoint Presentation</vt:lpstr>
      <vt:lpstr>Differential expression analysis in 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Gualdrini Francesco</dc:creator>
  <cp:lastModifiedBy>Gualdrini Francesco</cp:lastModifiedBy>
  <cp:revision>193</cp:revision>
  <dcterms:created xsi:type="dcterms:W3CDTF">2026-09-11T06:59:50Z</dcterms:created>
  <dcterms:modified xsi:type="dcterms:W3CDTF">2026-09-23T11:48:58Z</dcterms:modified>
</cp:coreProperties>
</file>