
<file path=[Content_Types].xml><?xml version="1.0" encoding="utf-8"?>
<Types xmlns="http://schemas.openxmlformats.org/package/2006/content-types">
  <Default Extension="jpeg" ContentType="image/jpeg"/>
  <Default Extension="org&amp;utm_campaign=parser&amp;utm_content=thumbnail" ContentType="image/pn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 autoCompressPictures="0">
  <p:sldMasterIdLst>
    <p:sldMasterId id="2147483684" r:id="rId1"/>
  </p:sldMasterIdLst>
  <p:notesMasterIdLst>
    <p:notesMasterId r:id="rId32"/>
  </p:notesMasterIdLst>
  <p:sldIdLst>
    <p:sldId id="256" r:id="rId2"/>
    <p:sldId id="289" r:id="rId3"/>
    <p:sldId id="290" r:id="rId4"/>
    <p:sldId id="291" r:id="rId5"/>
    <p:sldId id="292" r:id="rId6"/>
    <p:sldId id="293" r:id="rId7"/>
    <p:sldId id="294" r:id="rId8"/>
    <p:sldId id="295" r:id="rId9"/>
    <p:sldId id="296" r:id="rId10"/>
    <p:sldId id="297" r:id="rId11"/>
    <p:sldId id="298" r:id="rId12"/>
    <p:sldId id="299" r:id="rId13"/>
    <p:sldId id="301" r:id="rId14"/>
    <p:sldId id="302" r:id="rId15"/>
    <p:sldId id="303" r:id="rId16"/>
    <p:sldId id="300" r:id="rId17"/>
    <p:sldId id="304" r:id="rId18"/>
    <p:sldId id="305" r:id="rId19"/>
    <p:sldId id="306" r:id="rId20"/>
    <p:sldId id="307" r:id="rId21"/>
    <p:sldId id="308" r:id="rId22"/>
    <p:sldId id="309" r:id="rId23"/>
    <p:sldId id="310" r:id="rId24"/>
    <p:sldId id="316" r:id="rId25"/>
    <p:sldId id="312" r:id="rId26"/>
    <p:sldId id="317" r:id="rId27"/>
    <p:sldId id="318" r:id="rId28"/>
    <p:sldId id="313" r:id="rId29"/>
    <p:sldId id="314" r:id="rId30"/>
    <p:sldId id="315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72A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66"/>
    <p:restoredTop sz="94560"/>
  </p:normalViewPr>
  <p:slideViewPr>
    <p:cSldViewPr snapToGrid="0">
      <p:cViewPr varScale="1">
        <p:scale>
          <a:sx n="127" d="100"/>
          <a:sy n="127" d="100"/>
        </p:scale>
        <p:origin x="20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06BF8C-4158-F342-8216-E1A8A29CF1BB}" type="datetimeFigureOut">
              <a:rPr lang="en-GB" smtClean="0"/>
              <a:t>25/09/2026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D5500A-D261-DC43-897E-19B59BA221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4885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96E4B-6C64-E643-9A0A-AB5E13C2F5FA}" type="datetime1">
              <a:rPr lang="it-IT" smtClean="0"/>
              <a:t>25/09/26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68936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25/09/26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43337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9ECE03-5904-2640-B404-A3FEAB598526}" type="datetime1">
              <a:rPr lang="it-IT" smtClean="0"/>
              <a:t>25/09/26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4360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AE46A-96B1-BD4E-91A6-BD8913D3E1E1}" type="datetime1">
              <a:rPr lang="it-IT" smtClean="0"/>
              <a:t>25/09/26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1284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CEE35-98CA-3449-A912-39DDE1219E25}" type="datetime1">
              <a:rPr lang="it-IT" smtClean="0"/>
              <a:t>25/09/26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45442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53B74D-CC1D-D544-8CB0-DB12C3D1744A}" type="datetime1">
              <a:rPr lang="it-IT" smtClean="0"/>
              <a:t>25/09/26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34751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8775-032D-C849-B9B0-C1D11ED802C1}" type="datetime1">
              <a:rPr lang="it-IT" smtClean="0"/>
              <a:t>25/09/26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248393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DD5ADB-7CE0-804E-9C85-40A519507F1A}" type="datetime1">
              <a:rPr lang="it-IT" smtClean="0"/>
              <a:t>25/09/26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51614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4C8A3-CA6B-DB4B-8A18-5294010BD3CB}" type="datetime1">
              <a:rPr lang="it-IT" smtClean="0"/>
              <a:t>25/09/26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00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B09858-3BFB-DA41-A1A7-0A2A32E9793F}" type="datetime1">
              <a:rPr lang="it-IT" smtClean="0"/>
              <a:t>25/09/26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89003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58458F-C659-9242-908F-36A06BB8B093}" type="datetime1">
              <a:rPr lang="it-IT" smtClean="0"/>
              <a:t>25/09/26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20177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4470" y="122282"/>
            <a:ext cx="12192000" cy="5196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8929" y="956048"/>
            <a:ext cx="11192435" cy="50861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A1503F-4B7A-6348-924A-FFD23680AA8F}" type="datetime1">
              <a:rPr lang="it-IT" smtClean="0"/>
              <a:t>25/09/26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21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broadinstitute.github.io/picard/explain-flags.html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rseqc.sourceforge.net/" TargetMode="External"/><Relationship Id="rId2" Type="http://schemas.openxmlformats.org/officeDocument/2006/relationships/hyperlink" Target="https://rseqc.sourceforge.net/#infer-experiment-py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hyperlink" Target="https://genome.ucsc.edu/FAQ/FAQformat.html#format1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subread.sourceforge.net/featureCounts.html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10.1186/s13059-014-0550-8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org&amp;utm_campaign=parser&amp;utm_content=thumbnai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hyperlink" Target="https://deeptools.readthedocs.io/en/develop/content/tools/bamCoverage.html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seqera.io/multiqc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92747-DC33-217F-1565-FF97054DED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T" dirty="0"/>
              <a:t>Reproducible NGS Data Analysis on Personal Laptops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0FE03A-9F62-3B7F-B9C2-05F885B639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AD085-7898-BE4F-A67D-B59B606A6206}" type="datetime1">
              <a:rPr lang="it-IT" smtClean="0"/>
              <a:t>25/09/26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89AE5A-44AD-824B-FEE4-42D719C28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88CCC8-4672-8B3D-3D7A-7B9695FBD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70009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9AD8DE-34F1-B6C8-6DB4-8A51721F1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8929" y="956048"/>
            <a:ext cx="11192435" cy="2977999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GB" sz="4800" dirty="0"/>
              <a:t>DAY 02</a:t>
            </a:r>
          </a:p>
          <a:p>
            <a:pPr marL="0" indent="0" algn="ctr">
              <a:buNone/>
            </a:pPr>
            <a:endParaRPr lang="en-GB" sz="4800" dirty="0"/>
          </a:p>
          <a:p>
            <a:pPr marL="0" indent="0" algn="ctr">
              <a:buNone/>
            </a:pPr>
            <a:r>
              <a:rPr lang="en-IT" sz="4800" dirty="0"/>
              <a:t>RNA-seq: from FASTQ to differential expression</a:t>
            </a:r>
            <a:endParaRPr lang="en-GB" sz="4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A88FE0-0E6C-AA8E-E01E-FF55BEC0AD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25/09/26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4D4A82-CBA4-6A08-3BEB-B236992F39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A036FD-A9A0-FFF6-C5E7-ACE8589DF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1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80F8E4-4303-06E8-9759-0526BD92377F}"/>
              </a:ext>
            </a:extLst>
          </p:cNvPr>
          <p:cNvSpPr txBox="1"/>
          <p:nvPr/>
        </p:nvSpPr>
        <p:spPr>
          <a:xfrm>
            <a:off x="116958" y="5009063"/>
            <a:ext cx="119136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400" i="1" dirty="0">
                <a:solidFill>
                  <a:schemeClr val="bg1">
                    <a:lumMod val="50000"/>
                  </a:schemeClr>
                </a:solidFill>
              </a:rPr>
              <a:t>trimmed FASTQ → alignment → BAM → gene counts → DEGs:DESeq2 → biological interpretation</a:t>
            </a:r>
          </a:p>
        </p:txBody>
      </p:sp>
    </p:spTree>
    <p:extLst>
      <p:ext uri="{BB962C8B-B14F-4D97-AF65-F5344CB8AC3E}">
        <p14:creationId xmlns:p14="http://schemas.microsoft.com/office/powerpoint/2010/main" val="2970877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6620B-3376-C862-2439-E316A5D33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470" y="122282"/>
            <a:ext cx="12192000" cy="551051"/>
          </a:xfrm>
        </p:spPr>
        <p:txBody>
          <a:bodyPr>
            <a:normAutofit/>
          </a:bodyPr>
          <a:lstStyle/>
          <a:p>
            <a:r>
              <a:rPr lang="en-IT" sz="3200" dirty="0"/>
              <a:t>Turn sequencing reads into quantitative gene-expression measurements</a:t>
            </a:r>
            <a:endParaRPr lang="en-GB" sz="32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EC021D-1E51-0250-BC6E-B1F4131904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25/09/26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FF8598-0DAD-D6FA-B9D7-81EEE2EDF2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937693-6B34-85B5-2547-67AF60CB1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2</a:t>
            </a:fld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C6E56C-7DCC-13A8-349C-7C04D15018DE}"/>
              </a:ext>
            </a:extLst>
          </p:cNvPr>
          <p:cNvSpPr txBox="1"/>
          <p:nvPr/>
        </p:nvSpPr>
        <p:spPr>
          <a:xfrm>
            <a:off x="155735" y="1522297"/>
            <a:ext cx="2358653" cy="32932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────────────────</a:t>
            </a:r>
          </a:p>
          <a:p>
            <a:pPr algn="ctr"/>
            <a:r>
              <a:rPr lang="en-GB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DAY 1</a:t>
            </a:r>
          </a:p>
          <a:p>
            <a:pPr algn="ctr"/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────────────────</a:t>
            </a:r>
          </a:p>
          <a:p>
            <a:pPr algn="ctr"/>
            <a:endParaRPr lang="en-GB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reference genome</a:t>
            </a:r>
          </a:p>
          <a:p>
            <a:pPr algn="ctr"/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</a:p>
          <a:p>
            <a:pPr algn="ctr"/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gene annotation</a:t>
            </a:r>
          </a:p>
          <a:p>
            <a:pPr algn="ctr"/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</a:p>
          <a:p>
            <a:pPr algn="ctr"/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Trimmed</a:t>
            </a:r>
          </a:p>
          <a:p>
            <a:pPr algn="ctr"/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paired-end FASTQ</a:t>
            </a:r>
          </a:p>
          <a:p>
            <a:pPr algn="ctr"/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algn="ctr"/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▼</a:t>
            </a:r>
          </a:p>
          <a:p>
            <a:pPr algn="ctr"/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……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63BD45-E827-2008-7389-A7DA900AA727}"/>
              </a:ext>
            </a:extLst>
          </p:cNvPr>
          <p:cNvSpPr txBox="1"/>
          <p:nvPr/>
        </p:nvSpPr>
        <p:spPr>
          <a:xfrm>
            <a:off x="2709534" y="863079"/>
            <a:ext cx="2840661" cy="50167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────────────────</a:t>
            </a:r>
          </a:p>
          <a:p>
            <a:pPr algn="ctr"/>
            <a:r>
              <a:rPr lang="en-GB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DAY 2</a:t>
            </a:r>
          </a:p>
          <a:p>
            <a:pPr algn="ctr"/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────────────────</a:t>
            </a:r>
          </a:p>
          <a:p>
            <a:pPr algn="ctr"/>
            <a:endParaRPr lang="en-GB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reference indexing</a:t>
            </a:r>
          </a:p>
          <a:p>
            <a:pPr algn="ctr"/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↓</a:t>
            </a:r>
          </a:p>
          <a:p>
            <a:pPr algn="ctr"/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 alignment</a:t>
            </a:r>
          </a:p>
          <a:p>
            <a:pPr algn="ctr"/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↓</a:t>
            </a:r>
          </a:p>
          <a:p>
            <a:pPr algn="ctr"/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sorted / filtered BAM</a:t>
            </a:r>
          </a:p>
          <a:p>
            <a:pPr algn="ctr"/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↓</a:t>
            </a:r>
          </a:p>
          <a:p>
            <a:pPr algn="ctr"/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library 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strandedness</a:t>
            </a:r>
            <a:endParaRPr lang="en-GB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↓</a:t>
            </a:r>
          </a:p>
          <a:p>
            <a:pPr algn="ctr"/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gene assignment</a:t>
            </a:r>
          </a:p>
          <a:p>
            <a:pPr algn="ctr"/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↓</a:t>
            </a:r>
          </a:p>
          <a:p>
            <a:pPr algn="ctr"/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RAW COUNT MATRIX</a:t>
            </a:r>
          </a:p>
          <a:p>
            <a:pPr algn="ctr"/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↓</a:t>
            </a:r>
          </a:p>
          <a:p>
            <a:pPr algn="ctr"/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DESeq2</a:t>
            </a:r>
          </a:p>
          <a:p>
            <a:pPr algn="ctr"/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↓</a:t>
            </a:r>
          </a:p>
          <a:p>
            <a:pPr algn="ctr"/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differential expression</a:t>
            </a:r>
            <a:endParaRPr lang="en-GB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AB6529-69B7-6DFA-9055-B6A94FB43448}"/>
              </a:ext>
            </a:extLst>
          </p:cNvPr>
          <p:cNvSpPr txBox="1"/>
          <p:nvPr/>
        </p:nvSpPr>
        <p:spPr>
          <a:xfrm>
            <a:off x="5550195" y="1353706"/>
            <a:ext cx="6641804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T" sz="2400" dirty="0">
                <a:solidFill>
                  <a:schemeClr val="accent1">
                    <a:lumMod val="75000"/>
                  </a:schemeClr>
                </a:solidFill>
              </a:rPr>
              <a:t>Today we will connect three distinct levels:</a:t>
            </a:r>
          </a:p>
          <a:p>
            <a:pPr algn="ctr"/>
            <a:endParaRPr lang="en-IT" sz="2400" dirty="0"/>
          </a:p>
          <a:p>
            <a:pPr algn="ctr"/>
            <a:r>
              <a:rPr lang="en-IT" sz="2400" dirty="0"/>
              <a:t>Sequence level	</a:t>
            </a:r>
            <a:r>
              <a:rPr lang="en-GB" sz="2400" i="1" dirty="0">
                <a:solidFill>
                  <a:schemeClr val="bg1">
                    <a:lumMod val="50000"/>
                  </a:schemeClr>
                </a:solidFill>
              </a:rPr>
              <a:t>→ </a:t>
            </a:r>
            <a:r>
              <a:rPr lang="en-IT" sz="2400" dirty="0"/>
              <a:t>Where does each read pair map?</a:t>
            </a:r>
          </a:p>
          <a:p>
            <a:pPr algn="ctr"/>
            <a:endParaRPr lang="en-IT" sz="2400" dirty="0"/>
          </a:p>
          <a:p>
            <a:pPr algn="ctr"/>
            <a:r>
              <a:rPr lang="en-IT" sz="2400" dirty="0"/>
              <a:t>Feature level	</a:t>
            </a:r>
            <a:r>
              <a:rPr lang="en-GB" sz="2400" i="1" dirty="0">
                <a:solidFill>
                  <a:schemeClr val="bg1">
                    <a:lumMod val="50000"/>
                  </a:schemeClr>
                </a:solidFill>
              </a:rPr>
              <a:t>→ </a:t>
            </a:r>
            <a:r>
              <a:rPr lang="en-IT" sz="2400" dirty="0"/>
              <a:t>Which annotated gene generated each fragment?</a:t>
            </a:r>
          </a:p>
          <a:p>
            <a:pPr algn="ctr"/>
            <a:endParaRPr lang="en-IT" sz="2400" dirty="0"/>
          </a:p>
          <a:p>
            <a:pPr algn="ctr"/>
            <a:r>
              <a:rPr lang="en-IT" sz="2400" dirty="0"/>
              <a:t>Statistical level	</a:t>
            </a:r>
            <a:r>
              <a:rPr lang="en-GB" sz="2400" i="1" dirty="0">
                <a:solidFill>
                  <a:schemeClr val="bg1">
                    <a:lumMod val="50000"/>
                  </a:schemeClr>
                </a:solidFill>
              </a:rPr>
              <a:t> → </a:t>
            </a:r>
            <a:r>
              <a:rPr lang="en-IT" sz="2400" dirty="0"/>
              <a:t>Is the observed difference between conditions larger than expected from biological variability?</a:t>
            </a:r>
          </a:p>
        </p:txBody>
      </p:sp>
    </p:spTree>
    <p:extLst>
      <p:ext uri="{BB962C8B-B14F-4D97-AF65-F5344CB8AC3E}">
        <p14:creationId xmlns:p14="http://schemas.microsoft.com/office/powerpoint/2010/main" val="1299438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5F150-A7E2-A54C-B66D-BA71FAD06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T" dirty="0"/>
              <a:t>Day 2 starts exactly where Day 1 finished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C58776-5988-1CAE-B585-46BC939CB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25/09/26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8755A3-D791-6A4E-A92C-1CF514BBB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FD714D-DEE1-5087-98EC-7F9BC79BA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3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A24A80-97E5-C8D5-4E7D-BC326B99E313}"/>
              </a:ext>
            </a:extLst>
          </p:cNvPr>
          <p:cNvSpPr txBox="1"/>
          <p:nvPr/>
        </p:nvSpPr>
        <p:spPr>
          <a:xfrm>
            <a:off x="42582" y="868045"/>
            <a:ext cx="1199092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1600" b="1" dirty="0">
                <a:solidFill>
                  <a:schemeClr val="accent1">
                    <a:lumMod val="75000"/>
                  </a:schemeClr>
                </a:solidFill>
                <a:latin typeface="+mj-lt"/>
                <a:cs typeface="Courier New" panose="02070309020205020404" pitchFamily="49" charset="0"/>
              </a:rPr>
              <a:t>Open </a:t>
            </a:r>
            <a:r>
              <a:rPr lang="en-GB" sz="1600" b="1" dirty="0" err="1">
                <a:solidFill>
                  <a:schemeClr val="accent1">
                    <a:lumMod val="75000"/>
                  </a:schemeClr>
                </a:solidFill>
                <a:latin typeface="+mj-lt"/>
                <a:cs typeface="Courier New" panose="02070309020205020404" pitchFamily="49" charset="0"/>
              </a:rPr>
              <a:t>VSCode</a:t>
            </a:r>
            <a:r>
              <a:rPr lang="en-GB" sz="1600" b="1" dirty="0">
                <a:solidFill>
                  <a:schemeClr val="accent1">
                    <a:lumMod val="75000"/>
                  </a:schemeClr>
                </a:solidFill>
                <a:latin typeface="+mj-lt"/>
                <a:cs typeface="Courier New" panose="02070309020205020404" pitchFamily="49" charset="0"/>
              </a:rPr>
              <a:t> …</a:t>
            </a:r>
          </a:p>
          <a:p>
            <a:pPr marL="171450" indent="-171450">
              <a:buFont typeface="Wingdings" pitchFamily="2" charset="2"/>
              <a:buChar char="Ø"/>
            </a:pPr>
            <a:r>
              <a:rPr lang="en-GB" sz="1600" dirty="0">
                <a:latin typeface="+mj-lt"/>
                <a:cs typeface="Courier New" panose="02070309020205020404" pitchFamily="49" charset="0"/>
              </a:rPr>
              <a:t>Windows users should open Visual Studio Code connected to Ubuntu WSL, open a WSL terminal, and run the commands there.</a:t>
            </a:r>
          </a:p>
          <a:p>
            <a:pPr marL="171450" indent="-171450">
              <a:buFont typeface="Wingdings" pitchFamily="2" charset="2"/>
              <a:buChar char="Ø"/>
            </a:pPr>
            <a:r>
              <a:rPr lang="en-GB" sz="1600" dirty="0">
                <a:latin typeface="+mj-lt"/>
                <a:cs typeface="Courier New" panose="02070309020205020404" pitchFamily="49" charset="0"/>
              </a:rPr>
              <a:t>macOS and Linux users should open the </a:t>
            </a:r>
            <a:r>
              <a:rPr lang="en-GB" sz="1600" dirty="0" err="1">
                <a:latin typeface="+mj-lt"/>
                <a:cs typeface="Courier New" panose="02070309020205020404" pitchFamily="49" charset="0"/>
              </a:rPr>
              <a:t>workshop_ngs</a:t>
            </a:r>
            <a:r>
              <a:rPr lang="en-GB" sz="1600" dirty="0">
                <a:latin typeface="+mj-lt"/>
                <a:cs typeface="Courier New" panose="02070309020205020404" pitchFamily="49" charset="0"/>
              </a:rPr>
              <a:t> folder in Visual Studio Code and use the VS Code terminal.</a:t>
            </a:r>
          </a:p>
          <a:p>
            <a:pPr marL="0" indent="0">
              <a:buNone/>
            </a:pPr>
            <a:r>
              <a:rPr lang="en-GB" sz="1600" dirty="0">
                <a:latin typeface="+mj-lt"/>
                <a:cs typeface="Courier New" panose="02070309020205020404" pitchFamily="49" charset="0"/>
              </a:rPr>
              <a:t>Before running workshop commands, move to the repository root: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E25DDB-90AF-F3DD-4FDA-89539C43A94B}"/>
              </a:ext>
            </a:extLst>
          </p:cNvPr>
          <p:cNvSpPr txBox="1"/>
          <p:nvPr/>
        </p:nvSpPr>
        <p:spPr>
          <a:xfrm>
            <a:off x="134470" y="2067310"/>
            <a:ext cx="620572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cd ~/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workshop_ngs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pwd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90E291-9228-C8DD-8372-5ACD2469D861}"/>
              </a:ext>
            </a:extLst>
          </p:cNvPr>
          <p:cNvSpPr txBox="1"/>
          <p:nvPr/>
        </p:nvSpPr>
        <p:spPr>
          <a:xfrm>
            <a:off x="134470" y="3135143"/>
            <a:ext cx="6205728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ls -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lh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results/day1_qc/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trimmed_fastq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rnaseq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/*.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trimmed.fastq.gz</a:t>
            </a:r>
            <a:endParaRPr lang="en-GB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AC0539C-6172-60C2-BBBF-69385027C694}"/>
              </a:ext>
            </a:extLst>
          </p:cNvPr>
          <p:cNvSpPr txBox="1"/>
          <p:nvPr/>
        </p:nvSpPr>
        <p:spPr>
          <a:xfrm>
            <a:off x="134469" y="4235629"/>
            <a:ext cx="8923469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ls -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lh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reference_genome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genome.fa</a:t>
            </a:r>
            <a:endParaRPr lang="en-GB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ls -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lh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reference_genome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/annotation.gff3</a:t>
            </a:r>
          </a:p>
          <a:p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ls -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lh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reference_genome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genes.bed</a:t>
            </a:r>
            <a:endParaRPr lang="en-GB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grep '^&gt;' 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reference_genome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genome.fa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| grep 'NZ_AP026446.1'</a:t>
            </a:r>
          </a:p>
          <a:p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grep -v '^#' 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reference_genome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/annotation.gff3 | head -1</a:t>
            </a:r>
          </a:p>
          <a:p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head -1 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reference_genome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genes.bed</a:t>
            </a:r>
            <a:endParaRPr lang="en-GB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8F22B0-E0E2-B4FD-CB1B-5CA078F4E80E}"/>
              </a:ext>
            </a:extLst>
          </p:cNvPr>
          <p:cNvSpPr txBox="1"/>
          <p:nvPr/>
        </p:nvSpPr>
        <p:spPr>
          <a:xfrm>
            <a:off x="356974" y="2761417"/>
            <a:ext cx="5760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T" dirty="0"/>
              <a:t>Check that the RNA-seq trimmed FASTQ files are present:</a:t>
            </a:r>
            <a:endParaRPr lang="en-GB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465032-2399-F2FF-0B5A-8A0B7DDCD82E}"/>
              </a:ext>
            </a:extLst>
          </p:cNvPr>
          <p:cNvSpPr txBox="1"/>
          <p:nvPr/>
        </p:nvSpPr>
        <p:spPr>
          <a:xfrm>
            <a:off x="134470" y="3916219"/>
            <a:ext cx="62057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T" dirty="0"/>
              <a:t>Check that the reference genome and annotation are present:</a:t>
            </a:r>
            <a:endParaRPr lang="en-GB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7A616AA-354C-DD02-E424-9AD981BD9704}"/>
              </a:ext>
            </a:extLst>
          </p:cNvPr>
          <p:cNvSpPr txBox="1"/>
          <p:nvPr/>
        </p:nvSpPr>
        <p:spPr>
          <a:xfrm>
            <a:off x="7592568" y="3298670"/>
            <a:ext cx="3761232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mkdir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-p scripts/day2_rnaseq</a:t>
            </a:r>
          </a:p>
          <a:p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mkdir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-p results/logs/day2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2C16D08-ABB3-E40D-9249-51D696E1002B}"/>
              </a:ext>
            </a:extLst>
          </p:cNvPr>
          <p:cNvSpPr txBox="1"/>
          <p:nvPr/>
        </p:nvSpPr>
        <p:spPr>
          <a:xfrm>
            <a:off x="7866888" y="2762970"/>
            <a:ext cx="3212592" cy="3677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T" sz="1800" b="0" i="0" dirty="0">
                <a:solidFill>
                  <a:schemeClr val="tx1"/>
                </a:solidFill>
                <a:effectLst/>
                <a:latin typeface="+mn-lt"/>
              </a:rPr>
              <a:t>Prepare the Day 2 folders: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88951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23C1A7-6405-AE88-BDF7-00A8FF1BD4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25/09/26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47BAA4-4A91-615F-F706-EB427F2A70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82D104-32AC-2AEB-CEF7-3E66B027E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18202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99049-D746-AB96-3824-E6700F1A38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470" y="122282"/>
            <a:ext cx="9680090" cy="833766"/>
          </a:xfrm>
        </p:spPr>
        <p:txBody>
          <a:bodyPr>
            <a:noAutofit/>
          </a:bodyPr>
          <a:lstStyle/>
          <a:p>
            <a:r>
              <a:rPr lang="en-IT" sz="3600" b="1" dirty="0"/>
              <a:t>Reference-based RNA-seq FASTQ mapping</a:t>
            </a:r>
            <a:br>
              <a:rPr lang="en-IT" sz="3600" b="1" dirty="0"/>
            </a:br>
            <a:endParaRPr lang="en-GB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DD377E-BB52-1E2B-AF10-A594EB1371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8929" y="956049"/>
            <a:ext cx="11192435" cy="1397008"/>
          </a:xfrm>
        </p:spPr>
        <p:txBody>
          <a:bodyPr/>
          <a:lstStyle/>
          <a:p>
            <a:pPr marL="0" indent="0">
              <a:buNone/>
            </a:pPr>
            <a:r>
              <a:rPr lang="en-IT" dirty="0"/>
              <a:t>RNA-seq mapping asks where each sequenced read, or read pair, fits on a reference sequence. The input is FASTQ. The output is an alignment file that records the genomic position and alignment details for each read.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F1D5EE-BD85-C27D-1465-717F414E58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25/09/26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0CFEC4-4F66-4DE6-E019-DEA31D1717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418AA7-4439-07E9-CE33-5612835A7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5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CE998C-9F1C-762B-FBA9-B6D853482C52}"/>
              </a:ext>
            </a:extLst>
          </p:cNvPr>
          <p:cNvSpPr txBox="1"/>
          <p:nvPr/>
        </p:nvSpPr>
        <p:spPr>
          <a:xfrm>
            <a:off x="398929" y="2353057"/>
            <a:ext cx="532299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accent1">
                    <a:lumMod val="75000"/>
                  </a:schemeClr>
                </a:solidFill>
              </a:rPr>
              <a:t>Ingredients for read mapping:</a:t>
            </a:r>
          </a:p>
          <a:p>
            <a:pPr marL="285750" lvl="0" indent="-285750">
              <a:buFont typeface="Wingdings" pitchFamily="2" charset="2"/>
              <a:buChar char="Ø"/>
            </a:pPr>
            <a:r>
              <a:rPr lang="en-IT" sz="2400" dirty="0"/>
              <a:t> trimmed FASTQ files from Day 1</a:t>
            </a:r>
          </a:p>
          <a:p>
            <a:pPr marL="285750" lvl="0" indent="-285750">
              <a:buFont typeface="Wingdings" pitchFamily="2" charset="2"/>
              <a:buChar char="Ø"/>
            </a:pPr>
            <a:r>
              <a:rPr lang="en-IT" sz="2400" dirty="0"/>
              <a:t> a reference genome FASTA</a:t>
            </a:r>
          </a:p>
          <a:p>
            <a:pPr marL="285750" lvl="0" indent="-285750">
              <a:buFont typeface="Wingdings" pitchFamily="2" charset="2"/>
              <a:buChar char="Ø"/>
            </a:pPr>
            <a:r>
              <a:rPr lang="en-IT" sz="2400" dirty="0"/>
              <a:t> an aligner </a:t>
            </a:r>
            <a:r>
              <a:rPr lang="en-IT" sz="2400" dirty="0">
                <a:solidFill>
                  <a:srgbClr val="FF0000"/>
                </a:solidFill>
              </a:rPr>
              <a:t>index</a:t>
            </a:r>
            <a:r>
              <a:rPr lang="en-IT" sz="2400" dirty="0"/>
              <a:t> built from that FASTA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F065D0-484C-08D7-DC5E-3DDC028D7C62}"/>
              </a:ext>
            </a:extLst>
          </p:cNvPr>
          <p:cNvSpPr txBox="1"/>
          <p:nvPr/>
        </p:nvSpPr>
        <p:spPr>
          <a:xfrm>
            <a:off x="6179123" y="2646270"/>
            <a:ext cx="5400679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IT" i="1" dirty="0"/>
              <a:t>Searching the FASTA sequence from beginning to end for every read would be inefficient, so indexes are compact files that allows aligner to search positions efficiently.</a:t>
            </a:r>
            <a:endParaRPr lang="en-GB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BC64342-F539-E61D-2463-A3B4A78DED20}"/>
              </a:ext>
            </a:extLst>
          </p:cNvPr>
          <p:cNvSpPr txBox="1"/>
          <p:nvPr/>
        </p:nvSpPr>
        <p:spPr>
          <a:xfrm>
            <a:off x="4145919" y="4504944"/>
            <a:ext cx="473354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T" sz="2800" dirty="0"/>
              <a:t>An alignment is an </a:t>
            </a:r>
            <a:r>
              <a:rPr lang="en-IT" sz="2800" b="1" dirty="0">
                <a:solidFill>
                  <a:srgbClr val="FF0000"/>
                </a:solidFill>
              </a:rPr>
              <a:t>inference</a:t>
            </a:r>
            <a:r>
              <a:rPr lang="en-IT" sz="2800" dirty="0"/>
              <a:t>, not simply a string match.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081795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1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572D0-4F4E-B378-7858-110D38655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Several aligner serve different purposes: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516380-0574-6B70-9A24-FE96CB3580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8929" y="956049"/>
            <a:ext cx="11192435" cy="1043440"/>
          </a:xfrm>
        </p:spPr>
        <p:txBody>
          <a:bodyPr/>
          <a:lstStyle/>
          <a:p>
            <a:pPr marL="0" indent="0">
              <a:buNone/>
            </a:pPr>
            <a:r>
              <a:rPr lang="en-IT" dirty="0"/>
              <a:t>The alignment strategy depends on both the biological structure of the target and the analytical aim!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C26856-3131-BAA2-211F-41518BDC37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25/09/26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262A9E-8E5B-D700-5327-3359341BA2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24976-86C9-7791-8CBC-BEE8CE827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6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85ED58-A6E6-1032-E07A-18EE303E6933}"/>
              </a:ext>
            </a:extLst>
          </p:cNvPr>
          <p:cNvSpPr txBox="1"/>
          <p:nvPr/>
        </p:nvSpPr>
        <p:spPr>
          <a:xfrm>
            <a:off x="3843458" y="2265843"/>
            <a:ext cx="13278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/>
              <a:t>We have: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F242E3-B29D-99C0-14A4-2EE35E4F276D}"/>
              </a:ext>
            </a:extLst>
          </p:cNvPr>
          <p:cNvSpPr txBox="1"/>
          <p:nvPr/>
        </p:nvSpPr>
        <p:spPr>
          <a:xfrm>
            <a:off x="6449568" y="1365759"/>
            <a:ext cx="41148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T" sz="1800" b="0" i="0" dirty="0">
                <a:solidFill>
                  <a:schemeClr val="tx1"/>
                </a:solidFill>
                <a:effectLst/>
                <a:latin typeface="+mn-lt"/>
              </a:rPr>
              <a:t>Full aligners try to place each read or read pair at one or more genomic or transcriptomic coordinates.</a:t>
            </a:r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BF9239-86D8-C556-B08F-9DFCE94DCF5C}"/>
              </a:ext>
            </a:extLst>
          </p:cNvPr>
          <p:cNvSpPr txBox="1"/>
          <p:nvPr/>
        </p:nvSpPr>
        <p:spPr>
          <a:xfrm>
            <a:off x="6565392" y="2320691"/>
            <a:ext cx="5400679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rgbClr val="FF0000"/>
                </a:solidFill>
              </a:rPr>
              <a:t>Method</a:t>
            </a:r>
            <a:r>
              <a:rPr lang="en-GB" sz="2400" dirty="0"/>
              <a:t>: Seed-and-extend:</a:t>
            </a:r>
          </a:p>
          <a:p>
            <a:endParaRPr lang="en-GB" sz="2400" dirty="0"/>
          </a:p>
          <a:p>
            <a:pPr marL="285750" lvl="0" indent="-285750">
              <a:buFont typeface="Wingdings" pitchFamily="2" charset="2"/>
              <a:buChar char="v"/>
            </a:pPr>
            <a:r>
              <a:rPr lang="en-IT" sz="1600" dirty="0"/>
              <a:t>split or sample short exact pieces of the read called seeds;</a:t>
            </a:r>
          </a:p>
          <a:p>
            <a:pPr marL="285750" lvl="0" indent="-285750">
              <a:buFont typeface="Wingdings" pitchFamily="2" charset="2"/>
              <a:buChar char="v"/>
            </a:pPr>
            <a:r>
              <a:rPr lang="en-IT" sz="1600" dirty="0"/>
              <a:t>use the index to find seeds’s candidate reference positions </a:t>
            </a:r>
          </a:p>
          <a:p>
            <a:pPr marL="285750" lvl="0" indent="-285750">
              <a:buFont typeface="Wingdings" pitchFamily="2" charset="2"/>
              <a:buChar char="v"/>
            </a:pPr>
            <a:r>
              <a:rPr lang="en-IT" sz="1600" dirty="0"/>
              <a:t>extend them across the full read;</a:t>
            </a:r>
          </a:p>
          <a:p>
            <a:pPr marL="285750" lvl="0" indent="-285750">
              <a:buFont typeface="Wingdings" pitchFamily="2" charset="2"/>
              <a:buChar char="v"/>
            </a:pPr>
            <a:r>
              <a:rPr lang="en-IT" sz="1600" dirty="0"/>
              <a:t>score each alignment using matches, mismatches, gaps, clipping, base qualities, paired-end consistency;</a:t>
            </a:r>
          </a:p>
          <a:p>
            <a:pPr marL="285750" lvl="0" indent="-285750">
              <a:buFont typeface="Wingdings" pitchFamily="2" charset="2"/>
              <a:buChar char="v"/>
            </a:pPr>
            <a:r>
              <a:rPr lang="en-IT" sz="1600" dirty="0"/>
              <a:t>report the best alignment or alignments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E709350-5735-5EF5-53D6-BDAE2D990A23}"/>
              </a:ext>
            </a:extLst>
          </p:cNvPr>
          <p:cNvCxnSpPr>
            <a:cxnSpLocks/>
          </p:cNvCxnSpPr>
          <p:nvPr/>
        </p:nvCxnSpPr>
        <p:spPr>
          <a:xfrm flipV="1">
            <a:off x="5062964" y="2820339"/>
            <a:ext cx="1386604" cy="443743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CCEA42A-7761-BB91-4C4B-CF32C0D83D07}"/>
              </a:ext>
            </a:extLst>
          </p:cNvPr>
          <p:cNvSpPr txBox="1"/>
          <p:nvPr/>
        </p:nvSpPr>
        <p:spPr>
          <a:xfrm>
            <a:off x="690490" y="5280478"/>
            <a:ext cx="4785360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IT" sz="1800" b="0" i="0" dirty="0">
                <a:solidFill>
                  <a:schemeClr val="tx1"/>
                </a:solidFill>
                <a:effectLst/>
                <a:latin typeface="+mn-lt"/>
              </a:rPr>
              <a:t>They infer which transcript or set of transcripts is compatible with each read or fragment. This is very fast and useful for transcript quantification.</a:t>
            </a:r>
            <a:endParaRPr lang="en-GB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9C5AFA5-03D7-5070-58D2-849CF68417B2}"/>
              </a:ext>
            </a:extLst>
          </p:cNvPr>
          <p:cNvCxnSpPr>
            <a:cxnSpLocks/>
          </p:cNvCxnSpPr>
          <p:nvPr/>
        </p:nvCxnSpPr>
        <p:spPr>
          <a:xfrm>
            <a:off x="2257398" y="4525430"/>
            <a:ext cx="0" cy="602506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38F17FE-2BE2-EF88-A63B-E3ABC82C740B}"/>
              </a:ext>
            </a:extLst>
          </p:cNvPr>
          <p:cNvSpPr txBox="1"/>
          <p:nvPr/>
        </p:nvSpPr>
        <p:spPr>
          <a:xfrm>
            <a:off x="2532793" y="2933953"/>
            <a:ext cx="263852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2400" i="1" dirty="0"/>
              <a:t>Genome aligner tools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49E1549-5591-C619-F033-AB6BCC1217DA}"/>
              </a:ext>
            </a:extLst>
          </p:cNvPr>
          <p:cNvSpPr txBox="1"/>
          <p:nvPr/>
        </p:nvSpPr>
        <p:spPr>
          <a:xfrm>
            <a:off x="225929" y="3602062"/>
            <a:ext cx="494539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2400" dirty="0"/>
              <a:t>-</a:t>
            </a:r>
          </a:p>
          <a:p>
            <a:pPr algn="r"/>
            <a:r>
              <a:rPr lang="en-IT" sz="2400" i="1" dirty="0"/>
              <a:t>Pseudoalignment or quasi-alignment tools</a:t>
            </a:r>
            <a:endParaRPr lang="en-GB" sz="2400" i="1" dirty="0"/>
          </a:p>
        </p:txBody>
      </p:sp>
    </p:spTree>
    <p:extLst>
      <p:ext uri="{BB962C8B-B14F-4D97-AF65-F5344CB8AC3E}">
        <p14:creationId xmlns:p14="http://schemas.microsoft.com/office/powerpoint/2010/main" val="1827592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 animBg="1"/>
      <p:bldP spid="14" grpId="0" animBg="1"/>
      <p:bldP spid="11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820C6C-1572-E0CB-AD6A-168D60BBFC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340" y="122282"/>
            <a:ext cx="11959129" cy="519627"/>
          </a:xfrm>
        </p:spPr>
        <p:txBody>
          <a:bodyPr>
            <a:noAutofit/>
          </a:bodyPr>
          <a:lstStyle/>
          <a:p>
            <a:r>
              <a:rPr lang="en-GB" sz="3600" i="1" dirty="0"/>
              <a:t>Aligners..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5E6959-2E94-BEDA-4CB5-CD50CA372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25/09/26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450703-9EB0-7CC5-0B54-0C71E0425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BEBBE0-B173-1C66-096B-E8374CDAC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7</a:t>
            </a:fld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180140D-DDE1-5B6E-B4A0-DB078D364A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341" y="641909"/>
            <a:ext cx="5618865" cy="581985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29A7F35-7F01-CB7B-A8E7-B3B74DE33A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3564" y="1101230"/>
            <a:ext cx="6040896" cy="23277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030C81A-8078-E45B-3E98-06D594A1B6B3}"/>
              </a:ext>
            </a:extLst>
          </p:cNvPr>
          <p:cNvSpPr txBox="1"/>
          <p:nvPr/>
        </p:nvSpPr>
        <p:spPr>
          <a:xfrm>
            <a:off x="5986205" y="579182"/>
            <a:ext cx="243868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3200" i="1" dirty="0"/>
              <a:t>Pseudoaligners</a:t>
            </a:r>
            <a:endParaRPr lang="en-GB" sz="3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B4DCED-AD7F-4EC8-6091-601276D8F9E2}"/>
              </a:ext>
            </a:extLst>
          </p:cNvPr>
          <p:cNvSpPr txBox="1"/>
          <p:nvPr/>
        </p:nvSpPr>
        <p:spPr>
          <a:xfrm>
            <a:off x="6639311" y="4091307"/>
            <a:ext cx="498623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T" dirty="0"/>
              <a:t>Eukaryotic RNA-seq requires explicit handling of </a:t>
            </a:r>
            <a:r>
              <a:rPr lang="en-IT" b="1" dirty="0">
                <a:solidFill>
                  <a:srgbClr val="FF0000"/>
                </a:solidFill>
              </a:rPr>
              <a:t>exon–exon junctions. Splice-aware aligners </a:t>
            </a:r>
            <a:r>
              <a:rPr lang="en-IT" dirty="0"/>
              <a:t>such as STAR and HISAT2 are specifically designed to identify and align reads spanning these junctions.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70783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1" grpId="0"/>
      <p:bldP spid="1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C7A26-5D08-E94B-AA51-16718BB3E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Indexing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782F39-7A4D-0B50-0EB4-7284877E9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5362" y="771382"/>
            <a:ext cx="11192435" cy="15029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/>
              <a:t>Genome-wide aligner require genome indexing </a:t>
            </a:r>
          </a:p>
          <a:p>
            <a:pPr marL="0" indent="0">
              <a:buNone/>
            </a:pPr>
            <a:r>
              <a:rPr lang="en-GB" sz="2400" dirty="0"/>
              <a:t>Each aligner has its own indexing design as is aimed for fast search of seeds (chunks of reads) in the genome.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17883D-1AA4-859C-3094-253B3B8A11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25/09/26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687115-4C18-C669-46A8-4C78768CC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3D09BA-5E36-721B-41DB-5001C567D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8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6C0747-D12A-83AF-28B4-3A0279AD4808}"/>
              </a:ext>
            </a:extLst>
          </p:cNvPr>
          <p:cNvSpPr txBox="1"/>
          <p:nvPr/>
        </p:nvSpPr>
        <p:spPr>
          <a:xfrm>
            <a:off x="398929" y="2036588"/>
            <a:ext cx="40066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We will generate this index once and </a:t>
            </a:r>
          </a:p>
          <a:p>
            <a:r>
              <a:rPr lang="en-GB" dirty="0"/>
              <a:t>we will be able to reuse it. So in </a:t>
            </a:r>
            <a:r>
              <a:rPr lang="en-GB" dirty="0" err="1"/>
              <a:t>VSCode</a:t>
            </a:r>
            <a:r>
              <a:rPr lang="en-GB" dirty="0"/>
              <a:t>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888B21-FD16-F04D-CA54-A8AE4B79ED33}"/>
              </a:ext>
            </a:extLst>
          </p:cNvPr>
          <p:cNvSpPr txBox="1"/>
          <p:nvPr/>
        </p:nvSpPr>
        <p:spPr>
          <a:xfrm>
            <a:off x="4884381" y="2067365"/>
            <a:ext cx="58041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T" sz="1600" b="0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Create:</a:t>
            </a:r>
          </a:p>
          <a:p>
            <a:r>
              <a:rPr lang="en-IT" sz="1600" b="0" i="0" dirty="0">
                <a:solidFill>
                  <a:srgbClr val="A72AA7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scripts/day2_rnaseq/01_build_bowtie2_index.sh</a:t>
            </a:r>
            <a:endParaRPr lang="en-GB" sz="1600" dirty="0">
              <a:solidFill>
                <a:srgbClr val="A72AA7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850F35-3B82-BA12-AB6D-68B97D85D392}"/>
              </a:ext>
            </a:extLst>
          </p:cNvPr>
          <p:cNvSpPr txBox="1"/>
          <p:nvPr/>
        </p:nvSpPr>
        <p:spPr>
          <a:xfrm>
            <a:off x="398929" y="2932302"/>
            <a:ext cx="6603090" cy="304698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#!/</a:t>
            </a:r>
            <a:r>
              <a:rPr lang="en-GB" sz="16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usr</a:t>
            </a:r>
            <a:r>
              <a:rPr lang="en-GB" sz="16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/bin/env bash</a:t>
            </a:r>
          </a:p>
          <a:p>
            <a:r>
              <a:rPr lang="en-GB" sz="16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 -</a:t>
            </a:r>
            <a:r>
              <a:rPr lang="en-GB" sz="16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euo</a:t>
            </a:r>
            <a:r>
              <a:rPr lang="en-GB" sz="16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sz="16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pipefail</a:t>
            </a:r>
            <a:endParaRPr lang="en-GB" sz="1600" dirty="0">
              <a:solidFill>
                <a:srgbClr val="A72AA7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GB" sz="1600" dirty="0">
              <a:solidFill>
                <a:srgbClr val="A72AA7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6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genome="</a:t>
            </a:r>
            <a:r>
              <a:rPr lang="en-GB" sz="16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reference_genome</a:t>
            </a:r>
            <a:r>
              <a:rPr lang="en-GB" sz="16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GB" sz="16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genome.fa</a:t>
            </a:r>
            <a:r>
              <a:rPr lang="en-GB" sz="16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GB" sz="16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index_prefix</a:t>
            </a:r>
            <a:r>
              <a:rPr lang="en-GB" sz="16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en-GB" sz="16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reference_genome</a:t>
            </a:r>
            <a:r>
              <a:rPr lang="en-GB" sz="16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/bowtie2_index/genome"</a:t>
            </a:r>
          </a:p>
          <a:p>
            <a:endParaRPr lang="en-GB" sz="1600" dirty="0">
              <a:solidFill>
                <a:srgbClr val="A72AA7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6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mkdir</a:t>
            </a:r>
            <a:r>
              <a:rPr lang="en-GB" sz="16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-p </a:t>
            </a:r>
            <a:r>
              <a:rPr lang="en-GB" sz="16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reference_genome</a:t>
            </a:r>
            <a:r>
              <a:rPr lang="en-GB" sz="16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/bowtie2_index</a:t>
            </a:r>
          </a:p>
          <a:p>
            <a:endParaRPr lang="en-GB" sz="1600" dirty="0">
              <a:solidFill>
                <a:srgbClr val="A72AA7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6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bowtie2-build \</a:t>
            </a:r>
          </a:p>
          <a:p>
            <a:r>
              <a:rPr lang="en-GB" sz="16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--threads 2 \</a:t>
            </a:r>
          </a:p>
          <a:p>
            <a:r>
              <a:rPr lang="en-GB" sz="16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"${genome}" \</a:t>
            </a:r>
          </a:p>
          <a:p>
            <a:r>
              <a:rPr lang="en-GB" sz="16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"${</a:t>
            </a:r>
            <a:r>
              <a:rPr lang="en-GB" sz="16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index_prefix</a:t>
            </a:r>
            <a:r>
              <a:rPr lang="en-GB" sz="16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33EC62-5137-106B-33F8-F7BA8AE1FC9D}"/>
              </a:ext>
            </a:extLst>
          </p:cNvPr>
          <p:cNvSpPr txBox="1"/>
          <p:nvPr/>
        </p:nvSpPr>
        <p:spPr>
          <a:xfrm>
            <a:off x="5486401" y="4579879"/>
            <a:ext cx="6603090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chemeClr val="accent3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docker run --rm \</a:t>
            </a:r>
          </a:p>
          <a:p>
            <a:r>
              <a:rPr lang="en-GB" sz="1600" dirty="0">
                <a:solidFill>
                  <a:schemeClr val="accent3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--user "$(id -u):$(id -g)" \</a:t>
            </a:r>
          </a:p>
          <a:p>
            <a:r>
              <a:rPr lang="en-GB" sz="1600" dirty="0">
                <a:solidFill>
                  <a:schemeClr val="accent3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-v "$PWD:/work" \</a:t>
            </a:r>
          </a:p>
          <a:p>
            <a:r>
              <a:rPr lang="en-GB" sz="1600" dirty="0">
                <a:solidFill>
                  <a:schemeClr val="accent3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-w /work \</a:t>
            </a:r>
          </a:p>
          <a:p>
            <a:r>
              <a:rPr lang="en-GB" sz="1600" dirty="0">
                <a:solidFill>
                  <a:schemeClr val="accent3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GB" sz="1600" dirty="0" err="1">
                <a:solidFill>
                  <a:schemeClr val="accent3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docker.io</a:t>
            </a:r>
            <a:r>
              <a:rPr lang="en-GB" sz="1600" dirty="0">
                <a:solidFill>
                  <a:schemeClr val="accent3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GB" sz="1600" dirty="0" err="1">
                <a:solidFill>
                  <a:schemeClr val="accent3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fgualdr</a:t>
            </a:r>
            <a:r>
              <a:rPr lang="en-GB" sz="1600" dirty="0">
                <a:solidFill>
                  <a:schemeClr val="accent3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/ngs-bowtie2-samtools \</a:t>
            </a:r>
          </a:p>
          <a:p>
            <a:r>
              <a:rPr lang="en-GB" sz="1600" dirty="0">
                <a:solidFill>
                  <a:schemeClr val="accent3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bash scripts/day2_rnaseq/01_build_bowtie2_index.sh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9558FA-6C33-6EC7-A598-F0024B2A8165}"/>
              </a:ext>
            </a:extLst>
          </p:cNvPr>
          <p:cNvSpPr txBox="1"/>
          <p:nvPr/>
        </p:nvSpPr>
        <p:spPr>
          <a:xfrm>
            <a:off x="10580020" y="4210547"/>
            <a:ext cx="161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In the Terminal:</a:t>
            </a:r>
          </a:p>
        </p:txBody>
      </p:sp>
    </p:spTree>
    <p:extLst>
      <p:ext uri="{BB962C8B-B14F-4D97-AF65-F5344CB8AC3E}">
        <p14:creationId xmlns:p14="http://schemas.microsoft.com/office/powerpoint/2010/main" val="42059097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6EAFB-E43A-0E1F-8408-FED15DEF9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Mapping sorting indexing filtering!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2874EC-0F6C-FE82-D8CA-9BA9957A8C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8929" y="956049"/>
            <a:ext cx="4630271" cy="2227416"/>
          </a:xfrm>
        </p:spPr>
        <p:txBody>
          <a:bodyPr>
            <a:noAutofit/>
          </a:bodyPr>
          <a:lstStyle/>
          <a:p>
            <a:r>
              <a:rPr lang="en-GB" dirty="0">
                <a:solidFill>
                  <a:schemeClr val="accent4">
                    <a:lumMod val="75000"/>
                  </a:schemeClr>
                </a:solidFill>
              </a:rPr>
              <a:t>We now have:</a:t>
            </a:r>
          </a:p>
          <a:p>
            <a:pPr>
              <a:buFontTx/>
              <a:buChar char="-"/>
            </a:pPr>
            <a:r>
              <a:rPr lang="en-GB" i="1" dirty="0"/>
              <a:t>The genome</a:t>
            </a:r>
          </a:p>
          <a:p>
            <a:pPr>
              <a:buFontTx/>
              <a:buChar char="-"/>
            </a:pPr>
            <a:r>
              <a:rPr lang="en-GB" i="1" dirty="0"/>
              <a:t>The index of the genome</a:t>
            </a:r>
          </a:p>
          <a:p>
            <a:pPr>
              <a:buFontTx/>
              <a:buChar char="-"/>
            </a:pPr>
            <a:r>
              <a:rPr lang="en-GB" i="1" dirty="0"/>
              <a:t>The trimmed </a:t>
            </a:r>
            <a:r>
              <a:rPr lang="en-GB" i="1" dirty="0" err="1"/>
              <a:t>fastq</a:t>
            </a:r>
            <a:endParaRPr lang="en-GB" i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D35B3-0DB6-03A3-7ED8-9C1C2B1A8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25/09/26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E266E8-AC95-B963-1637-BF76E4FC5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29DD55-B735-ADEB-30C7-25469B587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9</a:t>
            </a:fld>
            <a:endParaRPr lang="en-GB" dirty="0"/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194B6DAC-7575-5CD5-1D44-3C4360189103}"/>
              </a:ext>
            </a:extLst>
          </p:cNvPr>
          <p:cNvSpPr/>
          <p:nvPr/>
        </p:nvSpPr>
        <p:spPr>
          <a:xfrm>
            <a:off x="4361935" y="956049"/>
            <a:ext cx="271849" cy="1984859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46AB79-D904-41A4-4762-B9872DCA4EED}"/>
              </a:ext>
            </a:extLst>
          </p:cNvPr>
          <p:cNvSpPr txBox="1"/>
          <p:nvPr/>
        </p:nvSpPr>
        <p:spPr>
          <a:xfrm>
            <a:off x="6230470" y="708272"/>
            <a:ext cx="33250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u="sng" dirty="0"/>
              <a:t>Perform the mapping: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6C2201-B62C-5ACF-2C5F-7CB67C9D42CD}"/>
              </a:ext>
            </a:extLst>
          </p:cNvPr>
          <p:cNvSpPr txBox="1"/>
          <p:nvPr/>
        </p:nvSpPr>
        <p:spPr>
          <a:xfrm>
            <a:off x="5360773" y="1297855"/>
            <a:ext cx="558525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T" dirty="0"/>
              <a:t>RNA-seq mapping asks where each sequenced read, or read pair, fits on a reference sequence. </a:t>
            </a:r>
          </a:p>
          <a:p>
            <a:endParaRPr lang="en-IT" dirty="0"/>
          </a:p>
          <a:p>
            <a:r>
              <a:rPr lang="en-IT" dirty="0"/>
              <a:t>From a FASTQ as input we want an alignment file that records the genomic position and alignment details for each read.</a:t>
            </a:r>
            <a:endParaRPr lang="en-GB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7CC1AEAE-A3F0-C1A1-D0E6-99524FF08103}"/>
              </a:ext>
            </a:extLst>
          </p:cNvPr>
          <p:cNvSpPr txBox="1">
            <a:spLocks/>
          </p:cNvSpPr>
          <p:nvPr/>
        </p:nvSpPr>
        <p:spPr>
          <a:xfrm>
            <a:off x="325080" y="3415733"/>
            <a:ext cx="11541839" cy="1401477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@ERR11479310.7235242</a:t>
            </a:r>
          </a:p>
          <a:p>
            <a:pPr marL="0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ATTGAAAAAGAAATCTTGGCGCTAGTCAAACAAAATCCTAAAGTTAGCCTCATAGAATATGAAAATTACTTTAGCCAACTCAAATACAACCCTAACG…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</a:p>
          <a:p>
            <a:pPr marL="0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FFFFFFF:FFF:FFFFFFFFFFFFFF:FF:FFF,FF:FFFFFFF:FFF:FFFFFFF:FFFF:FFFF:F,FFFFFFF:FFFFF:FFFFFF:F,FFFF,…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6C38CF-B6C0-4FA4-5451-CC991BE6614F}"/>
              </a:ext>
            </a:extLst>
          </p:cNvPr>
          <p:cNvSpPr txBox="1"/>
          <p:nvPr/>
        </p:nvSpPr>
        <p:spPr>
          <a:xfrm>
            <a:off x="325080" y="3052181"/>
            <a:ext cx="10218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FASTQ: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87D7683-7BF8-03E7-7514-545B7B1257ED}"/>
              </a:ext>
            </a:extLst>
          </p:cNvPr>
          <p:cNvSpPr txBox="1"/>
          <p:nvPr/>
        </p:nvSpPr>
        <p:spPr>
          <a:xfrm>
            <a:off x="135923" y="5351180"/>
            <a:ext cx="1192015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ERR11479310.7235242     99      NZ_AP026446.1   119     23      34M6I110M       =       195     226     ATTGAAAAAGAAATCTTGGCGCTAGTCAAACAAAATCCTAAAGTTAGCCTCATAGAATATGAAAATTACTTTAGCCAACTCAAATACAACCCTAACG	FFFFFFF:FFF:FFFFFFFFFFFFFF:FF:FFF,FF:FFFFFFF:FFF:FFFFFFF:FFFF:FFFF:F,FFFFFFF:FFFFF:FFFFFF:F,FFFF,	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AS:i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:-64        XN:i:0  XM:i:9  XO:i:1  XG:i:6  NM:i:15 MD:Z:24A8G16G10G3G5G35C11C10T13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YS:i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:-25        YT:Z:CP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C5E4C7D-0F63-2C6B-98E7-D65D1FF2CC5D}"/>
              </a:ext>
            </a:extLst>
          </p:cNvPr>
          <p:cNvSpPr txBox="1"/>
          <p:nvPr/>
        </p:nvSpPr>
        <p:spPr>
          <a:xfrm>
            <a:off x="325080" y="4899529"/>
            <a:ext cx="6705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Alignment file SAM – its binary format is termed BAM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AEACDE-AD0C-E1A2-FF1F-8F3E82CB7DF5}"/>
              </a:ext>
            </a:extLst>
          </p:cNvPr>
          <p:cNvSpPr txBox="1"/>
          <p:nvPr/>
        </p:nvSpPr>
        <p:spPr>
          <a:xfrm>
            <a:off x="1874081" y="3001458"/>
            <a:ext cx="5739072" cy="1323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chemeClr val="accent3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docker run --rm \</a:t>
            </a:r>
          </a:p>
          <a:p>
            <a:r>
              <a:rPr lang="en-GB" sz="1600" dirty="0">
                <a:solidFill>
                  <a:schemeClr val="accent3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--user "$(id -u):$(id -g)" \</a:t>
            </a:r>
          </a:p>
          <a:p>
            <a:r>
              <a:rPr lang="en-GB" sz="1600" dirty="0">
                <a:solidFill>
                  <a:schemeClr val="accent3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-v "$PWD:/work" \</a:t>
            </a:r>
          </a:p>
          <a:p>
            <a:r>
              <a:rPr lang="en-GB" sz="1600" dirty="0">
                <a:solidFill>
                  <a:schemeClr val="accent3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-w /work it \</a:t>
            </a:r>
          </a:p>
          <a:p>
            <a:r>
              <a:rPr lang="en-GB" sz="1600" dirty="0">
                <a:solidFill>
                  <a:schemeClr val="accent3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GB" sz="1600" dirty="0" err="1">
                <a:solidFill>
                  <a:schemeClr val="accent3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docker.io</a:t>
            </a:r>
            <a:r>
              <a:rPr lang="en-GB" sz="1600" dirty="0">
                <a:solidFill>
                  <a:schemeClr val="accent3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GB" sz="1600" dirty="0" err="1">
                <a:solidFill>
                  <a:schemeClr val="accent3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fgualdr</a:t>
            </a:r>
            <a:r>
              <a:rPr lang="en-GB" sz="1600" dirty="0">
                <a:solidFill>
                  <a:schemeClr val="accent3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/ngs-bowtie2-samtools bash</a:t>
            </a:r>
          </a:p>
        </p:txBody>
      </p:sp>
    </p:spTree>
    <p:extLst>
      <p:ext uri="{BB962C8B-B14F-4D97-AF65-F5344CB8AC3E}">
        <p14:creationId xmlns:p14="http://schemas.microsoft.com/office/powerpoint/2010/main" val="2922501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/>
      <p:bldP spid="19" grpId="0" animBg="1"/>
      <p:bldP spid="20" grpId="0"/>
      <p:bldP spid="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A83C28-C232-809F-88C9-C966F327F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10</a:t>
            </a:fld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D1F344-7F89-2466-7547-210D13CD3936}"/>
              </a:ext>
            </a:extLst>
          </p:cNvPr>
          <p:cNvSpPr txBox="1"/>
          <p:nvPr/>
        </p:nvSpPr>
        <p:spPr>
          <a:xfrm>
            <a:off x="149312" y="0"/>
            <a:ext cx="10353932" cy="67214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#!/</a:t>
            </a:r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usr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/bin/env bash</a:t>
            </a:r>
          </a:p>
          <a:p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 -</a:t>
            </a:r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euo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pipefail</a:t>
            </a:r>
            <a:endParaRPr lang="en-GB" sz="1400" dirty="0">
              <a:solidFill>
                <a:srgbClr val="A72AA7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GB" sz="1400" dirty="0">
              <a:solidFill>
                <a:srgbClr val="A72AA7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fastq_dir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="results/day1_qc/</a:t>
            </a:r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trimmed_fastq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rnaseq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index_prefix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reference_genome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/bowtie2_index/genome"</a:t>
            </a:r>
          </a:p>
          <a:p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bam_dir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="results/day2_rnaseq/bam"</a:t>
            </a:r>
          </a:p>
          <a:p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log_dir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="results/logs/day2"</a:t>
            </a:r>
          </a:p>
          <a:p>
            <a:endParaRPr lang="en-GB" sz="1400" dirty="0">
              <a:solidFill>
                <a:srgbClr val="A72AA7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mkdir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-p "${</a:t>
            </a:r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bam_dir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}" "${</a:t>
            </a:r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log_dir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}"</a:t>
            </a:r>
          </a:p>
          <a:p>
            <a:endParaRPr lang="en-GB" sz="1400" dirty="0">
              <a:solidFill>
                <a:srgbClr val="A72AA7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read1 in "${</a:t>
            </a:r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fastq_dir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}"/*_R1.trimmed.fastq.gz</a:t>
            </a:r>
          </a:p>
          <a:p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</a:t>
            </a:r>
          </a:p>
          <a:p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read2="${read1/_R1.trimmed.fastq.gz/_R2.trimmed.fastq.gz}"</a:t>
            </a:r>
          </a:p>
          <a:p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sample_id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="$(</a:t>
            </a:r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basename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"${read1}" _R1.trimmed.fastq.gz)"</a:t>
            </a:r>
          </a:p>
          <a:p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sam_file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="${</a:t>
            </a:r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bam_dir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}/${</a:t>
            </a:r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sample_id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}.</a:t>
            </a:r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sam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bam_file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="${</a:t>
            </a:r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bam_dir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}/${</a:t>
            </a:r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sample_id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}.</a:t>
            </a:r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sorted.bam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filtered_bam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="${</a:t>
            </a:r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bam_dir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}/${</a:t>
            </a:r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sample_id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}.</a:t>
            </a:r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filtered.bam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GB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bowtie2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-x "${</a:t>
            </a:r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index_prefix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}" \</a:t>
            </a:r>
          </a:p>
          <a:p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-1 "${read1}" -2 "${read2}" -p 2 -S "${</a:t>
            </a:r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sam_file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}" 2&gt; "${</a:t>
            </a:r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log_dir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}/${</a:t>
            </a:r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sample_id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}.bowtie2.log"</a:t>
            </a:r>
          </a:p>
          <a:p>
            <a:endParaRPr lang="en-GB" sz="1400" dirty="0">
              <a:solidFill>
                <a:srgbClr val="A72AA7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GB" sz="14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samtools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sort -@ 2 -o "${</a:t>
            </a:r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bam_file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}" "${</a:t>
            </a:r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sam_file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}"</a:t>
            </a:r>
          </a:p>
          <a:p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GB" sz="14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samtools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index "${</a:t>
            </a:r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bam_file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}"</a:t>
            </a:r>
          </a:p>
          <a:p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GB" sz="14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samtools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flagstat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"${</a:t>
            </a:r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bam_file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}" &gt; "${</a:t>
            </a:r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log_dir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}/${</a:t>
            </a:r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sample_id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}.</a:t>
            </a:r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flagstat.txt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endParaRPr lang="en-GB" sz="1400" dirty="0">
              <a:solidFill>
                <a:srgbClr val="A72AA7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GB" sz="14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samtools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view -@ 2 -b -q 10 -f 2 -F 2828 -o "${</a:t>
            </a:r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filtered_bam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}" "${</a:t>
            </a:r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bam_file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}"</a:t>
            </a:r>
          </a:p>
          <a:p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GB" sz="14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samtools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index "${</a:t>
            </a:r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filtered_bam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}”</a:t>
            </a:r>
          </a:p>
          <a:p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GB" sz="14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samtools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flagstat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"${</a:t>
            </a:r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filtered_bam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}" &gt; "${</a:t>
            </a:r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log_dir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}/${</a:t>
            </a:r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sample_id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}.</a:t>
            </a:r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filtered.flagstat.txt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endParaRPr lang="en-GB" sz="1400" dirty="0">
              <a:solidFill>
                <a:srgbClr val="A72AA7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rm -f "${</a:t>
            </a:r>
            <a:r>
              <a:rPr lang="en-GB" sz="1400" dirty="0" err="1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sam_file</a:t>
            </a:r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}"</a:t>
            </a:r>
          </a:p>
          <a:p>
            <a:r>
              <a:rPr lang="en-GB" sz="1400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done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0CAB8C-9DD2-9BD9-3F65-83C0708A9C52}"/>
              </a:ext>
            </a:extLst>
          </p:cNvPr>
          <p:cNvSpPr txBox="1"/>
          <p:nvPr/>
        </p:nvSpPr>
        <p:spPr>
          <a:xfrm>
            <a:off x="4425130" y="235379"/>
            <a:ext cx="776687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IT" dirty="0">
                <a:latin typeface="Courier New" panose="02070309020205020404" pitchFamily="49" charset="0"/>
                <a:cs typeface="Courier New" panose="02070309020205020404" pitchFamily="49" charset="0"/>
              </a:rPr>
              <a:t>Create </a:t>
            </a:r>
            <a:r>
              <a:rPr lang="en-IT" dirty="0">
                <a:solidFill>
                  <a:srgbClr val="A72AA7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scripts/day2_rnaseq/02_map_bowtie2_sort_index.sh</a:t>
            </a:r>
            <a:endParaRPr lang="en-GB" dirty="0">
              <a:solidFill>
                <a:srgbClr val="A72AA7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DC898F-5C2D-ADD0-74FF-C2570392CDE6}"/>
              </a:ext>
            </a:extLst>
          </p:cNvPr>
          <p:cNvSpPr txBox="1"/>
          <p:nvPr/>
        </p:nvSpPr>
        <p:spPr>
          <a:xfrm>
            <a:off x="5585256" y="2046744"/>
            <a:ext cx="6973384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chemeClr val="accent3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docker run --rm \</a:t>
            </a:r>
          </a:p>
          <a:p>
            <a:r>
              <a:rPr lang="en-GB" sz="1600" dirty="0">
                <a:solidFill>
                  <a:schemeClr val="accent3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--user "$(id -u):$(id -g)" \</a:t>
            </a:r>
          </a:p>
          <a:p>
            <a:r>
              <a:rPr lang="en-GB" sz="1600" dirty="0">
                <a:solidFill>
                  <a:schemeClr val="accent3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-v "$PWD:/work" \</a:t>
            </a:r>
          </a:p>
          <a:p>
            <a:r>
              <a:rPr lang="en-GB" sz="1600" dirty="0">
                <a:solidFill>
                  <a:schemeClr val="accent3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-w /work \</a:t>
            </a:r>
          </a:p>
          <a:p>
            <a:r>
              <a:rPr lang="en-GB" sz="1600" dirty="0">
                <a:solidFill>
                  <a:schemeClr val="accent3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GB" sz="1600" dirty="0" err="1">
                <a:solidFill>
                  <a:schemeClr val="accent3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docker.io</a:t>
            </a:r>
            <a:r>
              <a:rPr lang="en-GB" sz="1600" dirty="0">
                <a:solidFill>
                  <a:schemeClr val="accent3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GB" sz="1600" dirty="0" err="1">
                <a:solidFill>
                  <a:schemeClr val="accent3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fgualdr</a:t>
            </a:r>
            <a:r>
              <a:rPr lang="en-GB" sz="1600" dirty="0">
                <a:solidFill>
                  <a:schemeClr val="accent3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/ngs-bowtie2-samtools \</a:t>
            </a:r>
          </a:p>
          <a:p>
            <a:r>
              <a:rPr lang="en-GB" sz="1600" dirty="0">
                <a:solidFill>
                  <a:schemeClr val="accent3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bash scripts/day2_rnaseq/02_map_bowtie2_sort_index.sh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9DA755-E531-14FE-D7DD-6AD6FB2ECDA0}"/>
              </a:ext>
            </a:extLst>
          </p:cNvPr>
          <p:cNvSpPr txBox="1"/>
          <p:nvPr/>
        </p:nvSpPr>
        <p:spPr>
          <a:xfrm>
            <a:off x="10678875" y="1677412"/>
            <a:ext cx="161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In the Terminal:</a:t>
            </a:r>
          </a:p>
        </p:txBody>
      </p:sp>
    </p:spTree>
    <p:extLst>
      <p:ext uri="{BB962C8B-B14F-4D97-AF65-F5344CB8AC3E}">
        <p14:creationId xmlns:p14="http://schemas.microsoft.com/office/powerpoint/2010/main" val="1946067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1CA02-5F0D-57AC-F295-73A4A18AD7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SAM/BAM format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50B47E-4333-CDA7-7381-54C57F2B4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25/09/26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269470-A372-2E4F-58A0-5804163DC1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45773" y="6356350"/>
            <a:ext cx="4114800" cy="365125"/>
          </a:xfrm>
        </p:spPr>
        <p:txBody>
          <a:bodyPr/>
          <a:lstStyle/>
          <a:p>
            <a:r>
              <a:rPr lang="en-GB" dirty="0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E0C37E-92A4-77F2-842B-FE6124D90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11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87E06C-0915-BEF5-24E2-F47337BB3492}"/>
              </a:ext>
            </a:extLst>
          </p:cNvPr>
          <p:cNvSpPr txBox="1"/>
          <p:nvPr/>
        </p:nvSpPr>
        <p:spPr>
          <a:xfrm>
            <a:off x="135924" y="641909"/>
            <a:ext cx="1192015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ERR11479310.7235242     99      NZ_AP026446.1   119     23      34M6I110M       =       195     226     ATTGAAAAAGAAATCTTGGCGCTAGTCAAACAAAATCCTAAAGTTAGCCTCATAGAATATGAAAATTACTTTAGCCAACTCAAATACAACCCTAACG	FFFFFFF:FFF:FFFFFFFFFFFFFF:FF:FFF,FF:FFFFFFF:FFF:FFFFFFF:FFFF:FFFF:F,FFFFFFF:FFFFF:FFFFFF:F,FFFF,	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AS:i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:-64        XN:i:0  XM:i:9  XO:i:1  XG:i:6  NM:i:15 MD:Z:24A8G16G10G3G5G35C11C10T13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YS:i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:-25        YT:Z:CP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FBF9C5B-4C77-E9A7-B428-C440F07FF885}"/>
              </a:ext>
            </a:extLst>
          </p:cNvPr>
          <p:cNvSpPr txBox="1"/>
          <p:nvPr/>
        </p:nvSpPr>
        <p:spPr>
          <a:xfrm>
            <a:off x="134470" y="2013274"/>
            <a:ext cx="10353418" cy="34163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dirty="0"/>
              <a:t>Field			Value					Description</a:t>
            </a:r>
          </a:p>
          <a:p>
            <a:r>
              <a:rPr lang="en-GB" dirty="0"/>
              <a:t>QNAME		ERR11479310.7235242		Original read identifier</a:t>
            </a:r>
          </a:p>
          <a:p>
            <a:r>
              <a:rPr lang="en-GB" dirty="0"/>
              <a:t>FLAG		99						Bit-coded information about pairing, strand and alignment status</a:t>
            </a:r>
          </a:p>
          <a:p>
            <a:r>
              <a:rPr lang="en-GB" dirty="0"/>
              <a:t>RNAME		NZ_AP026446.1			Reference sequence/chromosome</a:t>
            </a:r>
          </a:p>
          <a:p>
            <a:r>
              <a:rPr lang="en-GB" dirty="0"/>
              <a:t>POS			119						1-based leftmost aligned position</a:t>
            </a:r>
          </a:p>
          <a:p>
            <a:r>
              <a:rPr lang="en-GB" dirty="0"/>
              <a:t>MAPQ		23						Confidence in the reported genomic placement</a:t>
            </a:r>
          </a:p>
          <a:p>
            <a:r>
              <a:rPr lang="en-GB" dirty="0"/>
              <a:t>CIGAR		34M6I110M				Structure of the alignment</a:t>
            </a:r>
          </a:p>
          <a:p>
            <a:r>
              <a:rPr lang="en-GB" dirty="0"/>
              <a:t>RNEXT		=						Mate maps to the same reference sequence</a:t>
            </a:r>
          </a:p>
          <a:p>
            <a:r>
              <a:rPr lang="en-GB" dirty="0"/>
              <a:t>PNEXT		195						Leftmost mapping position of the mate</a:t>
            </a:r>
          </a:p>
          <a:p>
            <a:r>
              <a:rPr lang="en-GB" dirty="0"/>
              <a:t>TLEN		226						Inferred outer template/fragment length</a:t>
            </a:r>
          </a:p>
          <a:p>
            <a:r>
              <a:rPr lang="en-GB" dirty="0"/>
              <a:t>SEQ			ATTGAAAA...				Read sequence</a:t>
            </a:r>
          </a:p>
          <a:p>
            <a:r>
              <a:rPr lang="en-GB" dirty="0"/>
              <a:t>QUAL		FFFFFF...					Original per-base Phred qualities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1355963-EC9B-EC68-217F-38D51998186E}"/>
              </a:ext>
            </a:extLst>
          </p:cNvPr>
          <p:cNvSpPr txBox="1"/>
          <p:nvPr/>
        </p:nvSpPr>
        <p:spPr>
          <a:xfrm>
            <a:off x="134470" y="1623201"/>
            <a:ext cx="8137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dirty="0"/>
              <a:t>SAM contains </a:t>
            </a:r>
            <a:r>
              <a:rPr lang="en-IT" b="1" dirty="0"/>
              <a:t>11 mandatory fields followed by optional/aligner specific fields:</a:t>
            </a:r>
            <a:endParaRPr lang="en-GB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A8C8A21-117F-1F90-01BB-9CFCB2FEE227}"/>
              </a:ext>
            </a:extLst>
          </p:cNvPr>
          <p:cNvSpPr txBox="1"/>
          <p:nvPr/>
        </p:nvSpPr>
        <p:spPr>
          <a:xfrm>
            <a:off x="241030" y="5508297"/>
            <a:ext cx="731954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hlinkClick r:id="rId2"/>
              </a:rPr>
              <a:t>FLAG are boolean properties encoded in one integer:</a:t>
            </a:r>
            <a:r>
              <a:rPr lang="en-GB" dirty="0"/>
              <a:t> so 99 means:</a:t>
            </a:r>
          </a:p>
          <a:p>
            <a:r>
              <a:rPr lang="en-IT" dirty="0"/>
              <a:t>99=1+2+32+64 Binary representation garantees that for a given integer there is only one Bit sum combination</a:t>
            </a:r>
            <a:endParaRPr lang="en-GB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A63DEF2-83F6-98FC-537C-4187A3A4AF9C}"/>
              </a:ext>
            </a:extLst>
          </p:cNvPr>
          <p:cNvSpPr txBox="1"/>
          <p:nvPr/>
        </p:nvSpPr>
        <p:spPr>
          <a:xfrm>
            <a:off x="7705259" y="4826675"/>
            <a:ext cx="4486741" cy="20313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400" dirty="0"/>
              <a:t>Bit	Meaning						Present?</a:t>
            </a:r>
          </a:p>
          <a:p>
            <a:r>
              <a:rPr lang="en-GB" sz="1400" dirty="0"/>
              <a:t>1	Read belongs to a paired-end fragment	</a:t>
            </a:r>
            <a:r>
              <a:rPr lang="en-GB" sz="1400" dirty="0">
                <a:solidFill>
                  <a:srgbClr val="00B050"/>
                </a:solidFill>
              </a:rPr>
              <a:t>✓</a:t>
            </a:r>
          </a:p>
          <a:p>
            <a:r>
              <a:rPr lang="en-GB" sz="1400" dirty="0"/>
              <a:t>2	Pair aligned properly/concordantly		</a:t>
            </a:r>
            <a:r>
              <a:rPr lang="en-GB" sz="1400" dirty="0">
                <a:solidFill>
                  <a:srgbClr val="00B050"/>
                </a:solidFill>
              </a:rPr>
              <a:t>✓</a:t>
            </a:r>
          </a:p>
          <a:p>
            <a:r>
              <a:rPr lang="en-GB" sz="1400" dirty="0"/>
              <a:t>4	This read is unmapped				</a:t>
            </a:r>
            <a:r>
              <a:rPr lang="en-GB" sz="1400" dirty="0">
                <a:solidFill>
                  <a:srgbClr val="FF0000"/>
                </a:solidFill>
              </a:rPr>
              <a:t>✗</a:t>
            </a:r>
          </a:p>
          <a:p>
            <a:r>
              <a:rPr lang="en-GB" sz="1400" dirty="0"/>
              <a:t>8	Mate is unmapped					</a:t>
            </a:r>
            <a:r>
              <a:rPr lang="en-GB" sz="1400" dirty="0">
                <a:solidFill>
                  <a:srgbClr val="FF0000"/>
                </a:solidFill>
              </a:rPr>
              <a:t>✗</a:t>
            </a:r>
          </a:p>
          <a:p>
            <a:r>
              <a:rPr lang="en-GB" sz="1400" dirty="0"/>
              <a:t>16	This read maps to reverse strand		</a:t>
            </a:r>
            <a:r>
              <a:rPr lang="en-GB" sz="1400" dirty="0">
                <a:solidFill>
                  <a:srgbClr val="FF0000"/>
                </a:solidFill>
              </a:rPr>
              <a:t>✗</a:t>
            </a:r>
          </a:p>
          <a:p>
            <a:r>
              <a:rPr lang="en-GB" sz="1400" dirty="0"/>
              <a:t>32	Mate maps to reverse strand			</a:t>
            </a:r>
            <a:r>
              <a:rPr lang="en-GB" sz="1400" dirty="0">
                <a:solidFill>
                  <a:srgbClr val="00B050"/>
                </a:solidFill>
              </a:rPr>
              <a:t>✓</a:t>
            </a:r>
          </a:p>
          <a:p>
            <a:r>
              <a:rPr lang="en-GB" sz="1400" dirty="0"/>
              <a:t>64	This is R1 / first mate				</a:t>
            </a:r>
            <a:r>
              <a:rPr lang="en-GB" sz="1400" dirty="0">
                <a:solidFill>
                  <a:srgbClr val="00B050"/>
                </a:solidFill>
              </a:rPr>
              <a:t>✓</a:t>
            </a:r>
          </a:p>
          <a:p>
            <a:r>
              <a:rPr lang="en-GB" sz="1400" dirty="0"/>
              <a:t>128	This is R2 / second mate				</a:t>
            </a:r>
            <a:r>
              <a:rPr lang="en-GB" sz="1400" dirty="0">
                <a:solidFill>
                  <a:srgbClr val="FF0000"/>
                </a:solidFill>
              </a:rPr>
              <a:t>✗</a:t>
            </a:r>
          </a:p>
        </p:txBody>
      </p:sp>
    </p:spTree>
    <p:extLst>
      <p:ext uri="{BB962C8B-B14F-4D97-AF65-F5344CB8AC3E}">
        <p14:creationId xmlns:p14="http://schemas.microsoft.com/office/powerpoint/2010/main" val="855194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/>
      <p:bldP spid="4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49FA2-DAB6-0F29-0D60-DC8D3878E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056BE2-CA09-38D9-821F-6A2D650E2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SAM/BAM format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5D683E-977A-5A18-6941-205654ADCB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25/09/26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D5819A-BFF6-5329-9D54-651B87A69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45773" y="6356350"/>
            <a:ext cx="4114800" cy="365125"/>
          </a:xfrm>
        </p:spPr>
        <p:txBody>
          <a:bodyPr/>
          <a:lstStyle/>
          <a:p>
            <a:r>
              <a:rPr lang="en-GB" dirty="0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999D6F-BC1B-5D57-AF8D-39B5E2FC6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12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85E6CF-89B8-1C63-DB91-F5DD4B59D12B}"/>
              </a:ext>
            </a:extLst>
          </p:cNvPr>
          <p:cNvSpPr txBox="1"/>
          <p:nvPr/>
        </p:nvSpPr>
        <p:spPr>
          <a:xfrm>
            <a:off x="135924" y="641909"/>
            <a:ext cx="1192015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ERR11479310.7235242     99      NZ_AP026446.1   119     23      34M6I110M       =       195     226     ATTGAAAAAGAAATCTTGGCGCTAGTCAAACAAAATCCTAAAGTTAGCCTCATAGAATATGAAAATTACTTTAGCCAACTCAAATACAACCCTAACG	FFFFFFF:FFF:FFFFFFFFFFFFFF:FF:FFF,FF:FFFFFFF:FFF:FFFFFFF:FFFF:FFFF:F,FFFFFFF:FFFFF:FFFFFF:F,FFFF,	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AS:i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:-64        XN:i:0  XM:i:9  XO:i:1  XG:i:6  NM:i:15 MD:Z:24A8G16G10G3G5G35C11C10T13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YS:i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:-25        YT:Z:CP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5D5FD45-FDFC-2719-1FB0-00AAA8611ED5}"/>
              </a:ext>
            </a:extLst>
          </p:cNvPr>
          <p:cNvSpPr txBox="1"/>
          <p:nvPr/>
        </p:nvSpPr>
        <p:spPr>
          <a:xfrm>
            <a:off x="134470" y="2013274"/>
            <a:ext cx="10353418" cy="34163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dirty="0"/>
              <a:t>Field			Value					Description</a:t>
            </a:r>
          </a:p>
          <a:p>
            <a:r>
              <a:rPr lang="en-GB" dirty="0"/>
              <a:t>QNAME		ERR11479310.7235242		Original read identifier</a:t>
            </a:r>
          </a:p>
          <a:p>
            <a:r>
              <a:rPr lang="en-GB" dirty="0"/>
              <a:t>FLAG		99						Bit-coded information about pairing, strand and alignment status</a:t>
            </a:r>
          </a:p>
          <a:p>
            <a:r>
              <a:rPr lang="en-GB" dirty="0"/>
              <a:t>RNAME		NZ_AP026446.1			Reference sequence/chromosome</a:t>
            </a:r>
          </a:p>
          <a:p>
            <a:r>
              <a:rPr lang="en-GB" dirty="0"/>
              <a:t>POS			119						1-based leftmost aligned position</a:t>
            </a:r>
          </a:p>
          <a:p>
            <a:r>
              <a:rPr lang="en-GB" dirty="0"/>
              <a:t>MAPQ		23						Confidence in the reported genomic placement</a:t>
            </a:r>
          </a:p>
          <a:p>
            <a:r>
              <a:rPr lang="en-GB" dirty="0"/>
              <a:t>CIGAR		34M6I110M				Structure of the alignment</a:t>
            </a:r>
          </a:p>
          <a:p>
            <a:r>
              <a:rPr lang="en-GB" dirty="0"/>
              <a:t>RNEXT		=						Mate maps to the same reference sequence</a:t>
            </a:r>
          </a:p>
          <a:p>
            <a:r>
              <a:rPr lang="en-GB" dirty="0"/>
              <a:t>PNEXT		195						Leftmost mapping position of the mate</a:t>
            </a:r>
          </a:p>
          <a:p>
            <a:r>
              <a:rPr lang="en-GB" dirty="0"/>
              <a:t>TLEN		226						Inferred outer template/fragment length</a:t>
            </a:r>
          </a:p>
          <a:p>
            <a:r>
              <a:rPr lang="en-GB" dirty="0"/>
              <a:t>SEQ			ATTGAAAA...				Read sequence</a:t>
            </a:r>
          </a:p>
          <a:p>
            <a:r>
              <a:rPr lang="en-GB" dirty="0"/>
              <a:t>QUAL		FFFFFF...					Original per-base Phred qualities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92EE075-5D9E-275E-1F1E-6167D9F7354C}"/>
              </a:ext>
            </a:extLst>
          </p:cNvPr>
          <p:cNvSpPr txBox="1"/>
          <p:nvPr/>
        </p:nvSpPr>
        <p:spPr>
          <a:xfrm>
            <a:off x="134470" y="1623201"/>
            <a:ext cx="8137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dirty="0"/>
              <a:t>SAM contains </a:t>
            </a:r>
            <a:r>
              <a:rPr lang="en-IT" b="1" dirty="0"/>
              <a:t>11 mandatory fields followed by optional/aligner specific fields: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1BB522-F2D3-E309-6DA3-3D566099D92E}"/>
              </a:ext>
            </a:extLst>
          </p:cNvPr>
          <p:cNvSpPr txBox="1"/>
          <p:nvPr/>
        </p:nvSpPr>
        <p:spPr>
          <a:xfrm>
            <a:off x="134470" y="5569760"/>
            <a:ext cx="6311536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IT" dirty="0">
                <a:solidFill>
                  <a:srgbClr val="92D050"/>
                </a:solidFill>
              </a:rPr>
              <a:t>M</a:t>
            </a:r>
            <a:r>
              <a:rPr lang="en-GB" dirty="0">
                <a:solidFill>
                  <a:srgbClr val="92D050"/>
                </a:solidFill>
              </a:rPr>
              <a:t>a</a:t>
            </a:r>
            <a:r>
              <a:rPr lang="en-IT" dirty="0">
                <a:solidFill>
                  <a:srgbClr val="92D050"/>
                </a:solidFill>
              </a:rPr>
              <a:t>pping error probability – aligner defined given the metric used!</a:t>
            </a:r>
          </a:p>
          <a:p>
            <a:r>
              <a:rPr lang="en-IT" dirty="0"/>
              <a:t>MAPQ ​∼−10log10​P(mapping is wrong) </a:t>
            </a:r>
            <a:r>
              <a:rPr lang="en-GB" dirty="0"/>
              <a:t>I</a:t>
            </a:r>
            <a:r>
              <a:rPr lang="en-IT" dirty="0"/>
              <a:t>.e 23 = 10</a:t>
            </a:r>
            <a:r>
              <a:rPr lang="en-IT" baseline="30000" dirty="0"/>
              <a:t>-23/10 </a:t>
            </a:r>
            <a:endParaRPr lang="en-GB" baseline="30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108BDF-2910-B370-7F30-18E95AB94443}"/>
              </a:ext>
            </a:extLst>
          </p:cNvPr>
          <p:cNvSpPr txBox="1"/>
          <p:nvPr/>
        </p:nvSpPr>
        <p:spPr>
          <a:xfrm>
            <a:off x="6628697" y="5525353"/>
            <a:ext cx="45727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T" dirty="0"/>
              <a:t>CIGAR represent alignment geometry:</a:t>
            </a:r>
          </a:p>
          <a:p>
            <a:endParaRPr lang="en-IT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15771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E8F7D-F955-D2AE-D31F-3766A82E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851FE-F8FD-0BB8-6C93-1D95D9F72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SAM/BAM format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F75C43-7D8E-4FC8-2915-B538208A77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25/09/26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8B1D9B-CD98-DD60-E0E4-32187DCE76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45773" y="6356350"/>
            <a:ext cx="4114800" cy="365125"/>
          </a:xfrm>
        </p:spPr>
        <p:txBody>
          <a:bodyPr/>
          <a:lstStyle/>
          <a:p>
            <a:r>
              <a:rPr lang="en-GB" dirty="0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2FEB2B-CDD1-0C22-B608-7AD6DAA77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13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2AAC2F-1460-8E56-9372-43D47DA747BF}"/>
              </a:ext>
            </a:extLst>
          </p:cNvPr>
          <p:cNvSpPr txBox="1"/>
          <p:nvPr/>
        </p:nvSpPr>
        <p:spPr>
          <a:xfrm>
            <a:off x="135924" y="641909"/>
            <a:ext cx="1192015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ERR11479310.7235242     99      NZ_AP026446.1   119     23      34M6I110M       =       195     226     ATTGAAAAAGAAATCTTGGCGCTAGTCAAACAAAATCCTAAAGTTAGCCTCATAGAATATGAAAATTACTTTAGCCAACTCAAATACAACCCTAACG	FFFFFFF:FFF:FFFFFFFFFFFFFF:FF:FFF,FF:FFFFFFF:FFF:FFFFFFF:FFFF:FFFF:F,FFFFFFF:FFFFF:FFFFFF:F,FFFF,	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AS:i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:-64        XN:i:0  XM:i:9  XO:i:1  XG:i:6  NM:i:15 MD:Z:24A8G16G10G3G5G35C11C10T13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YS:i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:-25        YT:Z:CP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98D9A13-67F6-BD86-23D0-3AD697C2C849}"/>
              </a:ext>
            </a:extLst>
          </p:cNvPr>
          <p:cNvSpPr txBox="1"/>
          <p:nvPr/>
        </p:nvSpPr>
        <p:spPr>
          <a:xfrm>
            <a:off x="134470" y="2013274"/>
            <a:ext cx="10353418" cy="34163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dirty="0"/>
              <a:t>Field			Value					Description</a:t>
            </a:r>
          </a:p>
          <a:p>
            <a:r>
              <a:rPr lang="en-GB" dirty="0"/>
              <a:t>QNAME		ERR11479310.7235242		Original read identifier</a:t>
            </a:r>
          </a:p>
          <a:p>
            <a:r>
              <a:rPr lang="en-GB" dirty="0"/>
              <a:t>FLAG		99						Bit-coded information about pairing, strand and alignment status</a:t>
            </a:r>
          </a:p>
          <a:p>
            <a:r>
              <a:rPr lang="en-GB" dirty="0"/>
              <a:t>RNAME		NZ_AP026446.1			Reference sequence/chromosome</a:t>
            </a:r>
          </a:p>
          <a:p>
            <a:r>
              <a:rPr lang="en-GB" dirty="0"/>
              <a:t>POS			119						1-based leftmost aligned position</a:t>
            </a:r>
          </a:p>
          <a:p>
            <a:r>
              <a:rPr lang="en-GB" dirty="0"/>
              <a:t>MAPQ		23						Confidence in the reported genomic placement</a:t>
            </a:r>
          </a:p>
          <a:p>
            <a:r>
              <a:rPr lang="en-GB" dirty="0"/>
              <a:t>CIGAR		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34M6I110M</a:t>
            </a:r>
            <a:r>
              <a:rPr lang="en-GB" dirty="0"/>
              <a:t>				Structure of the alignment</a:t>
            </a:r>
          </a:p>
          <a:p>
            <a:r>
              <a:rPr lang="en-GB" dirty="0"/>
              <a:t>RNEXT		=						Mate maps to the same reference sequence</a:t>
            </a:r>
          </a:p>
          <a:p>
            <a:r>
              <a:rPr lang="en-GB" dirty="0"/>
              <a:t>PNEXT		195						Leftmost mapping position of the mate</a:t>
            </a:r>
          </a:p>
          <a:p>
            <a:r>
              <a:rPr lang="en-GB" dirty="0"/>
              <a:t>TLEN		226						Inferred outer template/fragment length</a:t>
            </a:r>
          </a:p>
          <a:p>
            <a:r>
              <a:rPr lang="en-GB" dirty="0"/>
              <a:t>SEQ			ATTGAAAA...				Read sequence</a:t>
            </a:r>
          </a:p>
          <a:p>
            <a:r>
              <a:rPr lang="en-GB" dirty="0"/>
              <a:t>QUAL		FFFFFF...					Original per-base Phred qualities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53B258C-8DAF-E406-0E5F-08F30C9AE6D9}"/>
              </a:ext>
            </a:extLst>
          </p:cNvPr>
          <p:cNvSpPr txBox="1"/>
          <p:nvPr/>
        </p:nvSpPr>
        <p:spPr>
          <a:xfrm>
            <a:off x="134470" y="1623201"/>
            <a:ext cx="8137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dirty="0"/>
              <a:t>SAM contains </a:t>
            </a:r>
            <a:r>
              <a:rPr lang="en-IT" b="1" dirty="0"/>
              <a:t>11 mandatory fields followed by optional/aligner specific fields: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AD0086-5172-6275-3A07-687F1673A5B1}"/>
              </a:ext>
            </a:extLst>
          </p:cNvPr>
          <p:cNvSpPr txBox="1"/>
          <p:nvPr/>
        </p:nvSpPr>
        <p:spPr>
          <a:xfrm>
            <a:off x="201732" y="5508297"/>
            <a:ext cx="7039328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IT" dirty="0">
                <a:solidFill>
                  <a:srgbClr val="92D050"/>
                </a:solidFill>
              </a:rPr>
              <a:t>CIGAR</a:t>
            </a:r>
            <a:r>
              <a:rPr lang="en-IT" dirty="0"/>
              <a:t> represent alignment geometry:  As bowtie allows gap-alignment by default! </a:t>
            </a:r>
            <a:r>
              <a:rPr lang="en-GB" dirty="0"/>
              <a:t>S</a:t>
            </a:r>
            <a:r>
              <a:rPr lang="en-IT" dirty="0"/>
              <a:t>o </a:t>
            </a:r>
            <a:r>
              <a:rPr lang="en-GB" dirty="0"/>
              <a:t>its scoring model allows mismatches and insertions/deletions when they give the best-scoring alignment.</a:t>
            </a:r>
            <a:r>
              <a:rPr lang="en-IT" dirty="0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5D982D-90CB-C9B7-C907-2F98B89B5E9A}"/>
              </a:ext>
            </a:extLst>
          </p:cNvPr>
          <p:cNvSpPr txBox="1"/>
          <p:nvPr/>
        </p:nvSpPr>
        <p:spPr>
          <a:xfrm>
            <a:off x="4203308" y="4044599"/>
            <a:ext cx="6971780" cy="138499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READ       ─────────────────────────────────────────────────────────────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|&lt;--34--&gt;|IIIIII|&lt;-------------------110-------------------&gt;|</a:t>
            </a:r>
          </a:p>
          <a:p>
            <a:endParaRPr lang="en-GB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REFERENCE  ─────────        ─────────────────────────────────────────────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^^^^^^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6-bp insertion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relative to reference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2F94D9-CA36-CE69-ACB7-EAB225465290}"/>
              </a:ext>
            </a:extLst>
          </p:cNvPr>
          <p:cNvSpPr txBox="1"/>
          <p:nvPr/>
        </p:nvSpPr>
        <p:spPr>
          <a:xfrm>
            <a:off x="7442063" y="5525353"/>
            <a:ext cx="436687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>
                <a:solidFill>
                  <a:srgbClr val="FFC000"/>
                </a:solidFill>
              </a:rPr>
              <a:t>For Bacterial this is quite convenient!</a:t>
            </a:r>
          </a:p>
          <a:p>
            <a:r>
              <a:rPr lang="en-GB" i="1" dirty="0">
                <a:solidFill>
                  <a:srgbClr val="FFC000"/>
                </a:solidFill>
              </a:rPr>
              <a:t>sequenced strain often differs from the chosen reference by SNPs and small indels</a:t>
            </a:r>
          </a:p>
        </p:txBody>
      </p:sp>
    </p:spTree>
    <p:extLst>
      <p:ext uri="{BB962C8B-B14F-4D97-AF65-F5344CB8AC3E}">
        <p14:creationId xmlns:p14="http://schemas.microsoft.com/office/powerpoint/2010/main" val="1449800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089EE-04E9-A8FC-D474-97BECA1F1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13F74-7D53-286B-FD26-28325FA40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SAM/BAM format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7E446B-0B4D-4DA4-E89D-B798DD928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14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74ADAD-ACAD-9567-7249-1A110BAEDD46}"/>
              </a:ext>
            </a:extLst>
          </p:cNvPr>
          <p:cNvSpPr txBox="1"/>
          <p:nvPr/>
        </p:nvSpPr>
        <p:spPr>
          <a:xfrm>
            <a:off x="135924" y="641909"/>
            <a:ext cx="1192015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ERR11479310.7235242     99      NZ_AP026446.1   119     23      34M6I110M       =       195     226     ATTGAAAAAGAAATCTTGGCGCTAGTCAAACAAAATCCTAAAGTTAGCCTCATAGAATATGAAAATTACTTTAGCCAACTCAAATACAACCCTAACG	FFFFFFF:FFF:FFFFFFFFFFFFFF:FF:FFF,FF:FFFFFFF:FFF:FFFFFFF:FFFF:FFFF:F,FFFFFFF:FFFFF:FFFFFF:F,FFFF,	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AS:i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:-64        XN:i:0  XM:i:9  XO:i:1  XG:i:6  NM:i:15 MD:Z:24A8G16G10G3G5G35C11C10T13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YS:i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:-25        YT:Z:CP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58085EB-D9B3-CDD0-64BF-99754FD41EBE}"/>
              </a:ext>
            </a:extLst>
          </p:cNvPr>
          <p:cNvSpPr txBox="1"/>
          <p:nvPr/>
        </p:nvSpPr>
        <p:spPr>
          <a:xfrm>
            <a:off x="134470" y="2013274"/>
            <a:ext cx="10353418" cy="34163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dirty="0"/>
              <a:t>Field			Value					Description</a:t>
            </a:r>
          </a:p>
          <a:p>
            <a:r>
              <a:rPr lang="en-GB" dirty="0"/>
              <a:t>QNAME		ERR11479310.7235242		Original read identifier</a:t>
            </a:r>
          </a:p>
          <a:p>
            <a:r>
              <a:rPr lang="en-GB" dirty="0"/>
              <a:t>FLAG		99						Bit-coded information about pairing, strand and alignment status</a:t>
            </a:r>
          </a:p>
          <a:p>
            <a:r>
              <a:rPr lang="en-GB" dirty="0"/>
              <a:t>RNAME		NZ_AP026446.1			Reference sequence/chromosome</a:t>
            </a:r>
          </a:p>
          <a:p>
            <a:r>
              <a:rPr lang="en-GB" dirty="0"/>
              <a:t>POS			119						1-based leftmost aligned position</a:t>
            </a:r>
          </a:p>
          <a:p>
            <a:r>
              <a:rPr lang="en-GB" dirty="0"/>
              <a:t>MAPQ		23						Confidence in the reported genomic placement</a:t>
            </a:r>
          </a:p>
          <a:p>
            <a:r>
              <a:rPr lang="en-GB" dirty="0"/>
              <a:t>CIGAR		34M6I110M				Structure of the alignment</a:t>
            </a:r>
          </a:p>
          <a:p>
            <a:r>
              <a:rPr lang="en-GB" dirty="0"/>
              <a:t>RNEXT		=						Mate maps to the same reference sequence</a:t>
            </a:r>
          </a:p>
          <a:p>
            <a:r>
              <a:rPr lang="en-GB" dirty="0"/>
              <a:t>PNEXT		195						Leftmost mapping position of the mate</a:t>
            </a:r>
          </a:p>
          <a:p>
            <a:r>
              <a:rPr lang="en-GB" dirty="0"/>
              <a:t>TLEN		226						Inferred outer template/fragment length</a:t>
            </a:r>
          </a:p>
          <a:p>
            <a:r>
              <a:rPr lang="en-GB" dirty="0"/>
              <a:t>SEQ			ATTGAAAA...				Read sequence</a:t>
            </a:r>
          </a:p>
          <a:p>
            <a:r>
              <a:rPr lang="en-GB" dirty="0"/>
              <a:t>QUAL		FFFFFF...					Original per-base Phred qualities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7A7AC60-8768-87D3-145F-7B3E77AB9B6C}"/>
              </a:ext>
            </a:extLst>
          </p:cNvPr>
          <p:cNvSpPr txBox="1"/>
          <p:nvPr/>
        </p:nvSpPr>
        <p:spPr>
          <a:xfrm>
            <a:off x="134470" y="1623201"/>
            <a:ext cx="8137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dirty="0"/>
              <a:t>SAM contains </a:t>
            </a:r>
            <a:r>
              <a:rPr lang="en-IT" b="1" dirty="0"/>
              <a:t>11 mandatory fields followed by optional/aligner specific fields:</a:t>
            </a:r>
            <a:endParaRPr lang="en-GB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562384-060B-A0FF-6D74-EA01AB60C79C}"/>
              </a:ext>
            </a:extLst>
          </p:cNvPr>
          <p:cNvSpPr txBox="1"/>
          <p:nvPr/>
        </p:nvSpPr>
        <p:spPr>
          <a:xfrm>
            <a:off x="134470" y="5466325"/>
            <a:ext cx="9429660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92D050"/>
                </a:solidFill>
              </a:rPr>
              <a:t>RNEXT, PNEXT,TLEN: </a:t>
            </a:r>
            <a:r>
              <a:rPr lang="en-GB" dirty="0"/>
              <a:t>in PE mode these describe the mate position relative to the read of interest.</a:t>
            </a:r>
          </a:p>
          <a:p>
            <a:r>
              <a:rPr lang="en-GB" dirty="0"/>
              <a:t>RNEXT – chromosome info for the mate</a:t>
            </a:r>
          </a:p>
          <a:p>
            <a:r>
              <a:rPr lang="en-GB" dirty="0"/>
              <a:t>PNEXT – start position for the mate</a:t>
            </a:r>
          </a:p>
          <a:p>
            <a:r>
              <a:rPr lang="en-GB" dirty="0"/>
              <a:t>TLEN –  total inferred length of the PE fragment</a:t>
            </a:r>
          </a:p>
        </p:txBody>
      </p:sp>
    </p:spTree>
    <p:extLst>
      <p:ext uri="{BB962C8B-B14F-4D97-AF65-F5344CB8AC3E}">
        <p14:creationId xmlns:p14="http://schemas.microsoft.com/office/powerpoint/2010/main" val="1443677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DB364-D2AF-447F-F706-7F25AF562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6FCC1-CE09-9B77-9445-5125DD5CB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SAM/BAM format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A3B115-7026-C26C-9220-EFB878B24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25/09/26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A936CB-7819-1FD2-0542-FFC242321F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C5698-068F-7AD3-1852-D1523C125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15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F76177-C300-F8CB-2E24-CFF51C677765}"/>
              </a:ext>
            </a:extLst>
          </p:cNvPr>
          <p:cNvSpPr txBox="1"/>
          <p:nvPr/>
        </p:nvSpPr>
        <p:spPr>
          <a:xfrm>
            <a:off x="135924" y="641909"/>
            <a:ext cx="1192015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ERR11479310.7235242     99      NZ_AP026446.1   119     23      34M6I110M       =       195     226     ATTGAAAAAGAAATCTTGGCGCTAGTCAAACAAAATCCTAAAGTTAGCCTCATAGAATATGAAAATTACTTTAGCCAACTCAAATACAACCCTAACG	FFFFFFF:FFF:FFFFFFFFFFFFFF:FF:FFF,FF:FFFFFFF:FFF:FFFFFFF:FFFF:FFFF:F,FFFFFFF:FFFFF:FFFFFF:F,FFFF,	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AS:i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:-64        XN:i:0  XM:i:9  XO:i:1  XG:i:6  NM:i:15 MD:Z:24A8G16G10G3G5G35C11C10T13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YS:i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:-25        YT:Z:CP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D764A8A-0513-CA7C-7055-4C3644AD78BD}"/>
              </a:ext>
            </a:extLst>
          </p:cNvPr>
          <p:cNvSpPr txBox="1"/>
          <p:nvPr/>
        </p:nvSpPr>
        <p:spPr>
          <a:xfrm>
            <a:off x="134470" y="1623201"/>
            <a:ext cx="86798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dirty="0"/>
              <a:t>Bowtie2 optional SAM tags: Additional columns in the SAM are optional and aligner specific: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260885-3562-7E13-DC01-BBBF4CCB069A}"/>
              </a:ext>
            </a:extLst>
          </p:cNvPr>
          <p:cNvSpPr txBox="1"/>
          <p:nvPr/>
        </p:nvSpPr>
        <p:spPr>
          <a:xfrm>
            <a:off x="235312" y="2122366"/>
            <a:ext cx="7244804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/>
              <a:t>Tag		Value		Meaning</a:t>
            </a:r>
          </a:p>
          <a:p>
            <a:endParaRPr lang="en-GB" b="1" i="1" dirty="0"/>
          </a:p>
          <a:p>
            <a:r>
              <a:rPr lang="en-GB" dirty="0" err="1"/>
              <a:t>AS:i</a:t>
            </a:r>
            <a:r>
              <a:rPr lang="en-GB" dirty="0"/>
              <a:t>		-64			Alignment score for this read</a:t>
            </a:r>
          </a:p>
          <a:p>
            <a:r>
              <a:rPr lang="en-GB" dirty="0" err="1"/>
              <a:t>XM:i</a:t>
            </a:r>
            <a:r>
              <a:rPr lang="en-GB" dirty="0"/>
              <a:t>		9			Number of mismatches</a:t>
            </a:r>
          </a:p>
          <a:p>
            <a:r>
              <a:rPr lang="en-GB" dirty="0" err="1"/>
              <a:t>XO:i</a:t>
            </a:r>
            <a:r>
              <a:rPr lang="en-GB" dirty="0"/>
              <a:t>		1			Number of gap openings</a:t>
            </a:r>
          </a:p>
          <a:p>
            <a:r>
              <a:rPr lang="en-GB" dirty="0"/>
              <a:t>XG:i		6			Number of gap extensions</a:t>
            </a:r>
          </a:p>
          <a:p>
            <a:r>
              <a:rPr lang="en-GB" dirty="0" err="1"/>
              <a:t>NM:i</a:t>
            </a:r>
            <a:r>
              <a:rPr lang="en-GB" dirty="0"/>
              <a:t>	15			Edit distance from reference</a:t>
            </a:r>
          </a:p>
          <a:p>
            <a:r>
              <a:rPr lang="en-GB" dirty="0" err="1"/>
              <a:t>XN:i</a:t>
            </a:r>
            <a:r>
              <a:rPr lang="en-GB" dirty="0"/>
              <a:t>		0			Ambiguous reference bases overlapped</a:t>
            </a:r>
          </a:p>
          <a:p>
            <a:r>
              <a:rPr lang="en-GB" dirty="0"/>
              <a:t>MD:Z	24A8…		Reference mismatches/deletions encoded explicitly</a:t>
            </a:r>
          </a:p>
          <a:p>
            <a:r>
              <a:rPr lang="en-GB" dirty="0" err="1"/>
              <a:t>YS:i</a:t>
            </a:r>
            <a:r>
              <a:rPr lang="en-GB" dirty="0"/>
              <a:t>		-25			Alignment score of the mate</a:t>
            </a:r>
          </a:p>
          <a:p>
            <a:r>
              <a:rPr lang="en-GB" dirty="0"/>
              <a:t>YT:Z	CP			Concordantly aligned pair</a:t>
            </a:r>
          </a:p>
        </p:txBody>
      </p:sp>
    </p:spTree>
    <p:extLst>
      <p:ext uri="{BB962C8B-B14F-4D97-AF65-F5344CB8AC3E}">
        <p14:creationId xmlns:p14="http://schemas.microsoft.com/office/powerpoint/2010/main" val="10727169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FA1D0-1702-0AB4-E396-949592E89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470" y="122282"/>
            <a:ext cx="12192000" cy="1867156"/>
          </a:xfrm>
        </p:spPr>
        <p:txBody>
          <a:bodyPr>
            <a:normAutofit fontScale="90000"/>
          </a:bodyPr>
          <a:lstStyle/>
          <a:p>
            <a:r>
              <a:rPr lang="en-IT" dirty="0"/>
              <a:t>Before counting..</a:t>
            </a:r>
            <a:br>
              <a:rPr lang="en-IT" dirty="0"/>
            </a:br>
            <a:r>
              <a:rPr lang="en-IT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Strandedness should come from library provenance—and can be checked empirically</a:t>
            </a:r>
            <a:endParaRPr lang="en-GB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A1BF35-9DCC-4EC4-A5DD-064EC55EC3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25/09/26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2AB3B6-D96E-70FC-A8FB-8BD44BE911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6E7971-D93C-8EF6-F0FD-6C6D54A30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16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CA5627-BDBF-B93A-8126-4384FD2A93F4}"/>
              </a:ext>
            </a:extLst>
          </p:cNvPr>
          <p:cNvSpPr txBox="1"/>
          <p:nvPr/>
        </p:nvSpPr>
        <p:spPr>
          <a:xfrm>
            <a:off x="489734" y="2296738"/>
            <a:ext cx="1103912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From the M&amp;M of the paper:</a:t>
            </a:r>
          </a:p>
          <a:p>
            <a:endParaRPr lang="en-GB" dirty="0"/>
          </a:p>
          <a:p>
            <a:r>
              <a:rPr lang="en-GB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“The prokaryotic directional mRNA library preparation was performed at the </a:t>
            </a:r>
            <a:r>
              <a:rPr lang="en-GB" i="1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Novogene</a:t>
            </a:r>
            <a:r>
              <a:rPr lang="en-GB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Bioinformatics Technology Co. Ltd. (Cambridge, UK). The </a:t>
            </a:r>
            <a:r>
              <a:rPr lang="en-GB" b="1" i="1" dirty="0"/>
              <a:t>ribosomal RNA was removed </a:t>
            </a:r>
            <a:r>
              <a:rPr lang="en-GB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from the total RNA, followed by ethanol precipitation. After fragmentation, the </a:t>
            </a:r>
            <a:r>
              <a:rPr lang="en-GB" b="1" i="1" dirty="0"/>
              <a:t>first strand of cDNA was synthesised using random hexamer primers</a:t>
            </a:r>
            <a:r>
              <a:rPr lang="en-GB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During the </a:t>
            </a:r>
            <a:r>
              <a:rPr lang="en-GB" b="1" i="1" dirty="0"/>
              <a:t>second strand cDNA synthesis, </a:t>
            </a:r>
            <a:r>
              <a:rPr lang="en-GB" b="1" i="1" dirty="0" err="1"/>
              <a:t>dUTPs</a:t>
            </a:r>
            <a:r>
              <a:rPr lang="en-GB" b="1" i="1" dirty="0"/>
              <a:t> were replaced with dTTPs in the reaction buffer</a:t>
            </a:r>
            <a:r>
              <a:rPr lang="en-GB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The directional library was ready after end repair, A-tailing, adapter ligation, size selection, USER enzyme digestion, amplification, and purification. The library was checked with Qubit, RT-qPCR for quantification and a </a:t>
            </a:r>
            <a:r>
              <a:rPr lang="en-GB" i="1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bioanalyser</a:t>
            </a:r>
            <a:r>
              <a:rPr lang="en-GB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for size distribution detection.”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267AD1-BF83-0275-766A-6444B9575F66}"/>
              </a:ext>
            </a:extLst>
          </p:cNvPr>
          <p:cNvSpPr txBox="1"/>
          <p:nvPr/>
        </p:nvSpPr>
        <p:spPr>
          <a:xfrm>
            <a:off x="167101" y="5111374"/>
            <a:ext cx="118577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We expect read 1 to be in the </a:t>
            </a:r>
            <a:r>
              <a:rPr lang="en-GB" b="1" dirty="0">
                <a:solidFill>
                  <a:srgbClr val="FF0000"/>
                </a:solidFill>
              </a:rPr>
              <a:t>opposite</a:t>
            </a:r>
            <a:r>
              <a:rPr lang="en-GB" dirty="0"/>
              <a:t> orientation as the RNA! So we can count reads per gene in a strand specific manner.</a:t>
            </a:r>
          </a:p>
        </p:txBody>
      </p:sp>
    </p:spTree>
    <p:extLst>
      <p:ext uri="{BB962C8B-B14F-4D97-AF65-F5344CB8AC3E}">
        <p14:creationId xmlns:p14="http://schemas.microsoft.com/office/powerpoint/2010/main" val="42040804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C76DE-9C57-2D60-10B3-9060F2C58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T" dirty="0"/>
              <a:t>Metadata first, empirical validation when necessary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A20EDE-7593-C70A-7D8B-6BE93EECA0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25/09/26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728304-1515-9455-A444-6C8B6345BD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8AEF54-05D0-D7E6-BAA5-C5533981B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17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DD5DAF-3AC1-5D5F-D59B-020FA659CF67}"/>
              </a:ext>
            </a:extLst>
          </p:cNvPr>
          <p:cNvSpPr txBox="1"/>
          <p:nvPr/>
        </p:nvSpPr>
        <p:spPr>
          <a:xfrm>
            <a:off x="331573" y="1816443"/>
            <a:ext cx="110898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2000" dirty="0"/>
              <a:t>Run </a:t>
            </a:r>
            <a:r>
              <a:rPr lang="en-IT" sz="2000" dirty="0">
                <a:solidFill>
                  <a:srgbClr val="A72AA7"/>
                </a:solidFill>
                <a:hlinkClick r:id="rId2"/>
              </a:rPr>
              <a:t>infer_experiment.py </a:t>
            </a:r>
            <a:r>
              <a:rPr lang="en-IT" sz="2000" dirty="0"/>
              <a:t>on one representative BAM and reconcile the output with the library metadata.</a:t>
            </a:r>
            <a:endParaRPr lang="en-GB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99ED67-0912-273C-20EA-0DC3ED542ED7}"/>
              </a:ext>
            </a:extLst>
          </p:cNvPr>
          <p:cNvSpPr txBox="1"/>
          <p:nvPr/>
        </p:nvSpPr>
        <p:spPr>
          <a:xfrm>
            <a:off x="331573" y="1023356"/>
            <a:ext cx="620927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Aft>
                <a:spcPts val="750"/>
              </a:spcAft>
              <a:buNone/>
            </a:pPr>
            <a:r>
              <a:rPr lang="en-IT" sz="3200" b="0" i="0" dirty="0">
                <a:solidFill>
                  <a:schemeClr val="tx1"/>
                </a:solidFill>
                <a:effectLst/>
                <a:latin typeface="+mn-lt"/>
                <a:hlinkClick r:id="rId3"/>
              </a:rPr>
              <a:t>RSeQC</a:t>
            </a:r>
            <a:endParaRPr lang="en-IT" sz="3200" b="0" i="0" dirty="0">
              <a:solidFill>
                <a:srgbClr val="212224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C6E38A-6E9B-3601-637A-5B926E8C0A1E}"/>
              </a:ext>
            </a:extLst>
          </p:cNvPr>
          <p:cNvSpPr txBox="1"/>
          <p:nvPr/>
        </p:nvSpPr>
        <p:spPr>
          <a:xfrm>
            <a:off x="362824" y="2301292"/>
            <a:ext cx="9946954" cy="28623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For pair-end RNA-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 there are two different ways to strand reads (such as Illumina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ScriptSeq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protocol):</a:t>
            </a:r>
          </a:p>
          <a:p>
            <a:endParaRPr lang="en-GB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1++,1–,2+-,2-+</a:t>
            </a:r>
          </a:p>
          <a:p>
            <a:endParaRPr lang="en-GB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read1 mapped to ‘+’ strand indicates parental gene on ‘+’ strand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read1 mapped to ‘-’ strand indicates parental gene on ‘-’ strand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read2 mapped to ‘+’ strand indicates parental gene on ‘-’ strand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read2 mapped to ‘-’ strand indicates parental gene on ‘+’ strand</a:t>
            </a:r>
          </a:p>
          <a:p>
            <a:endParaRPr lang="en-GB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1+-,1-+,2++,2–</a:t>
            </a:r>
          </a:p>
          <a:p>
            <a:endParaRPr lang="en-GB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read1 mapped to ‘+’ strand indicates parental gene on ‘-’ strand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read1 mapped to ‘-’ strand indicates parental gene on ‘+’ strand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read2 mapped to ‘+’ strand indicates parental gene on ‘+’ strand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read2 mapped to ‘-’ strand indicates parental gene on ‘-’ strand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68C1DD0-FF08-DC85-91C1-7F5965072F47}"/>
              </a:ext>
            </a:extLst>
          </p:cNvPr>
          <p:cNvSpPr txBox="1"/>
          <p:nvPr/>
        </p:nvSpPr>
        <p:spPr>
          <a:xfrm>
            <a:off x="6684155" y="3036159"/>
            <a:ext cx="5419893" cy="18158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docker run --rm \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--user "$(id -u):$(id -g)" \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-v "$PWD:/work" \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-w /work \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docker.io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getwilds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rseqc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infer_experiment.py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-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results/day2_rnaseq/bam/WT_1.filtered.bam \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-r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reference_genome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genes.bed</a:t>
            </a: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DD006C-27AA-A6D4-A416-86D2E335737D}"/>
              </a:ext>
            </a:extLst>
          </p:cNvPr>
          <p:cNvSpPr txBox="1"/>
          <p:nvPr/>
        </p:nvSpPr>
        <p:spPr>
          <a:xfrm>
            <a:off x="331573" y="5436816"/>
            <a:ext cx="51609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hlinkClick r:id="rId4"/>
              </a:rPr>
              <a:t>BED format minimal</a:t>
            </a:r>
            <a:r>
              <a:rPr lang="en-GB" dirty="0"/>
              <a:t> we need tab separated file with: </a:t>
            </a:r>
          </a:p>
          <a:p>
            <a:r>
              <a:rPr lang="en-GB" dirty="0" err="1"/>
              <a:t>chrom</a:t>
            </a:r>
            <a:r>
              <a:rPr lang="en-GB" dirty="0"/>
              <a:t>, start, end, name, score, strand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C558431-6178-AA17-5582-5162CFA74A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4947" y="5248353"/>
            <a:ext cx="6397053" cy="1609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20403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C3E45-9C5E-91FB-E2A8-A170F78F1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4540"/>
          </a:xfrm>
        </p:spPr>
        <p:txBody>
          <a:bodyPr>
            <a:normAutofit/>
          </a:bodyPr>
          <a:lstStyle/>
          <a:p>
            <a:r>
              <a:rPr lang="en-IT" b="1" dirty="0"/>
              <a:t>Count reads per gene with featureCounts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CC127C-B567-67C7-FFCF-2912D5580D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8929" y="956048"/>
            <a:ext cx="11192435" cy="2071357"/>
          </a:xfrm>
        </p:spPr>
        <p:txBody>
          <a:bodyPr>
            <a:normAutofit lnSpcReduction="10000"/>
          </a:bodyPr>
          <a:lstStyle/>
          <a:p>
            <a:r>
              <a:rPr lang="en-GB" dirty="0"/>
              <a:t>Having defined the library strategy, we can now count the number of reads mapped to the H. pylori genome and crossing each annotated gene.</a:t>
            </a:r>
          </a:p>
          <a:p>
            <a:endParaRPr lang="en-GB" dirty="0"/>
          </a:p>
          <a:p>
            <a:r>
              <a:rPr lang="en-GB" dirty="0"/>
              <a:t>This can be done in number of ways here we use </a:t>
            </a:r>
            <a:r>
              <a:rPr lang="en-GB" dirty="0">
                <a:hlinkClick r:id="rId2"/>
              </a:rPr>
              <a:t>featureCouns</a:t>
            </a:r>
            <a:r>
              <a:rPr lang="en-GB" dirty="0"/>
              <a:t>. We can inspect the function with: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F0C14E-4611-01FF-B1AF-1EB0E55CC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25/09/26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92627C-C904-3A05-A015-BFF97E830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7705ED-4CEE-96E3-6889-E109E7155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18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3CF31A-B651-3F7F-D658-1858A11D3A03}"/>
              </a:ext>
            </a:extLst>
          </p:cNvPr>
          <p:cNvSpPr txBox="1"/>
          <p:nvPr/>
        </p:nvSpPr>
        <p:spPr>
          <a:xfrm>
            <a:off x="551908" y="3429000"/>
            <a:ext cx="4998484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chemeClr val="accent3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docker run --rm \</a:t>
            </a:r>
          </a:p>
          <a:p>
            <a:r>
              <a:rPr lang="en-GB" sz="1600" dirty="0">
                <a:solidFill>
                  <a:schemeClr val="accent3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--user "$(id -u):$(id -g)" \</a:t>
            </a:r>
          </a:p>
          <a:p>
            <a:r>
              <a:rPr lang="en-GB" sz="1600" dirty="0">
                <a:solidFill>
                  <a:schemeClr val="accent3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-v "$PWD:/work" \</a:t>
            </a:r>
          </a:p>
          <a:p>
            <a:r>
              <a:rPr lang="en-GB" sz="1600" dirty="0">
                <a:solidFill>
                  <a:schemeClr val="accent3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-w /work -it \</a:t>
            </a:r>
          </a:p>
          <a:p>
            <a:r>
              <a:rPr lang="en-GB" sz="1600" dirty="0">
                <a:solidFill>
                  <a:schemeClr val="accent3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GB" sz="1600" dirty="0" err="1">
                <a:solidFill>
                  <a:schemeClr val="accent3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docker.io</a:t>
            </a:r>
            <a:r>
              <a:rPr lang="en-GB" sz="1600" dirty="0">
                <a:solidFill>
                  <a:schemeClr val="accent3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GB" sz="1600" dirty="0" err="1">
                <a:solidFill>
                  <a:schemeClr val="accent3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fgualdr</a:t>
            </a:r>
            <a:r>
              <a:rPr lang="en-GB" sz="1600" dirty="0">
                <a:solidFill>
                  <a:schemeClr val="accent3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GB" sz="1600" dirty="0" err="1">
                <a:solidFill>
                  <a:schemeClr val="accent3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ngs-featurecounts</a:t>
            </a:r>
            <a:r>
              <a:rPr lang="en-GB" sz="1600" dirty="0">
                <a:solidFill>
                  <a:schemeClr val="accent3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GB" sz="1600" dirty="0">
                <a:solidFill>
                  <a:schemeClr val="accent3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bash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C7ED0C9-4A45-08F5-560E-06B0EF5AF6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0854" y="2820431"/>
            <a:ext cx="7521146" cy="4037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4123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52D9582F-442F-4BAB-230D-304DBE92789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5348" y="4411363"/>
            <a:ext cx="5721177" cy="570307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48F090-B322-1C15-5E79-ECDFB10B1A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25/09/26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7F3248-6843-F682-AF08-04268B9A3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B7D9BB-EB7A-781A-07E9-4676908AF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19</a:t>
            </a:fld>
            <a:endParaRPr lang="en-GB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9EFD23F-4790-91CD-05F7-BD2B06291967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10145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T" b="1"/>
              <a:t>Count reads per gene with featureCounts</a:t>
            </a:r>
            <a:endParaRPr lang="en-GB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4B9F822-6F7D-3269-D513-E3392E4F00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348" y="3397856"/>
            <a:ext cx="5721178" cy="91575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9CAB434-734F-1B9C-8684-8ADA7CA68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347" y="5094495"/>
            <a:ext cx="5721178" cy="53921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7BB2041-DF9B-DAA2-3DC8-06BAEFAA38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5991" y="4275816"/>
            <a:ext cx="5721178" cy="56214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DF8F5BF-9911-CB30-9208-B46FDD658C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1057789"/>
            <a:ext cx="5721178" cy="80592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2A1638A-180F-E184-DC23-F8B3CE30791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5998" y="1919473"/>
            <a:ext cx="5721178" cy="62363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A9A5860F-6B9B-97DA-0007-9C1A1F37E73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5994" y="2599407"/>
            <a:ext cx="5721178" cy="27842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666209D4-64B5-48A7-3098-59013C250E3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5991" y="2921080"/>
            <a:ext cx="5721178" cy="546553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9511345-5769-F1D2-3451-506EFB95A0E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5347" y="1057789"/>
            <a:ext cx="5721177" cy="1486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1198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9DDC00-C560-DC33-0725-817BF5D6EB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25/09/26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976027-7554-E6AB-83AA-36C0F1D374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F29066-F066-405F-44B4-EEF9CA4D1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20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F4D469-44DF-BE23-AC78-5C337677B294}"/>
              </a:ext>
            </a:extLst>
          </p:cNvPr>
          <p:cNvSpPr txBox="1"/>
          <p:nvPr/>
        </p:nvSpPr>
        <p:spPr>
          <a:xfrm>
            <a:off x="563129" y="136525"/>
            <a:ext cx="6950942" cy="61247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#!/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usr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/bin/env bash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set -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euo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pipefail</a:t>
            </a: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annotation="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reference_genome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/annotation.gff3"</a:t>
            </a:r>
          </a:p>
          <a:p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bam_dir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="results/day2_rnaseq/bam"</a:t>
            </a:r>
          </a:p>
          <a:p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counts_dir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="results/day2_rnaseq/counts"</a:t>
            </a:r>
          </a:p>
          <a:p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log_dir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="results/logs/day2"</a:t>
            </a:r>
          </a:p>
          <a:p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featurecounts_out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="${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counts_dir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}/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featureCounts_all_samples.txt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mkdir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-p "${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counts_dir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}" "${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log_dir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}"</a:t>
            </a:r>
          </a:p>
          <a:p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bam_files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=("${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bam_dir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}"/*.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filtered.bam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featureCounts \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-T 2 \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-p \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--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countReadPairs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-B \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-C \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-s 2 \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-t gene \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-g ID \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-a "${annotation}" \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-o "${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featurecounts_out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}" \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"${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bam_files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[@]}" \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2&gt;&amp;1 | tee "${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log_dir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}/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featureCounts_all_samples.log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echo "Wrote ${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featurecounts_out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2599A5-6312-32F5-8BB5-80E9214EA746}"/>
              </a:ext>
            </a:extLst>
          </p:cNvPr>
          <p:cNvSpPr txBox="1"/>
          <p:nvPr/>
        </p:nvSpPr>
        <p:spPr>
          <a:xfrm>
            <a:off x="4149970" y="2990027"/>
            <a:ext cx="7754984" cy="20313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docker run --rm \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 --user "$(id -u):$(id -g)" \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 -v "$PWD:/work" \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 -w /work \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docker.io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fgualdr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ngs-featurecounts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 bash scripts/day2_rnaseq/03_featurecounts_all_samples.sh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747308-1689-11CE-7F36-BCABE9D34D71}"/>
              </a:ext>
            </a:extLst>
          </p:cNvPr>
          <p:cNvSpPr txBox="1"/>
          <p:nvPr/>
        </p:nvSpPr>
        <p:spPr>
          <a:xfrm>
            <a:off x="10256108" y="2269003"/>
            <a:ext cx="15606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In the Terminal</a:t>
            </a:r>
          </a:p>
        </p:txBody>
      </p:sp>
    </p:spTree>
    <p:extLst>
      <p:ext uri="{BB962C8B-B14F-4D97-AF65-F5344CB8AC3E}">
        <p14:creationId xmlns:p14="http://schemas.microsoft.com/office/powerpoint/2010/main" val="1318567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605579-1E8F-8C32-A3AF-DCE989AB5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470" y="122282"/>
            <a:ext cx="12192000" cy="1495503"/>
          </a:xfrm>
        </p:spPr>
        <p:txBody>
          <a:bodyPr>
            <a:normAutofit/>
          </a:bodyPr>
          <a:lstStyle/>
          <a:p>
            <a:r>
              <a:rPr lang="en-IT" b="1" dirty="0"/>
              <a:t>From a count matrix to differential expression with DESeq2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9C1D46-A782-9934-F9BA-AF9AC536F4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074" y="1947189"/>
            <a:ext cx="11192435" cy="519627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IT" dirty="0"/>
              <a:t>Aim: Differential expression: effect size relative to biological variability using Deseq2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DAAD02-756F-83F3-9145-A8E7E52171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25/09/26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AB63F7-5057-5628-8E75-3961DE590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2F53A8-D8AC-12FA-97B3-1E61A47410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21</a:t>
            </a:fld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4E0143-7916-5223-2B80-0DB098A8D101}"/>
              </a:ext>
            </a:extLst>
          </p:cNvPr>
          <p:cNvSpPr txBox="1"/>
          <p:nvPr/>
        </p:nvSpPr>
        <p:spPr>
          <a:xfrm>
            <a:off x="1309513" y="2785117"/>
            <a:ext cx="4543774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dirty="0"/>
              <a:t>Deseq2 is an R library:</a:t>
            </a:r>
          </a:p>
          <a:p>
            <a:endParaRPr lang="en-GB" sz="2400" dirty="0"/>
          </a:p>
          <a:p>
            <a:r>
              <a:rPr lang="en-GB" sz="2400" dirty="0"/>
              <a:t>R libraries are none other than a set of pre-made functions that takes an input object and generate an output.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4904CD-D93E-D648-BFEF-BE571702BFFD}"/>
              </a:ext>
            </a:extLst>
          </p:cNvPr>
          <p:cNvSpPr txBox="1"/>
          <p:nvPr/>
        </p:nvSpPr>
        <p:spPr>
          <a:xfrm>
            <a:off x="6658231" y="3272129"/>
            <a:ext cx="4402552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Raw integer counts (input matrix)</a:t>
            </a:r>
          </a:p>
          <a:p>
            <a:pPr algn="ctr"/>
            <a:r>
              <a:rPr lang="en-IT" sz="2400" dirty="0"/>
              <a:t>↓</a:t>
            </a:r>
          </a:p>
          <a:p>
            <a:pPr algn="ctr"/>
            <a:r>
              <a:rPr lang="en-IT" sz="2400" dirty="0"/>
              <a:t>DEG calling</a:t>
            </a:r>
            <a:endParaRPr lang="en-GB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12FED0-743D-BA6D-4CF3-E438943D6073}"/>
              </a:ext>
            </a:extLst>
          </p:cNvPr>
          <p:cNvSpPr txBox="1"/>
          <p:nvPr/>
        </p:nvSpPr>
        <p:spPr>
          <a:xfrm>
            <a:off x="5967048" y="5093441"/>
            <a:ext cx="6224952" cy="6809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T" sz="1800" b="0" i="0" dirty="0">
                <a:solidFill>
                  <a:schemeClr val="tx1"/>
                </a:solidFill>
                <a:effectLst/>
                <a:latin typeface="+mn-lt"/>
              </a:rPr>
              <a:t>Love MI, Huber W, Anders S. </a:t>
            </a:r>
            <a:r>
              <a:rPr lang="en-IT" sz="1800" b="1" i="0" dirty="0">
                <a:solidFill>
                  <a:schemeClr val="tx1"/>
                </a:solidFill>
                <a:effectLst/>
                <a:latin typeface="+mn-lt"/>
              </a:rPr>
              <a:t>Moderated estimation of fold change and dispersion for RNA-seq data with DESeq2.</a:t>
            </a:r>
            <a:r>
              <a:rPr lang="en-IT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IT" sz="1800" b="0" i="1" dirty="0">
                <a:solidFill>
                  <a:schemeClr val="tx1"/>
                </a:solidFill>
                <a:effectLst/>
                <a:latin typeface="+mn-lt"/>
              </a:rPr>
              <a:t>Genome Biology</a:t>
            </a:r>
            <a:r>
              <a:rPr lang="en-IT" sz="1800" b="0" i="0" dirty="0">
                <a:solidFill>
                  <a:schemeClr val="tx1"/>
                </a:solidFill>
                <a:effectLst/>
                <a:latin typeface="+mn-lt"/>
              </a:rPr>
              <a:t> 15, 550 (2014). </a:t>
            </a:r>
            <a:r>
              <a:rPr lang="en-IT" sz="1800" b="0" i="0" u="sng" dirty="0">
                <a:solidFill>
                  <a:schemeClr val="tx1"/>
                </a:solidFill>
                <a:effectLst/>
                <a:latin typeface="+mn-lt"/>
                <a:hlinkClick r:id="rId2"/>
              </a:rPr>
              <a:t>doi:10.1186/s13059-014-0550-8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752839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D3C47-93E5-D34D-DBCF-FB9B9E2A0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Deseq2 WF: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917387-5B6B-ADEC-B3D9-1B60F5A65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25/09/26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EAA14B-FC42-490A-0721-12B408C13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06E59F-29A4-A429-2471-8ED326920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22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AEB5933-8DBE-A12A-DCD3-82119FCDDFCC}"/>
                  </a:ext>
                </a:extLst>
              </p:cNvPr>
              <p:cNvSpPr txBox="1"/>
              <p:nvPr/>
            </p:nvSpPr>
            <p:spPr>
              <a:xfrm>
                <a:off x="432577" y="1850852"/>
                <a:ext cx="10801480" cy="258532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IT" dirty="0"/>
                  <a:t>→ account for differences in library size (compute size factor)</a:t>
                </a:r>
                <a:br>
                  <a:rPr lang="en-IT" dirty="0"/>
                </a:br>
                <a:r>
                  <a:rPr lang="en-IT" dirty="0"/>
                  <a:t>→ </a:t>
                </a:r>
                <a:r>
                  <a:rPr lang="en-IT" b="1" dirty="0">
                    <a:solidFill>
                      <a:srgbClr val="FF0000"/>
                    </a:solidFill>
                  </a:rPr>
                  <a:t>fit a GLM</a:t>
                </a:r>
                <a:r>
                  <a:rPr lang="en-IT" dirty="0">
                    <a:solidFill>
                      <a:srgbClr val="FF0000"/>
                    </a:solidFill>
                  </a:rPr>
                  <a:t> </a:t>
                </a:r>
                <a:r>
                  <a:rPr lang="en-IT" dirty="0"/>
                  <a:t>describing the EXPECTED COUNT for each sample from the experimental design</a:t>
                </a:r>
              </a:p>
              <a:p>
                <a:r>
                  <a:rPr lang="en-IT" dirty="0"/>
                  <a:t>→ ask how much the OBSERVED COUNTS vary around those fitted expectations</a:t>
                </a:r>
              </a:p>
              <a:p>
                <a:r>
                  <a:rPr lang="en-IT" dirty="0"/>
                  <a:t>→ model that variability with a gene-specific NEGATIVE-BINOMIAL DISPERSION alpha_i</a:t>
                </a:r>
              </a:p>
              <a:p>
                <a:r>
                  <a:rPr lang="en-IT" dirty="0"/>
                  <a:t>→ </a:t>
                </a:r>
                <a:r>
                  <a:rPr lang="en-IT" b="1" dirty="0">
                    <a:solidFill>
                      <a:srgbClr val="FF0000"/>
                    </a:solidFill>
                  </a:rPr>
                  <a:t>stabilize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T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IT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IT" b="1" dirty="0">
                    <a:solidFill>
                      <a:srgbClr val="FF0000"/>
                    </a:solidFill>
                  </a:rPr>
                  <a:t> using information from all genes</a:t>
                </a:r>
                <a:br>
                  <a:rPr lang="en-IT" dirty="0"/>
                </a:br>
                <a:r>
                  <a:rPr lang="en-IT" dirty="0"/>
                  <a:t>→ 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T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IT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IT" dirty="0"/>
                  <a:t>+ fitted means + design + number of replicates to determine uncertainty of the coefficients </a:t>
                </a:r>
                <a:r>
                  <a:rPr lang="en-IT" b="1" dirty="0">
                    <a:solidFill>
                      <a:srgbClr val="FF0000"/>
                    </a:solidFill>
                  </a:rPr>
                  <a:t>SE(log2FC)</a:t>
                </a:r>
                <a:br>
                  <a:rPr lang="en-IT" dirty="0"/>
                </a:br>
                <a:r>
                  <a:rPr lang="en-IT" dirty="0"/>
                  <a:t>→ standardize the effect: </a:t>
                </a:r>
                <a:r>
                  <a:rPr lang="en-IT" dirty="0">
                    <a:solidFill>
                      <a:srgbClr val="FF0000"/>
                    </a:solidFill>
                  </a:rPr>
                  <a:t>z = log2FC / SE(log2FC)</a:t>
                </a:r>
              </a:p>
              <a:p>
                <a:r>
                  <a:rPr lang="en-IT" dirty="0"/>
                  <a:t>→ obtain a </a:t>
                </a:r>
                <a:r>
                  <a:rPr lang="en-IT" b="1" dirty="0">
                    <a:solidFill>
                      <a:srgbClr val="FF0000"/>
                    </a:solidFill>
                  </a:rPr>
                  <a:t>Wald-test p-value</a:t>
                </a:r>
                <a:br>
                  <a:rPr lang="en-IT" dirty="0">
                    <a:solidFill>
                      <a:srgbClr val="FF0000"/>
                    </a:solidFill>
                  </a:rPr>
                </a:br>
                <a:r>
                  <a:rPr lang="en-IT" dirty="0"/>
                  <a:t>→ correct across thousands of genes for </a:t>
                </a:r>
                <a:r>
                  <a:rPr lang="en-IT" b="1" dirty="0">
                    <a:solidFill>
                      <a:srgbClr val="FF0000"/>
                    </a:solidFill>
                  </a:rPr>
                  <a:t>multiple testing / FDR</a:t>
                </a:r>
                <a:endParaRPr lang="en-GB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AEB5933-8DBE-A12A-DCD3-82119FCDDF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577" y="1850852"/>
                <a:ext cx="10801480" cy="2585323"/>
              </a:xfrm>
              <a:prstGeom prst="rect">
                <a:avLst/>
              </a:prstGeom>
              <a:blipFill>
                <a:blip r:embed="rId2"/>
                <a:stretch>
                  <a:fillRect l="-352" t="-1463" r="-117" b="-243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93930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0EF261-8240-F469-A8C4-23FEE976D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5EAEF5-6ECB-5711-9CC0-B3943776C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470" y="122282"/>
            <a:ext cx="12192000" cy="1033278"/>
          </a:xfrm>
        </p:spPr>
        <p:txBody>
          <a:bodyPr>
            <a:normAutofit fontScale="90000"/>
          </a:bodyPr>
          <a:lstStyle/>
          <a:p>
            <a:r>
              <a:rPr lang="en-IT" b="1" dirty="0"/>
              <a:t>The experimental design: decide what the model should explain</a:t>
            </a:r>
            <a:r>
              <a:rPr lang="en-GB" dirty="0"/>
              <a:t>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1E14C-0C51-E4A7-7A71-1881235C4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25/09/26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330A5E-656A-B032-9C24-4148E9DCEA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CA0A6B-0138-1449-8E66-03DAC3229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23</a:t>
            </a:fld>
            <a:endParaRPr lang="en-GB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7C907B4-6032-92F9-64F2-0D7DF136A5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3427957"/>
              </p:ext>
            </p:extLst>
          </p:nvPr>
        </p:nvGraphicFramePr>
        <p:xfrm>
          <a:off x="4353120" y="958268"/>
          <a:ext cx="7182909" cy="508172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94303">
                  <a:extLst>
                    <a:ext uri="{9D8B030D-6E8A-4147-A177-3AD203B41FA5}">
                      <a16:colId xmlns:a16="http://schemas.microsoft.com/office/drawing/2014/main" val="1282357558"/>
                    </a:ext>
                  </a:extLst>
                </a:gridCol>
                <a:gridCol w="2394303">
                  <a:extLst>
                    <a:ext uri="{9D8B030D-6E8A-4147-A177-3AD203B41FA5}">
                      <a16:colId xmlns:a16="http://schemas.microsoft.com/office/drawing/2014/main" val="1292603320"/>
                    </a:ext>
                  </a:extLst>
                </a:gridCol>
                <a:gridCol w="2394303">
                  <a:extLst>
                    <a:ext uri="{9D8B030D-6E8A-4147-A177-3AD203B41FA5}">
                      <a16:colId xmlns:a16="http://schemas.microsoft.com/office/drawing/2014/main" val="613739051"/>
                    </a:ext>
                  </a:extLst>
                </a:gridCol>
              </a:tblGrid>
              <a:tr h="221392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T" sz="1400" b="1" dirty="0">
                          <a:solidFill>
                            <a:srgbClr val="FF0000"/>
                          </a:solidFill>
                          <a:effectLst/>
                        </a:rPr>
                        <a:t>Experimental structure</a:t>
                      </a:r>
                      <a:endParaRPr lang="en-IT" sz="1400" b="1" i="0" dirty="0">
                        <a:solidFill>
                          <a:srgbClr val="FF0000"/>
                        </a:solidFill>
                        <a:effectLst/>
                        <a:latin typeface="Source Sans Pro" panose="020B0503030403020204" pitchFamily="34" charset="0"/>
                      </a:endParaRPr>
                    </a:p>
                  </a:txBody>
                  <a:tcPr marL="72662" marR="72662" marT="36331" marB="36331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T" sz="1400" b="1">
                          <a:solidFill>
                            <a:srgbClr val="FF0000"/>
                          </a:solidFill>
                          <a:effectLst/>
                        </a:rPr>
                        <a:t>Typical DESeq2 design</a:t>
                      </a:r>
                      <a:endParaRPr lang="en-IT" sz="1400" b="1" i="0">
                        <a:solidFill>
                          <a:srgbClr val="FF0000"/>
                        </a:solidFill>
                        <a:effectLst/>
                        <a:latin typeface="Source Sans Pro" panose="020B0503030403020204" pitchFamily="34" charset="0"/>
                      </a:endParaRPr>
                    </a:p>
                  </a:txBody>
                  <a:tcPr marL="72662" marR="72662" marT="36331" marB="36331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T" sz="1400" b="1" dirty="0">
                          <a:solidFill>
                            <a:srgbClr val="FF0000"/>
                          </a:solidFill>
                          <a:effectLst/>
                        </a:rPr>
                        <a:t>Principle</a:t>
                      </a:r>
                      <a:endParaRPr lang="en-IT" sz="1400" b="1" i="0" dirty="0">
                        <a:solidFill>
                          <a:srgbClr val="FF0000"/>
                        </a:solidFill>
                        <a:effectLst/>
                        <a:latin typeface="Source Sans Pro" panose="020B0503030403020204" pitchFamily="34" charset="0"/>
                      </a:endParaRPr>
                    </a:p>
                  </a:txBody>
                  <a:tcPr marL="72662" marR="72662" marT="36331" marB="36331"/>
                </a:tc>
                <a:extLst>
                  <a:ext uri="{0D108BD9-81ED-4DB2-BD59-A6C34878D82A}">
                    <a16:rowId xmlns:a16="http://schemas.microsoft.com/office/drawing/2014/main" val="3917410425"/>
                  </a:ext>
                </a:extLst>
              </a:tr>
              <a:tr h="508635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T" sz="1400">
                          <a:effectLst/>
                        </a:rPr>
                        <a:t>Two independent conditions with biological replicates</a:t>
                      </a:r>
                      <a:endParaRPr lang="en-IT" sz="1400" b="0" i="0">
                        <a:solidFill>
                          <a:srgbClr val="343A40"/>
                        </a:solidFill>
                        <a:effectLst/>
                        <a:latin typeface="Source Sans Pro" panose="020B0503030403020204" pitchFamily="34" charset="0"/>
                      </a:endParaRPr>
                    </a:p>
                  </a:txBody>
                  <a:tcPr marL="72662" marR="72662" marT="36331" marB="36331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T" sz="1400">
                          <a:effectLst/>
                        </a:rPr>
                        <a:t>~ condition</a:t>
                      </a:r>
                      <a:endParaRPr lang="en-IT" sz="1400" b="0" i="0">
                        <a:solidFill>
                          <a:srgbClr val="343A40"/>
                        </a:solidFill>
                        <a:effectLst/>
                        <a:latin typeface="Source Sans Pro" panose="020B0503030403020204" pitchFamily="34" charset="0"/>
                      </a:endParaRPr>
                    </a:p>
                  </a:txBody>
                  <a:tcPr marL="72662" marR="72662" marT="36331" marB="36331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T" sz="1400" dirty="0">
                          <a:effectLst/>
                        </a:rPr>
                        <a:t>Replicate are not covariates</a:t>
                      </a:r>
                      <a:endParaRPr lang="en-IT" sz="1400" b="0" i="0" dirty="0">
                        <a:solidFill>
                          <a:srgbClr val="343A40"/>
                        </a:solidFill>
                        <a:effectLst/>
                        <a:latin typeface="Source Sans Pro" panose="020B0503030403020204" pitchFamily="34" charset="0"/>
                      </a:endParaRPr>
                    </a:p>
                  </a:txBody>
                  <a:tcPr marL="72662" marR="72662" marT="36331" marB="36331"/>
                </a:tc>
                <a:extLst>
                  <a:ext uri="{0D108BD9-81ED-4DB2-BD59-A6C34878D82A}">
                    <a16:rowId xmlns:a16="http://schemas.microsoft.com/office/drawing/2014/main" val="2945539258"/>
                  </a:ext>
                </a:extLst>
              </a:tr>
              <a:tr h="726621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T" sz="1400">
                          <a:effectLst/>
                        </a:rPr>
                        <a:t>Same patient / donor / animal measured in both conditions</a:t>
                      </a:r>
                      <a:endParaRPr lang="en-IT" sz="1400" b="0" i="0">
                        <a:solidFill>
                          <a:srgbClr val="343A40"/>
                        </a:solidFill>
                        <a:effectLst/>
                        <a:latin typeface="Source Sans Pro" panose="020B0503030403020204" pitchFamily="34" charset="0"/>
                      </a:endParaRPr>
                    </a:p>
                  </a:txBody>
                  <a:tcPr marL="72662" marR="72662" marT="36331" marB="36331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T" sz="1400">
                          <a:effectLst/>
                        </a:rPr>
                        <a:t>~ subject + condition</a:t>
                      </a:r>
                      <a:endParaRPr lang="en-IT" sz="1400" b="0" i="0">
                        <a:solidFill>
                          <a:srgbClr val="343A40"/>
                        </a:solidFill>
                        <a:effectLst/>
                        <a:latin typeface="Source Sans Pro" panose="020B0503030403020204" pitchFamily="34" charset="0"/>
                      </a:endParaRPr>
                    </a:p>
                  </a:txBody>
                  <a:tcPr marL="72662" marR="72662" marT="36331" marB="36331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T" sz="1400" dirty="0">
                          <a:effectLst/>
                        </a:rPr>
                        <a:t>Subject is a blocking factor because measurements are paired</a:t>
                      </a:r>
                      <a:endParaRPr lang="en-IT" sz="1400" b="0" i="0" dirty="0">
                        <a:solidFill>
                          <a:srgbClr val="343A40"/>
                        </a:solidFill>
                        <a:effectLst/>
                        <a:latin typeface="Source Sans Pro" panose="020B0503030403020204" pitchFamily="34" charset="0"/>
                      </a:endParaRPr>
                    </a:p>
                  </a:txBody>
                  <a:tcPr marL="72662" marR="72662" marT="36331" marB="36331"/>
                </a:tc>
                <a:extLst>
                  <a:ext uri="{0D108BD9-81ED-4DB2-BD59-A6C34878D82A}">
                    <a16:rowId xmlns:a16="http://schemas.microsoft.com/office/drawing/2014/main" val="2317604949"/>
                  </a:ext>
                </a:extLst>
              </a:tr>
              <a:tr h="944608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T" sz="1400">
                          <a:effectLst/>
                        </a:rPr>
                        <a:t>Samples processed in different technical batches, with conditions represented across batches</a:t>
                      </a:r>
                      <a:endParaRPr lang="en-IT" sz="1400" b="0" i="0">
                        <a:solidFill>
                          <a:srgbClr val="343A40"/>
                        </a:solidFill>
                        <a:effectLst/>
                        <a:latin typeface="Source Sans Pro" panose="020B0503030403020204" pitchFamily="34" charset="0"/>
                      </a:endParaRPr>
                    </a:p>
                  </a:txBody>
                  <a:tcPr marL="72662" marR="72662" marT="36331" marB="36331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T" sz="1400">
                          <a:effectLst/>
                        </a:rPr>
                        <a:t>~ batch + condition</a:t>
                      </a:r>
                      <a:endParaRPr lang="en-IT" sz="1400" b="0" i="0">
                        <a:solidFill>
                          <a:srgbClr val="343A40"/>
                        </a:solidFill>
                        <a:effectLst/>
                        <a:latin typeface="Source Sans Pro" panose="020B0503030403020204" pitchFamily="34" charset="0"/>
                      </a:endParaRPr>
                    </a:p>
                  </a:txBody>
                  <a:tcPr marL="72662" marR="72662" marT="36331" marB="36331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T" sz="1400">
                          <a:effectLst/>
                        </a:rPr>
                        <a:t>Account for systematic batch variation while estimating condition</a:t>
                      </a:r>
                      <a:endParaRPr lang="en-IT" sz="1400" b="0" i="0">
                        <a:solidFill>
                          <a:srgbClr val="343A40"/>
                        </a:solidFill>
                        <a:effectLst/>
                        <a:latin typeface="Source Sans Pro" panose="020B0503030403020204" pitchFamily="34" charset="0"/>
                      </a:endParaRPr>
                    </a:p>
                  </a:txBody>
                  <a:tcPr marL="72662" marR="72662" marT="36331" marB="36331"/>
                </a:tc>
                <a:extLst>
                  <a:ext uri="{0D108BD9-81ED-4DB2-BD59-A6C34878D82A}">
                    <a16:rowId xmlns:a16="http://schemas.microsoft.com/office/drawing/2014/main" val="2528709023"/>
                  </a:ext>
                </a:extLst>
              </a:tr>
              <a:tr h="726621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T" sz="1400">
                          <a:effectLst/>
                        </a:rPr>
                        <a:t>Genotype and treatment where treatment effect may differ by genotype</a:t>
                      </a:r>
                      <a:endParaRPr lang="en-IT" sz="1400" b="0" i="0">
                        <a:solidFill>
                          <a:srgbClr val="343A40"/>
                        </a:solidFill>
                        <a:effectLst/>
                        <a:latin typeface="Source Sans Pro" panose="020B0503030403020204" pitchFamily="34" charset="0"/>
                      </a:endParaRPr>
                    </a:p>
                  </a:txBody>
                  <a:tcPr marL="72662" marR="72662" marT="36331" marB="36331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T" sz="1400">
                          <a:effectLst/>
                        </a:rPr>
                        <a:t>~ genotype + treatment + genotype:treatment</a:t>
                      </a:r>
                      <a:endParaRPr lang="en-IT" sz="1400" b="0" i="0">
                        <a:solidFill>
                          <a:srgbClr val="343A40"/>
                        </a:solidFill>
                        <a:effectLst/>
                        <a:latin typeface="Source Sans Pro" panose="020B0503030403020204" pitchFamily="34" charset="0"/>
                      </a:endParaRPr>
                    </a:p>
                  </a:txBody>
                  <a:tcPr marL="72662" marR="72662" marT="36331" marB="36331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T" sz="1400">
                          <a:effectLst/>
                        </a:rPr>
                        <a:t>Use an interaction only when the scientific question is about different responses</a:t>
                      </a:r>
                      <a:endParaRPr lang="en-IT" sz="1400" b="0" i="0">
                        <a:solidFill>
                          <a:srgbClr val="343A40"/>
                        </a:solidFill>
                        <a:effectLst/>
                        <a:latin typeface="Source Sans Pro" panose="020B0503030403020204" pitchFamily="34" charset="0"/>
                      </a:endParaRPr>
                    </a:p>
                  </a:txBody>
                  <a:tcPr marL="72662" marR="72662" marT="36331" marB="36331"/>
                </a:tc>
                <a:extLst>
                  <a:ext uri="{0D108BD9-81ED-4DB2-BD59-A6C34878D82A}">
                    <a16:rowId xmlns:a16="http://schemas.microsoft.com/office/drawing/2014/main" val="1641567043"/>
                  </a:ext>
                </a:extLst>
              </a:tr>
              <a:tr h="944608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T" sz="1400">
                          <a:effectLst/>
                        </a:rPr>
                        <a:t>Same biological library sequenced twice</a:t>
                      </a:r>
                      <a:endParaRPr lang="en-IT" sz="1400" b="0" i="0">
                        <a:solidFill>
                          <a:srgbClr val="343A40"/>
                        </a:solidFill>
                        <a:effectLst/>
                        <a:latin typeface="Source Sans Pro" panose="020B0503030403020204" pitchFamily="34" charset="0"/>
                      </a:endParaRPr>
                    </a:p>
                  </a:txBody>
                  <a:tcPr marL="72662" marR="72662" marT="36331" marB="36331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T" sz="1400">
                          <a:effectLst/>
                        </a:rPr>
                        <a:t>Collapse technical runs before DESeq2</a:t>
                      </a:r>
                      <a:endParaRPr lang="en-IT" sz="1400" b="0" i="0">
                        <a:solidFill>
                          <a:srgbClr val="343A40"/>
                        </a:solidFill>
                        <a:effectLst/>
                        <a:latin typeface="Source Sans Pro" panose="020B0503030403020204" pitchFamily="34" charset="0"/>
                      </a:endParaRPr>
                    </a:p>
                  </a:txBody>
                  <a:tcPr marL="72662" marR="72662" marT="36331" marB="36331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T" sz="1400">
                          <a:effectLst/>
                        </a:rPr>
                        <a:t>Multiple sequencing runs of the same library are not independent biological replicates</a:t>
                      </a:r>
                      <a:endParaRPr lang="en-IT" sz="1400" b="0" i="0">
                        <a:solidFill>
                          <a:srgbClr val="343A40"/>
                        </a:solidFill>
                        <a:effectLst/>
                        <a:latin typeface="Source Sans Pro" panose="020B0503030403020204" pitchFamily="34" charset="0"/>
                      </a:endParaRPr>
                    </a:p>
                  </a:txBody>
                  <a:tcPr marL="72662" marR="72662" marT="36331" marB="36331"/>
                </a:tc>
                <a:extLst>
                  <a:ext uri="{0D108BD9-81ED-4DB2-BD59-A6C34878D82A}">
                    <a16:rowId xmlns:a16="http://schemas.microsoft.com/office/drawing/2014/main" val="1451494379"/>
                  </a:ext>
                </a:extLst>
              </a:tr>
              <a:tr h="944608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T" sz="1400" dirty="0">
                          <a:effectLst/>
                        </a:rPr>
                        <a:t>Batch and condition perfectly confounded</a:t>
                      </a:r>
                      <a:endParaRPr lang="en-IT" sz="1400" b="0" i="0" dirty="0">
                        <a:solidFill>
                          <a:srgbClr val="343A40"/>
                        </a:solidFill>
                        <a:effectLst/>
                        <a:latin typeface="Source Sans Pro" panose="020B0503030403020204" pitchFamily="34" charset="0"/>
                      </a:endParaRPr>
                    </a:p>
                  </a:txBody>
                  <a:tcPr marL="72662" marR="72662" marT="36331" marB="36331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T" sz="1400">
                          <a:effectLst/>
                        </a:rPr>
                        <a:t>No valid formula can separate them</a:t>
                      </a:r>
                      <a:endParaRPr lang="en-IT" sz="1400" b="0" i="0">
                        <a:solidFill>
                          <a:srgbClr val="343A40"/>
                        </a:solidFill>
                        <a:effectLst/>
                        <a:latin typeface="Source Sans Pro" panose="020B0503030403020204" pitchFamily="34" charset="0"/>
                      </a:endParaRPr>
                    </a:p>
                  </a:txBody>
                  <a:tcPr marL="72662" marR="72662" marT="36331" marB="36331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T" sz="1400" dirty="0">
                          <a:effectLst/>
                        </a:rPr>
                        <a:t>The experiment itself does not contain enough information to estimate both effects</a:t>
                      </a:r>
                      <a:endParaRPr lang="en-IT" sz="1400" b="0" i="0" dirty="0">
                        <a:solidFill>
                          <a:srgbClr val="343A40"/>
                        </a:solidFill>
                        <a:effectLst/>
                        <a:latin typeface="Source Sans Pro" panose="020B0503030403020204" pitchFamily="34" charset="0"/>
                      </a:endParaRPr>
                    </a:p>
                  </a:txBody>
                  <a:tcPr marL="72662" marR="72662" marT="36331" marB="36331"/>
                </a:tc>
                <a:extLst>
                  <a:ext uri="{0D108BD9-81ED-4DB2-BD59-A6C34878D82A}">
                    <a16:rowId xmlns:a16="http://schemas.microsoft.com/office/drawing/2014/main" val="88445666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D970A113-AA00-1616-6C23-5B71EA5F9112}"/>
              </a:ext>
            </a:extLst>
          </p:cNvPr>
          <p:cNvSpPr txBox="1"/>
          <p:nvPr/>
        </p:nvSpPr>
        <p:spPr>
          <a:xfrm>
            <a:off x="443211" y="1681985"/>
            <a:ext cx="353317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T" sz="1800" b="1" i="1" dirty="0">
                <a:solidFill>
                  <a:schemeClr val="bg1">
                    <a:lumMod val="50000"/>
                  </a:schemeClr>
                </a:solidFill>
                <a:effectLst/>
                <a:latin typeface="+mn-lt"/>
              </a:rPr>
              <a:t>Include variables that represent real, identifiable sources of systematic variation that should be accounted for while estimating the biological effect of interest. </a:t>
            </a:r>
          </a:p>
          <a:p>
            <a:endParaRPr lang="en-IT" b="1" i="1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en-IT" sz="1800" b="1" i="1" dirty="0">
                <a:solidFill>
                  <a:schemeClr val="bg1">
                    <a:lumMod val="50000"/>
                  </a:schemeClr>
                </a:solidFill>
                <a:effectLst/>
                <a:latin typeface="+mn-lt"/>
              </a:rPr>
              <a:t>!!!Do not add columns simply because they exist in the metadata!!!</a:t>
            </a:r>
            <a:endParaRPr lang="en-GB" i="1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09018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075BF-B93A-0183-CFA1-0D3132D5A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b="1" dirty="0"/>
              <a:t>Evaluate sample concordance through PCA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EF6D9E-86F6-6583-92A7-C72AF854D6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25/09/26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C9E8D3-24F6-F712-A44C-DE33B1167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27591B-349A-C273-991C-ABFD1B268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24</a:t>
            </a:fld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7DACFD-3BAD-E47C-9495-876072B72EE4}"/>
              </a:ext>
            </a:extLst>
          </p:cNvPr>
          <p:cNvSpPr txBox="1"/>
          <p:nvPr/>
        </p:nvSpPr>
        <p:spPr>
          <a:xfrm>
            <a:off x="134470" y="963428"/>
            <a:ext cx="1123405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T" sz="2000" b="0" i="0" dirty="0">
                <a:solidFill>
                  <a:schemeClr val="tx1"/>
                </a:solidFill>
                <a:effectLst/>
                <a:latin typeface="+mn-lt"/>
              </a:rPr>
              <a:t>Before testing genes one by one, we should first ask whether the </a:t>
            </a:r>
            <a:r>
              <a:rPr lang="en-IT" sz="2000" b="1" i="0" dirty="0">
                <a:solidFill>
                  <a:schemeClr val="tx1"/>
                </a:solidFill>
                <a:effectLst/>
                <a:latin typeface="+mn-lt"/>
              </a:rPr>
              <a:t>samples themselves</a:t>
            </a:r>
            <a:r>
              <a:rPr lang="en-IT" sz="2000" b="0" i="0" dirty="0">
                <a:solidFill>
                  <a:schemeClr val="tx1"/>
                </a:solidFill>
                <a:effectLst/>
                <a:latin typeface="+mn-lt"/>
              </a:rPr>
              <a:t> behave as expected.</a:t>
            </a:r>
            <a:endParaRPr lang="en-GB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82043D-909B-236C-AEC2-082AE01EF78D}"/>
              </a:ext>
            </a:extLst>
          </p:cNvPr>
          <p:cNvSpPr txBox="1"/>
          <p:nvPr/>
        </p:nvSpPr>
        <p:spPr>
          <a:xfrm>
            <a:off x="134470" y="2095983"/>
            <a:ext cx="11421134" cy="34778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IT" sz="2000" dirty="0"/>
              <a:t>Principal component analysis (PCA) is widely used because it is </a:t>
            </a:r>
            <a:r>
              <a:rPr lang="en-IT" sz="2000" b="1" dirty="0"/>
              <a:t>unsupervised</a:t>
            </a:r>
            <a:r>
              <a:rPr lang="en-IT" sz="2000" dirty="0"/>
              <a:t>: it does not know the sample labels. It simply identifies the major directions of variation across the expression profiles.</a:t>
            </a:r>
          </a:p>
          <a:p>
            <a:endParaRPr lang="en-IT" sz="2000" dirty="0"/>
          </a:p>
          <a:p>
            <a:r>
              <a:rPr lang="en-IT" sz="2000" dirty="0"/>
              <a:t>PCA can be computed by </a:t>
            </a:r>
            <a:r>
              <a:rPr lang="en-IT" sz="2000" b="1" dirty="0"/>
              <a:t>singular value decomposition (SVD)</a:t>
            </a:r>
            <a:r>
              <a:rPr lang="en-IT" sz="2000" dirty="0"/>
              <a:t>. </a:t>
            </a:r>
          </a:p>
          <a:p>
            <a:endParaRPr lang="en-IT" sz="2000" dirty="0"/>
          </a:p>
          <a:p>
            <a:r>
              <a:rPr lang="en-IT" sz="2000" dirty="0"/>
              <a:t>SVD decomposes a numerical matrix into components; when applied to a </a:t>
            </a:r>
            <a:r>
              <a:rPr lang="en-IT" sz="2000" b="1" dirty="0"/>
              <a:t>centered</a:t>
            </a:r>
            <a:r>
              <a:rPr lang="en-IT" sz="2000" dirty="0"/>
              <a:t> matrix, these components define the principal components.</a:t>
            </a:r>
          </a:p>
          <a:p>
            <a:endParaRPr lang="en-IT" sz="2000" dirty="0"/>
          </a:p>
          <a:p>
            <a:r>
              <a:rPr lang="en-IT" sz="2000" b="1" dirty="0"/>
              <a:t>PC1 captures the largest variation, PC2 the largest remaining variation, and so on.</a:t>
            </a:r>
            <a:r>
              <a:rPr lang="en-IT" sz="2000" dirty="0"/>
              <a:t> Samples with similar expression profiles cluster together, while unexpected separation can reveal batch effects, technical problems or potential outliers.</a:t>
            </a:r>
          </a:p>
        </p:txBody>
      </p:sp>
    </p:spTree>
    <p:extLst>
      <p:ext uri="{BB962C8B-B14F-4D97-AF65-F5344CB8AC3E}">
        <p14:creationId xmlns:p14="http://schemas.microsoft.com/office/powerpoint/2010/main" val="29353891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9364D-F93A-7EC3-6306-D1A8D9969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F3FDE-BE0E-51A4-3828-968ADDB17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b="1" dirty="0"/>
              <a:t>Evaluate sample concordance through PCA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C7E28A-B6CF-CD57-CE77-06D08B5C8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25/09/26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36A149-9FAA-B3B4-ADAB-BDEA44220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4BCF54-C0DD-BE99-2659-0B58A9205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25</a:t>
            </a:fld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59280A-2DDF-9394-049D-63BD3A8DF6B9}"/>
              </a:ext>
            </a:extLst>
          </p:cNvPr>
          <p:cNvSpPr txBox="1"/>
          <p:nvPr/>
        </p:nvSpPr>
        <p:spPr>
          <a:xfrm>
            <a:off x="134470" y="963428"/>
            <a:ext cx="1123405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T" sz="2000" b="0" i="0" dirty="0">
                <a:solidFill>
                  <a:schemeClr val="tx1"/>
                </a:solidFill>
                <a:effectLst/>
                <a:latin typeface="+mn-lt"/>
              </a:rPr>
              <a:t>Before testing genes one by one, we should first ask whether the </a:t>
            </a:r>
            <a:r>
              <a:rPr lang="en-IT" sz="2000" b="1" i="0" dirty="0">
                <a:solidFill>
                  <a:schemeClr val="tx1"/>
                </a:solidFill>
                <a:effectLst/>
                <a:latin typeface="+mn-lt"/>
              </a:rPr>
              <a:t>samples themselves</a:t>
            </a:r>
            <a:r>
              <a:rPr lang="en-IT" sz="2000" b="0" i="0" dirty="0">
                <a:solidFill>
                  <a:schemeClr val="tx1"/>
                </a:solidFill>
                <a:effectLst/>
                <a:latin typeface="+mn-lt"/>
              </a:rPr>
              <a:t> behave as expected.</a:t>
            </a:r>
            <a:endParaRPr lang="en-GB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67C5B23-D330-03FA-0CC0-1FD2631D5351}"/>
              </a:ext>
            </a:extLst>
          </p:cNvPr>
          <p:cNvSpPr txBox="1"/>
          <p:nvPr/>
        </p:nvSpPr>
        <p:spPr>
          <a:xfrm>
            <a:off x="134470" y="1924254"/>
            <a:ext cx="8018930" cy="39703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IT" dirty="0"/>
              <a:t>Mathematically, each sample can be represented as a </a:t>
            </a:r>
            <a:r>
              <a:rPr lang="en-IT" b="1" dirty="0"/>
              <a:t>vector in a space with one dimension per gene</a:t>
            </a:r>
            <a:r>
              <a:rPr lang="en-IT" dirty="0"/>
              <a:t>. With thousands of genes, this space has thousands of dimensions.</a:t>
            </a:r>
          </a:p>
          <a:p>
            <a:pPr>
              <a:buNone/>
            </a:pPr>
            <a:endParaRPr lang="en-IT" dirty="0"/>
          </a:p>
          <a:p>
            <a:pPr>
              <a:buNone/>
            </a:pPr>
            <a:r>
              <a:rPr lang="en-IT" dirty="0"/>
              <a:t>Because many genes vary together, much of the data lies close to a </a:t>
            </a:r>
            <a:r>
              <a:rPr lang="en-IT" b="1" dirty="0"/>
              <a:t>lower-dimensional subspace</a:t>
            </a:r>
            <a:r>
              <a:rPr lang="en-IT" dirty="0"/>
              <a:t> rather than filling the whole space. PCA finds the orthogonal directions that best describe this structure.</a:t>
            </a:r>
          </a:p>
          <a:p>
            <a:pPr>
              <a:buNone/>
            </a:pPr>
            <a:endParaRPr lang="en-IT" dirty="0"/>
          </a:p>
          <a:p>
            <a:pPr>
              <a:buNone/>
            </a:pPr>
            <a:r>
              <a:rPr lang="en-IT" dirty="0"/>
              <a:t>Each sample is then </a:t>
            </a:r>
            <a:r>
              <a:rPr lang="en-IT" b="1" dirty="0"/>
              <a:t>projected onto these directions</a:t>
            </a:r>
            <a:r>
              <a:rPr lang="en-IT" dirty="0"/>
              <a:t>. The projection coordinates are the </a:t>
            </a:r>
            <a:r>
              <a:rPr lang="en-IT" b="1" dirty="0"/>
              <a:t>PC scores</a:t>
            </a:r>
            <a:r>
              <a:rPr lang="en-IT" dirty="0"/>
              <a:t>, while the contribution of each gene to a component is described by its </a:t>
            </a:r>
            <a:r>
              <a:rPr lang="en-IT" b="1" dirty="0"/>
              <a:t>loading</a:t>
            </a:r>
            <a:r>
              <a:rPr lang="en-IT" dirty="0"/>
              <a:t>.</a:t>
            </a:r>
          </a:p>
          <a:p>
            <a:pPr>
              <a:buNone/>
            </a:pPr>
            <a:endParaRPr lang="en-IT" dirty="0"/>
          </a:p>
          <a:p>
            <a:pPr>
              <a:buNone/>
            </a:pPr>
            <a:r>
              <a:rPr lang="en-IT" dirty="0"/>
              <a:t>So PCA simplifies:</a:t>
            </a:r>
          </a:p>
          <a:p>
            <a:pPr>
              <a:buNone/>
            </a:pPr>
            <a:r>
              <a:rPr lang="en-IT" b="1" dirty="0"/>
              <a:t>thousands of gene dimensions → a few major directions of variation</a:t>
            </a:r>
            <a:r>
              <a:rPr lang="en-IT" dirty="0"/>
              <a:t>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1AA47F-9E26-7512-A01B-CA52EF5E83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6485" y="2134031"/>
            <a:ext cx="3550763" cy="3550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293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447C8B-7A89-C06F-95BA-C6688CD53F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25/09/26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9CE63F-0A25-D702-C396-CFC003E83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F63183-F08D-B75F-1323-D0B29B21E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26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194FF5-AF0A-A891-7251-773732DF96C4}"/>
              </a:ext>
            </a:extLst>
          </p:cNvPr>
          <p:cNvSpPr txBox="1"/>
          <p:nvPr/>
        </p:nvSpPr>
        <p:spPr>
          <a:xfrm>
            <a:off x="3463331" y="2228671"/>
            <a:ext cx="5265337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92D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docker run --rm \</a:t>
            </a:r>
          </a:p>
          <a:p>
            <a:r>
              <a:rPr lang="en-GB" dirty="0">
                <a:solidFill>
                  <a:srgbClr val="92D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--user "$(id -u):$(id -g)" \</a:t>
            </a:r>
          </a:p>
          <a:p>
            <a:r>
              <a:rPr lang="en-GB" dirty="0">
                <a:solidFill>
                  <a:srgbClr val="92D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-v "$PWD:/work" \</a:t>
            </a:r>
          </a:p>
          <a:p>
            <a:r>
              <a:rPr lang="en-GB" dirty="0">
                <a:solidFill>
                  <a:srgbClr val="92D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-w /work –it </a:t>
            </a:r>
            <a:r>
              <a:rPr lang="en-GB" dirty="0" err="1">
                <a:solidFill>
                  <a:srgbClr val="92D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fgualdr</a:t>
            </a:r>
            <a:r>
              <a:rPr lang="en-GB" dirty="0">
                <a:solidFill>
                  <a:srgbClr val="92D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GB" dirty="0" err="1">
                <a:solidFill>
                  <a:srgbClr val="92D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ngs</a:t>
            </a:r>
            <a:r>
              <a:rPr lang="en-GB" dirty="0">
                <a:solidFill>
                  <a:srgbClr val="92D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-r-</a:t>
            </a:r>
            <a:r>
              <a:rPr lang="en-GB" dirty="0" err="1">
                <a:solidFill>
                  <a:srgbClr val="92D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bioc</a:t>
            </a:r>
            <a:r>
              <a:rPr lang="en-GB" dirty="0">
                <a:solidFill>
                  <a:srgbClr val="92D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</a:t>
            </a:r>
          </a:p>
        </p:txBody>
      </p:sp>
    </p:spTree>
    <p:extLst>
      <p:ext uri="{BB962C8B-B14F-4D97-AF65-F5344CB8AC3E}">
        <p14:creationId xmlns:p14="http://schemas.microsoft.com/office/powerpoint/2010/main" val="2982866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34227A-B1D2-1C44-D277-FDEFFB545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b="1" dirty="0" err="1"/>
              <a:t>BigWigTracks</a:t>
            </a:r>
            <a:endParaRPr lang="en-GB" b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44FE10-70BF-DD77-FDAC-6237185646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25/09/26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CEA4C6-C375-7115-704D-950C84EEC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BDB425-16DE-B985-6DAF-CE9733D33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27</a:t>
            </a:fld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9C6D7F-DB43-2146-8FF8-6A9DC69DC119}"/>
              </a:ext>
            </a:extLst>
          </p:cNvPr>
          <p:cNvSpPr txBox="1"/>
          <p:nvPr/>
        </p:nvSpPr>
        <p:spPr>
          <a:xfrm>
            <a:off x="351693" y="1077939"/>
            <a:ext cx="4461467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T" dirty="0"/>
              <a:t>BigWig files are compressed, indexed representations of genomic signal tracks, where values are associated with genomic coordinates or intervals.</a:t>
            </a:r>
          </a:p>
          <a:p>
            <a:endParaRPr lang="en-IT" dirty="0"/>
          </a:p>
          <a:p>
            <a:r>
              <a:rPr lang="en-IT" dirty="0"/>
              <a:t>Their compact size comes from efficient binary compression, indexing, and the representation of consecutive genomic regions with the same or similar signal values, rather than storing every genomic position individually.</a:t>
            </a:r>
          </a:p>
          <a:p>
            <a:endParaRPr lang="en-IT" dirty="0"/>
          </a:p>
          <a:p>
            <a:r>
              <a:rPr lang="en-IT" dirty="0"/>
              <a:t>The are usefull together with genome and annotations to inspect directly on IGV. </a:t>
            </a:r>
          </a:p>
          <a:p>
            <a:endParaRPr lang="en-IT" dirty="0"/>
          </a:p>
          <a:p>
            <a:r>
              <a:rPr lang="en-IT" dirty="0">
                <a:hlinkClick r:id="rId2"/>
              </a:rPr>
              <a:t>Deeptools</a:t>
            </a:r>
            <a:endParaRPr lang="en-IT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5453A9-91C6-0870-E5F0-879D3B940317}"/>
              </a:ext>
            </a:extLst>
          </p:cNvPr>
          <p:cNvSpPr txBox="1"/>
          <p:nvPr/>
        </p:nvSpPr>
        <p:spPr>
          <a:xfrm>
            <a:off x="3581400" y="700946"/>
            <a:ext cx="841633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IT" sz="1800" b="0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Create </a:t>
            </a:r>
            <a:r>
              <a:rPr lang="en-IT" b="0" i="0" dirty="0">
                <a:solidFill>
                  <a:srgbClr val="A72AA7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scripts/day2_rnaseq/05_make_bigwig_bamcoverage.sh</a:t>
            </a:r>
            <a:endParaRPr lang="en-GB" dirty="0">
              <a:solidFill>
                <a:srgbClr val="A72AA7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5AABAB-19CB-F8D5-A5C7-30A6EA24AA76}"/>
              </a:ext>
            </a:extLst>
          </p:cNvPr>
          <p:cNvSpPr txBox="1"/>
          <p:nvPr/>
        </p:nvSpPr>
        <p:spPr>
          <a:xfrm>
            <a:off x="4813160" y="1129315"/>
            <a:ext cx="7244862" cy="563231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#!/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usr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/bin/env bash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set -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euo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pipefail</a:t>
            </a:r>
            <a:endParaRPr lang="en-GB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GB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bam_dir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="results/day2_rnaseq/bam"</a:t>
            </a:r>
          </a:p>
          <a:p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out_dir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="results/day2_rnaseq/bigwig"</a:t>
            </a:r>
          </a:p>
          <a:p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scale_file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="results/day2_rnaseq/deseq2/deseq2_size_factors.tsv"</a:t>
            </a:r>
          </a:p>
          <a:p>
            <a:endParaRPr lang="en-GB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mkdir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-p "${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out_dir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}"</a:t>
            </a:r>
          </a:p>
          <a:p>
            <a:endParaRPr lang="en-GB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GB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tail -n +2 "${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scale_file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}" |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while IFS=$'\t' read -r sample deseq2_size_factor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bamcoverage_scale_factor</a:t>
            </a:r>
            <a:endParaRPr lang="en-GB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do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bam="${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bam_dir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}/${sample}.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filtered.bam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bamCoverage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-b "${bam}" \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IT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--filterRNAstrand forward \</a:t>
            </a:r>
            <a:endParaRPr lang="en-GB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-o "${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out_dir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}/${sample}.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norm.fw.bw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 \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--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scaleFactor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"${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bamcoverage_scale_factor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}" \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--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binSize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10 \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--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numberOfProcessors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2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bamCoverage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-b "${bam}" \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IT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--filterRNAstrand reverse \</a:t>
            </a:r>
            <a:endParaRPr lang="en-GB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-o "${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out_dir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}/${sample}.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norm.rv.bw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 \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--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scaleFactor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"${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bamcoverage_scale_factor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}" \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--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binSize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10 \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--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numberOfProcessors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2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done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3607F9D-087C-D1DC-D36B-BFBC3BF1F055}"/>
              </a:ext>
            </a:extLst>
          </p:cNvPr>
          <p:cNvSpPr txBox="1"/>
          <p:nvPr/>
        </p:nvSpPr>
        <p:spPr>
          <a:xfrm>
            <a:off x="351693" y="5338583"/>
            <a:ext cx="7717134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docker run --rm \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--user "$(id -u):$(id -g)" \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-v "$PWD:/work" \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-w /work \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docker.io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fgualdr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ngs-deeptools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bash scripts/day2_rnaseq/05_make_bigwig_bamcoverage.sh</a:t>
            </a:r>
          </a:p>
        </p:txBody>
      </p:sp>
    </p:spTree>
    <p:extLst>
      <p:ext uri="{BB962C8B-B14F-4D97-AF65-F5344CB8AC3E}">
        <p14:creationId xmlns:p14="http://schemas.microsoft.com/office/powerpoint/2010/main" val="1784293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9CDE0-0AA7-8F7A-C753-C9AED3E63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b="1" dirty="0" err="1"/>
              <a:t>MultiQC</a:t>
            </a:r>
            <a:r>
              <a:rPr lang="en-GB" b="1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F2FCDB-F036-E220-C48B-29A86B8AC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25/09/26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E49E3D-4BC9-B305-D91F-52DF7BEBB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270641-A9C3-3A3F-F91D-C2DD083E6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28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AD1662-BF73-49CD-F16A-393D869463C4}"/>
              </a:ext>
            </a:extLst>
          </p:cNvPr>
          <p:cNvSpPr txBox="1"/>
          <p:nvPr/>
        </p:nvSpPr>
        <p:spPr>
          <a:xfrm>
            <a:off x="476459" y="835179"/>
            <a:ext cx="1154136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T" sz="1800" b="0" i="0" dirty="0">
                <a:solidFill>
                  <a:schemeClr val="tx1"/>
                </a:solidFill>
                <a:effectLst/>
                <a:latin typeface="+mn-lt"/>
              </a:rPr>
              <a:t>MultiQC collects tool logs into one HTML report. This makes it easier to compare samples side by side instead of opening each Bowtie2, samtools, and featureCounts log separately. </a:t>
            </a:r>
            <a:r>
              <a:rPr lang="en-IT" sz="1800" b="0" i="0" u="sng" dirty="0">
                <a:solidFill>
                  <a:schemeClr val="tx1"/>
                </a:solidFill>
                <a:effectLst/>
                <a:latin typeface="+mn-lt"/>
                <a:hlinkClick r:id="rId2"/>
              </a:rPr>
              <a:t>MultiQC</a:t>
            </a:r>
            <a:r>
              <a:rPr lang="en-IT" sz="1800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105D52-0023-7014-C1D2-F4C117DE84B5}"/>
              </a:ext>
            </a:extLst>
          </p:cNvPr>
          <p:cNvSpPr txBox="1"/>
          <p:nvPr/>
        </p:nvSpPr>
        <p:spPr>
          <a:xfrm>
            <a:off x="476459" y="1674780"/>
            <a:ext cx="654147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IT" sz="1800" b="0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Create </a:t>
            </a:r>
            <a:r>
              <a:rPr lang="en-IT" b="0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scripts/day2_rnaseq/06_multiqc_day2.sh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A597B5-AF38-AF60-4B50-5B46EFF5965C}"/>
              </a:ext>
            </a:extLst>
          </p:cNvPr>
          <p:cNvSpPr txBox="1"/>
          <p:nvPr/>
        </p:nvSpPr>
        <p:spPr>
          <a:xfrm>
            <a:off x="476460" y="2215072"/>
            <a:ext cx="6541476" cy="39703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#!/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usr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/bin/env bash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set -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euo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pipefail</a:t>
            </a: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day1_fastp_dir="results/logs/day1/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fastp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day2_log_dir="results/logs/day2"</a:t>
            </a:r>
          </a:p>
          <a:p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counts_dir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="results/day2_rnaseq/counts"</a:t>
            </a:r>
          </a:p>
          <a:p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qc_dir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="results/day2_rnaseq/qc"</a:t>
            </a:r>
          </a:p>
          <a:p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mkdir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-p "${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qc_dir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}"</a:t>
            </a:r>
          </a:p>
          <a:p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multiqc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"${day1_fastp_dir}" \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"${day2_log_dir}" \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"${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counts_dir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}" \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--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outdir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"${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qc_dir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}" \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--filename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multiqc_report.html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--title "Workshop RNA-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QC: Day 1 + Day 2" \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--force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91BAC0A-78FE-4679-F7DD-1878C2FA1472}"/>
              </a:ext>
            </a:extLst>
          </p:cNvPr>
          <p:cNvSpPr txBox="1"/>
          <p:nvPr/>
        </p:nvSpPr>
        <p:spPr>
          <a:xfrm>
            <a:off x="5505660" y="3323068"/>
            <a:ext cx="6209880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docker run --rm \</a:t>
            </a:r>
          </a:p>
          <a:p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--user "$(id -u):$(id -g)" \</a:t>
            </a:r>
          </a:p>
          <a:p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-v "$PWD:/work" \</a:t>
            </a:r>
          </a:p>
          <a:p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-w /work \</a:t>
            </a:r>
          </a:p>
          <a:p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docker.io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multiqc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multiqc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bash scripts/day2_rnaseq/06_multiqc_day2.sh</a:t>
            </a:r>
          </a:p>
        </p:txBody>
      </p:sp>
    </p:spTree>
    <p:extLst>
      <p:ext uri="{BB962C8B-B14F-4D97-AF65-F5344CB8AC3E}">
        <p14:creationId xmlns:p14="http://schemas.microsoft.com/office/powerpoint/2010/main" val="42822212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9C1FB-AD63-1310-86A5-9DBDFECAC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b="1" dirty="0"/>
              <a:t>Final Commit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0A7EDD-9584-766D-69B2-FF369882EC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25/09/26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B32757-303B-FBB3-3321-D8845A0134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ED38FA-F72E-EBFD-B1CB-D796DCCFA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29</a:t>
            </a:fld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B20829-77D8-621E-4BDC-C3A13B114100}"/>
              </a:ext>
            </a:extLst>
          </p:cNvPr>
          <p:cNvSpPr txBox="1"/>
          <p:nvPr/>
        </p:nvSpPr>
        <p:spPr>
          <a:xfrm>
            <a:off x="2984360" y="1597688"/>
            <a:ext cx="4871847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git add .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git commit –m “day2 …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bla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bla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bla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…”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git push</a:t>
            </a:r>
          </a:p>
        </p:txBody>
      </p:sp>
    </p:spTree>
    <p:extLst>
      <p:ext uri="{BB962C8B-B14F-4D97-AF65-F5344CB8AC3E}">
        <p14:creationId xmlns:p14="http://schemas.microsoft.com/office/powerpoint/2010/main" val="42008669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Green">
      <a:dk1>
        <a:sysClr val="windowText" lastClr="000000"/>
      </a:dk1>
      <a:lt1>
        <a:sysClr val="window" lastClr="FFFFFF"/>
      </a:lt1>
      <a:dk2>
        <a:srgbClr val="455F51"/>
      </a:dk2>
      <a:lt2>
        <a:srgbClr val="E3DED1"/>
      </a:lt2>
      <a:accent1>
        <a:srgbClr val="549E39"/>
      </a:accent1>
      <a:accent2>
        <a:srgbClr val="8AB833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6B9F25"/>
      </a:hlink>
      <a:folHlink>
        <a:srgbClr val="BA6906"/>
      </a:folHlink>
    </a:clrScheme>
    <a:fontScheme name="Gill Sans MT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2323</TotalTime>
  <Words>5546</Words>
  <Application>Microsoft Macintosh PowerPoint</Application>
  <PresentationFormat>Widescreen</PresentationFormat>
  <Paragraphs>581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8" baseType="lpstr">
      <vt:lpstr>Aptos</vt:lpstr>
      <vt:lpstr>Arial</vt:lpstr>
      <vt:lpstr>Cambria Math</vt:lpstr>
      <vt:lpstr>Courier New</vt:lpstr>
      <vt:lpstr>Gill Sans MT</vt:lpstr>
      <vt:lpstr>Source Sans Pro</vt:lpstr>
      <vt:lpstr>Wingdings</vt:lpstr>
      <vt:lpstr>Office 2013 - 2022 Theme</vt:lpstr>
      <vt:lpstr>Reproducible NGS Data Analysis on Personal Laptops</vt:lpstr>
      <vt:lpstr>PowerPoint Presentation</vt:lpstr>
      <vt:lpstr>Turn sequencing reads into quantitative gene-expression measurements</vt:lpstr>
      <vt:lpstr>Day 2 starts exactly where Day 1 finished</vt:lpstr>
      <vt:lpstr>PowerPoint Presentation</vt:lpstr>
      <vt:lpstr>Reference-based RNA-seq FASTQ mapping </vt:lpstr>
      <vt:lpstr>Several aligner serve different purposes:</vt:lpstr>
      <vt:lpstr>Aligners..</vt:lpstr>
      <vt:lpstr>Indexing</vt:lpstr>
      <vt:lpstr>Mapping sorting indexing filtering!</vt:lpstr>
      <vt:lpstr>PowerPoint Presentation</vt:lpstr>
      <vt:lpstr>SAM/BAM format</vt:lpstr>
      <vt:lpstr>SAM/BAM format</vt:lpstr>
      <vt:lpstr>SAM/BAM format</vt:lpstr>
      <vt:lpstr>SAM/BAM format</vt:lpstr>
      <vt:lpstr>SAM/BAM format</vt:lpstr>
      <vt:lpstr>Before counting.. Strandedness should come from library provenance—and can be checked empirically</vt:lpstr>
      <vt:lpstr>Metadata first, empirical validation when necessary</vt:lpstr>
      <vt:lpstr>Count reads per gene with featureCounts</vt:lpstr>
      <vt:lpstr>PowerPoint Presentation</vt:lpstr>
      <vt:lpstr>PowerPoint Presentation</vt:lpstr>
      <vt:lpstr>From a count matrix to differential expression with DESeq2</vt:lpstr>
      <vt:lpstr>Deseq2 WF:</vt:lpstr>
      <vt:lpstr>The experimental design: decide what the model should explain:</vt:lpstr>
      <vt:lpstr>Evaluate sample concordance through PCA</vt:lpstr>
      <vt:lpstr>Evaluate sample concordance through PCA</vt:lpstr>
      <vt:lpstr>PowerPoint Presentation</vt:lpstr>
      <vt:lpstr>BigWigTracks</vt:lpstr>
      <vt:lpstr>MultiQC </vt:lpstr>
      <vt:lpstr>Final Commit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Gualdrini Francesco</dc:creator>
  <cp:lastModifiedBy>Gualdrini Francesco</cp:lastModifiedBy>
  <cp:revision>238</cp:revision>
  <dcterms:created xsi:type="dcterms:W3CDTF">2026-09-11T06:59:50Z</dcterms:created>
  <dcterms:modified xsi:type="dcterms:W3CDTF">2026-09-25T10:27:47Z</dcterms:modified>
</cp:coreProperties>
</file>